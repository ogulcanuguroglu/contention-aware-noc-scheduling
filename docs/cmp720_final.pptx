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project we solve the problem of statically assigning workloads on multi-core NoC systems. Algorithms like HEFT assume the network is always idle. We aim to close this optimism gap by modeling real-world network contention.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multiplying data transfers by simple coefficients, we process them as timed interval reservations on directional links along the XY routing path.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developed 4 schedulers on the same infrastructure so we can isolate the effect of both duplication and contention-awareness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our biggest innovations was the 'Fair Replay' module. Because HEFT does not see traffic, it looks very fast on paper. We re-run all algorithms' placement plans under the same physical NoC rules to make the comparison fair.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CA-D algorithm works like a 5-stage pipeline. The 'Clone-Discard' software pattern we invented prevents uncertain trials from permanently polluting the scheduling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blind copying here. If duplicating a parent is mathematically advantageous, we perform a backward recursive search looking at its parents as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scheduling is complete, the Conservative Pruning stage kicks in and safely removes copies that have no remaining demand and contribute nothing to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our algorithm with 4 deterministic graph families. Using 4 different CCR ratios and 20 seeds per scenario, we ran a total of 960 large experimental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CD-LS, which duplicates without accounting for network traffic, performed even worse than HEFT at CCR=10. In the Replay Overhead chart, we proved that other algorithms present up to 85% illusory optimism, while CA-D matches real hardware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Gantt chart, we see HEFT piling tasks onto a single processor. CA-D uses the full chip in a balanced way through duplications and compresses the finish time by 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 makes very smart decisions but the cost is high compilation time and SRAM usage. For embedded systems, we can clearly see how vital the Pruning mechanism we designed is to prevent memory and power waste.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completed all planned software and testing processes. CA-D achieves its design goals: better makespan at high communication intensity, with provably accurate 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0972800" cy="1463040"/>
          </a:xfrm>
          <a:prstGeom prst="rect">
            <a:avLst/>
          </a:prstGeom>
          <a:noFill/>
        </p:spPr>
        <p:txBody>
          <a:bodyPr wrap="square">
            <a:spAutoFit/>
          </a:bodyPr>
          <a:lstStyle/>
          <a:p>
            <a:pPr algn="l"/>
            <a:r>
              <a:rPr sz="3600" b="1">
                <a:solidFill>
                  <a:srgbClr val="FFFFFF"/>
                </a:solidFill>
                <a:latin typeface="Arial"/>
              </a:rPr>
              <a:t>Contention-Aware Task Duplication
for DAG Scheduling on NoC</a:t>
            </a:r>
          </a:p>
        </p:txBody>
      </p:sp>
      <p:sp>
        <p:nvSpPr>
          <p:cNvPr id="5" name="TextBox 4"/>
          <p:cNvSpPr txBox="1"/>
          <p:nvPr/>
        </p:nvSpPr>
        <p:spPr>
          <a:xfrm>
            <a:off x="548640" y="3383280"/>
            <a:ext cx="9144000" cy="457200"/>
          </a:xfrm>
          <a:prstGeom prst="rect">
            <a:avLst/>
          </a:prstGeom>
          <a:noFill/>
        </p:spPr>
        <p:txBody>
          <a:bodyPr wrap="none">
            <a:spAutoFit/>
          </a:bodyPr>
          <a:lstStyle/>
          <a:p>
            <a:r>
              <a:rPr sz="2000">
                <a:solidFill>
                  <a:srgbClr val="CCCCCC"/>
                </a:solidFill>
                <a:latin typeface="Arial"/>
              </a:rPr>
              <a:t>CMP720 Master Project  ·  Oğulcan Uğuroğlu</a:t>
            </a:r>
          </a:p>
        </p:txBody>
      </p:sp>
      <p:sp>
        <p:nvSpPr>
          <p:cNvPr id="6" name="TextBox 5"/>
          <p:cNvSpPr txBox="1"/>
          <p:nvPr/>
        </p:nvSpPr>
        <p:spPr>
          <a:xfrm>
            <a:off x="548640" y="4023360"/>
            <a:ext cx="9144000" cy="731520"/>
          </a:xfrm>
          <a:prstGeom prst="rect">
            <a:avLst/>
          </a:prstGeom>
          <a:noFill/>
        </p:spPr>
        <p:txBody>
          <a:bodyPr wrap="square">
            <a:spAutoFit/>
          </a:bodyPr>
          <a:lstStyle/>
          <a:p>
            <a:r>
              <a:rPr sz="1600">
                <a:solidFill>
                  <a:srgbClr val="AAAAAA"/>
                </a:solidFill>
                <a:latin typeface="Arial"/>
              </a:rPr>
              <a:t>Hacettepe University — Department of Computer Engineering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Problem Definition — Network Contention in DAG Scheduling</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1</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7122993"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The Illusion of Ideal Networks:</a:t>
            </a:r>
            <a:r>
              <a:rPr sz="1700" b="0" i="0">
                <a:solidFill>
                  <a:srgbClr val="333333"/>
                </a:solidFill>
                <a:latin typeface="Arial"/>
              </a:rPr>
              <a:t> Classical DAG schedulers (e.g., HEFT) calculate inter-processor communication costs analytically, ignoring physical network traffic and link sharing.</a:t>
            </a:r>
          </a:p>
          <a:p>
            <a:pPr lvl="0" indent="-182880" marL="411480" spcBef="300" spcAft="100">
              <a:buClr>
                <a:srgbClr val="8B1A2B"/>
              </a:buClr>
              <a:buSzPct val="100000"/>
              <a:buChar char="▸"/>
            </a:pPr>
            <a:r>
              <a:rPr sz="1700" b="1" i="0">
                <a:solidFill>
                  <a:srgbClr val="333333"/>
                </a:solidFill>
                <a:latin typeface="Arial"/>
              </a:rPr>
              <a:t>The Reality of Contention:</a:t>
            </a:r>
            <a:r>
              <a:rPr sz="1700" b="0" i="0">
                <a:solidFill>
                  <a:srgbClr val="333333"/>
                </a:solidFill>
                <a:latin typeface="Arial"/>
              </a:rPr>
              <a:t> In 2D-Mesh NoC architectures, parallel tasks routing data across shared links create severe queuing delays — native makespan predictions are highly optimistic.</a:t>
            </a:r>
          </a:p>
          <a:p>
            <a:pPr lvl="0" indent="-182880" marL="411480" spcBef="300" spcAft="100">
              <a:buClr>
                <a:srgbClr val="8B1A2B"/>
              </a:buClr>
              <a:buSzPct val="100000"/>
              <a:buChar char="▸"/>
            </a:pPr>
            <a:r>
              <a:rPr sz="1700" b="1" i="0">
                <a:solidFill>
                  <a:srgbClr val="333333"/>
                </a:solidFill>
                <a:latin typeface="Arial"/>
              </a:rPr>
              <a:t>The Core Research Question:</a:t>
            </a:r>
            <a:r>
              <a:rPr sz="1700" b="0" i="0">
                <a:solidFill>
                  <a:srgbClr val="333333"/>
                </a:solidFill>
                <a:latin typeface="Arial"/>
              </a:rPr>
              <a:t> "Should we wait for data through a congested multi-hop path, or is it more efficient to duplicate the predecessor task locally?"</a:t>
            </a:r>
          </a:p>
          <a:p>
            <a:pPr lvl="0" indent="-182880" marL="411480" spcBef="300" spcAft="100">
              <a:buClr>
                <a:srgbClr val="8B1A2B"/>
              </a:buClr>
              <a:buSzPct val="100000"/>
              <a:buChar char="▸"/>
            </a:pPr>
            <a:r>
              <a:rPr sz="1700" b="1" i="0">
                <a:solidFill>
                  <a:srgbClr val="333333"/>
                </a:solidFill>
                <a:latin typeface="Arial"/>
              </a:rPr>
              <a:t>Our Core Focus:</a:t>
            </a:r>
            <a:r>
              <a:rPr sz="1700" b="0" i="0">
                <a:solidFill>
                  <a:srgbClr val="333333"/>
                </a:solidFill>
                <a:latin typeface="Arial"/>
              </a:rPr>
              <a:t> CA-D (Contention-Aware Duplication) — an offline scheduling heuristic that models physical NoC link reservations to make traffic-aware duplication decisions.</a:t>
            </a:r>
          </a:p>
        </p:txBody>
      </p:sp>
      <p:pic>
        <p:nvPicPr>
          <p:cNvPr id="6" name="Picture 5" descr="figA_link_contention_mechanism.png"/>
          <p:cNvPicPr>
            <a:picLocks noChangeAspect="1"/>
          </p:cNvPicPr>
          <p:nvPr/>
        </p:nvPicPr>
        <p:blipFill>
          <a:blip r:embed="rId2"/>
          <a:stretch>
            <a:fillRect/>
          </a:stretch>
        </p:blipFill>
        <p:spPr>
          <a:xfrm>
            <a:off x="7443033" y="658368"/>
            <a:ext cx="4611502" cy="58521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Target Framework &amp; System Models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2</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7360426"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Application Model (DAG):</a:t>
            </a:r>
            <a:r>
              <a:rPr sz="1700" b="0" i="0">
                <a:solidFill>
                  <a:srgbClr val="333333"/>
                </a:solidFill>
                <a:latin typeface="Arial"/>
              </a:rPr>
              <a:t> Directed Acyclic Graphs — vertices represent computation costs; directed edges define data dependency volumes.</a:t>
            </a:r>
          </a:p>
          <a:p>
            <a:pPr lvl="0" indent="-182880" marL="411480" spcBef="300" spcAft="100">
              <a:buClr>
                <a:srgbClr val="8B1A2B"/>
              </a:buClr>
              <a:buSzPct val="100000"/>
              <a:buChar char="▸"/>
            </a:pPr>
            <a:r>
              <a:rPr sz="1700" b="1" i="0">
                <a:solidFill>
                  <a:srgbClr val="333333"/>
                </a:solidFill>
                <a:latin typeface="Arial"/>
              </a:rPr>
              <a:t>CCR Spectrum:</a:t>
            </a:r>
            <a:r>
              <a:rPr sz="1700" b="0" i="0">
                <a:solidFill>
                  <a:srgbClr val="333333"/>
                </a:solidFill>
                <a:latin typeface="Arial"/>
              </a:rPr>
              <a:t> Evaluated across 0.1 (compute-bound) to 10.0 (communication-bound).</a:t>
            </a:r>
          </a:p>
          <a:p>
            <a:pPr lvl="0" indent="-182880" marL="411480" spcBef="300" spcAft="100">
              <a:buClr>
                <a:srgbClr val="8B1A2B"/>
              </a:buClr>
              <a:buSzPct val="100000"/>
              <a:buChar char="▸"/>
            </a:pPr>
            <a:r>
              <a:rPr sz="1700" b="1" i="0">
                <a:solidFill>
                  <a:srgbClr val="333333"/>
                </a:solidFill>
                <a:latin typeface="Arial"/>
              </a:rPr>
              <a:t>Platform Model:</a:t>
            </a:r>
            <a:r>
              <a:rPr sz="1700" b="0" i="0">
                <a:solidFill>
                  <a:srgbClr val="333333"/>
                </a:solidFill>
                <a:latin typeface="Arial"/>
              </a:rPr>
              <a:t> 4×4 homogeneous 2D Mesh Network-on-Chip — 16 processing tiles.</a:t>
            </a:r>
          </a:p>
          <a:p>
            <a:pPr lvl="0" indent="-182880" marL="411480" spcBef="300" spcAft="100">
              <a:buClr>
                <a:srgbClr val="8B1A2B"/>
              </a:buClr>
              <a:buSzPct val="100000"/>
              <a:buChar char="▸"/>
            </a:pPr>
            <a:r>
              <a:rPr sz="1700" b="1" i="0">
                <a:solidFill>
                  <a:srgbClr val="333333"/>
                </a:solidFill>
                <a:latin typeface="Arial"/>
              </a:rPr>
              <a:t>Deterministic XY Routing:</a:t>
            </a:r>
            <a:r>
              <a:rPr sz="1700" b="0" i="0">
                <a:solidFill>
                  <a:srgbClr val="333333"/>
                </a:solidFill>
                <a:latin typeface="Arial"/>
              </a:rPr>
              <a:t> Packets move strictly along X-axis first, then Y-axis.</a:t>
            </a:r>
          </a:p>
          <a:p>
            <a:pPr lvl="0" indent="-182880" marL="411480" spcBef="300" spcAft="100">
              <a:buClr>
                <a:srgbClr val="8B1A2B"/>
              </a:buClr>
              <a:buSzPct val="100000"/>
              <a:buChar char="▸"/>
            </a:pPr>
            <a:r>
              <a:rPr sz="1700" b="1" i="0">
                <a:solidFill>
                  <a:srgbClr val="333333"/>
                </a:solidFill>
                <a:latin typeface="Arial"/>
              </a:rPr>
              <a:t>Link-Level Slot Reservation:</a:t>
            </a:r>
            <a:r>
              <a:rPr sz="1700" b="0" i="0">
                <a:solidFill>
                  <a:srgbClr val="333333"/>
                </a:solidFill>
                <a:latin typeface="Arial"/>
              </a:rPr>
              <a:t> Analytical delays replaced by directional, atomic interval reservations on physical NoC link channels.</a:t>
            </a:r>
          </a:p>
        </p:txBody>
      </p:sp>
      <p:pic>
        <p:nvPicPr>
          <p:cNvPr id="6" name="Picture 5" descr="fig0a_noc_topology_generic.png"/>
          <p:cNvPicPr>
            <a:picLocks noChangeAspect="1"/>
          </p:cNvPicPr>
          <p:nvPr/>
        </p:nvPicPr>
        <p:blipFill>
          <a:blip r:embed="rId2"/>
          <a:stretch>
            <a:fillRect/>
          </a:stretch>
        </p:blipFill>
        <p:spPr>
          <a:xfrm>
            <a:off x="7680466" y="658368"/>
            <a:ext cx="4374068" cy="58521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Implementation Status — The 4-Scheduler Evaluation</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3</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11734495" cy="1005840"/>
          </a:xfrm>
          <a:prstGeom prst="rect">
            <a:avLst/>
          </a:prstGeom>
          <a:noFill/>
        </p:spPr>
        <p:txBody>
          <a:bodyPr wrap="square">
            <a:spAutoFit/>
          </a:bodyPr>
          <a:lstStyle/>
          <a:p>
            <a:pPr lvl="0" indent="-182880" marL="411480" spcBef="300" spcAft="100">
              <a:buClr>
                <a:srgbClr val="8B1A2B"/>
              </a:buClr>
              <a:buSzPct val="100000"/>
              <a:buChar char="▸"/>
            </a:pPr>
            <a:r>
              <a:rPr sz="1700" b="1" i="0">
                <a:solidFill>
                  <a:srgbClr val="333333"/>
                </a:solidFill>
                <a:latin typeface="Arial"/>
              </a:rPr>
              <a:t>Custom Python Simulation Framework:</a:t>
            </a:r>
            <a:r>
              <a:rPr sz="1700" b="0" i="0">
                <a:solidFill>
                  <a:srgbClr val="333333"/>
                </a:solidFill>
                <a:latin typeface="Arial"/>
              </a:rPr>
              <a:t> Lightweight, reservation-based hardware execution simulator optimised for heavy state-cloning.</a:t>
            </a:r>
          </a:p>
          <a:p>
            <a:pPr lvl="0" indent="-182880" marL="411480" spcBef="300" spcAft="100">
              <a:buClr>
                <a:srgbClr val="8B1A2B"/>
              </a:buClr>
              <a:buSzPct val="100000"/>
              <a:buChar char="▸"/>
            </a:pPr>
            <a:r>
              <a:rPr sz="1700" b="0" i="0">
                <a:solidFill>
                  <a:srgbClr val="333333"/>
                </a:solidFill>
                <a:latin typeface="Arial"/>
              </a:rPr>
              <a:t>A 2×2 design matrix isolates the independent contributions of </a:t>
            </a:r>
            <a:r>
              <a:rPr sz="1700" b="0" i="1">
                <a:solidFill>
                  <a:srgbClr val="333333"/>
                </a:solidFill>
                <a:latin typeface="Arial"/>
              </a:rPr>
              <a:t>task duplication</a:t>
            </a:r>
            <a:r>
              <a:rPr sz="1700" b="0" i="0">
                <a:solidFill>
                  <a:srgbClr val="333333"/>
                </a:solidFill>
                <a:latin typeface="Arial"/>
              </a:rPr>
              <a:t> and </a:t>
            </a:r>
            <a:r>
              <a:rPr sz="1700" b="0" i="1">
                <a:solidFill>
                  <a:srgbClr val="333333"/>
                </a:solidFill>
                <a:latin typeface="Arial"/>
              </a:rPr>
              <a:t>contention-awareness</a:t>
            </a:r>
            <a:r>
              <a:rPr sz="1700" b="0" i="0">
                <a:solidFill>
                  <a:srgbClr val="333333"/>
                </a:solidFill>
                <a:latin typeface="Arial"/>
              </a:rPr>
              <a:t>.</a:t>
            </a:r>
          </a:p>
        </p:txBody>
      </p:sp>
      <p:graphicFrame>
        <p:nvGraphicFramePr>
          <p:cNvPr id="6" name="Table 5"/>
          <p:cNvGraphicFramePr>
            <a:graphicFrameLocks noGrp="1"/>
          </p:cNvGraphicFramePr>
          <p:nvPr/>
        </p:nvGraphicFramePr>
        <p:xfrm>
          <a:off x="274320" y="1755648"/>
          <a:ext cx="10881360" cy="4663440"/>
        </p:xfrm>
        <a:graphic>
          <a:graphicData uri="http://schemas.openxmlformats.org/drawingml/2006/table">
            <a:tbl>
              <a:tblPr firstRow="1" bandRow="1">
                <a:tableStyleId>{5C22544A-7EE6-4342-B048-85BDC9FD1C3A}</a:tableStyleId>
              </a:tblPr>
              <a:tblGrid>
                <a:gridCol w="2194560"/>
                <a:gridCol w="1645920"/>
                <a:gridCol w="2011680"/>
                <a:gridCol w="5029200"/>
              </a:tblGrid>
              <a:tr h="932688">
                <a:tc>
                  <a:txBody>
                    <a:bodyPr wrap="square"/>
                    <a:lstStyle/>
                    <a:p>
                      <a:pPr algn="l"/>
                      <a:r>
                        <a:rPr sz="1400" b="1">
                          <a:solidFill>
                            <a:srgbClr val="FFFFFF"/>
                          </a:solidFill>
                          <a:latin typeface="Arial"/>
                        </a:rPr>
                        <a:t>Scheduler</a:t>
                      </a:r>
                    </a:p>
                  </a:txBody>
                  <a:tcPr>
                    <a:solidFill>
                      <a:srgbClr val="8B1A2B"/>
                    </a:solidFill>
                  </a:tcPr>
                </a:tc>
                <a:tc>
                  <a:txBody>
                    <a:bodyPr wrap="square"/>
                    <a:lstStyle/>
                    <a:p>
                      <a:pPr algn="l"/>
                      <a:r>
                        <a:rPr sz="1400" b="1">
                          <a:solidFill>
                            <a:srgbClr val="FFFFFF"/>
                          </a:solidFill>
                          <a:latin typeface="Arial"/>
                        </a:rPr>
                        <a:t>Task Duplication</a:t>
                      </a:r>
                    </a:p>
                  </a:txBody>
                  <a:tcPr>
                    <a:solidFill>
                      <a:srgbClr val="8B1A2B"/>
                    </a:solidFill>
                  </a:tcPr>
                </a:tc>
                <a:tc>
                  <a:txBody>
                    <a:bodyPr wrap="square"/>
                    <a:lstStyle/>
                    <a:p>
                      <a:pPr algn="l"/>
                      <a:r>
                        <a:rPr sz="1400" b="1">
                          <a:solidFill>
                            <a:srgbClr val="FFFFFF"/>
                          </a:solidFill>
                          <a:latin typeface="Arial"/>
                        </a:rPr>
                        <a:t>NoC Contention Model</a:t>
                      </a:r>
                    </a:p>
                  </a:txBody>
                  <a:tcPr>
                    <a:solidFill>
                      <a:srgbClr val="8B1A2B"/>
                    </a:solidFill>
                  </a:tcPr>
                </a:tc>
                <a:tc>
                  <a:txBody>
                    <a:bodyPr wrap="square"/>
                    <a:lstStyle/>
                    <a:p>
                      <a:pPr algn="l"/>
                      <a:r>
                        <a:rPr sz="1400" b="1">
                          <a:solidFill>
                            <a:srgbClr val="FFFFFF"/>
                          </a:solidFill>
                          <a:latin typeface="Arial"/>
                        </a:rPr>
                        <a:t>Role</a:t>
                      </a:r>
                    </a:p>
                  </a:txBody>
                  <a:tcPr>
                    <a:solidFill>
                      <a:srgbClr val="8B1A2B"/>
                    </a:solidFill>
                  </a:tcPr>
                </a:tc>
              </a:tr>
              <a:tr h="932688">
                <a:tc>
                  <a:txBody>
                    <a:bodyPr wrap="square"/>
                    <a:lstStyle/>
                    <a:p>
                      <a:pPr algn="l"/>
                      <a:r>
                        <a:rPr sz="1400" b="0">
                          <a:solidFill>
                            <a:srgbClr val="333333"/>
                          </a:solidFill>
                          <a:latin typeface="Arial"/>
                        </a:rPr>
                        <a:t>HEFT Baseline</a:t>
                      </a:r>
                    </a:p>
                  </a:txBody>
                  <a:tcPr>
                    <a:solidFill>
                      <a:srgbClr val="FFFFFF"/>
                    </a:solidFill>
                  </a:tcPr>
                </a:tc>
                <a:tc>
                  <a:txBody>
                    <a:bodyPr wrap="square"/>
                    <a:lstStyle/>
                    <a:p>
                      <a:pPr algn="l"/>
                      <a:r>
                        <a:rPr sz="1400" b="0">
                          <a:solidFill>
                            <a:srgbClr val="8B1A1A"/>
                          </a:solidFill>
                          <a:latin typeface="Arial"/>
                        </a:rPr>
                        <a:t>No</a:t>
                      </a:r>
                    </a:p>
                  </a:txBody>
                  <a:tcPr>
                    <a:solidFill>
                      <a:srgbClr val="FFFFFF"/>
                    </a:solidFill>
                    <a:solidFill>
                      <a:srgbClr val="F7D6D6"/>
                    </a:solidFill>
                  </a:tcPr>
                </a:tc>
                <a:tc>
                  <a:txBody>
                    <a:bodyPr wrap="square"/>
                    <a:lstStyle/>
                    <a:p>
                      <a:pPr algn="l"/>
                      <a:r>
                        <a:rPr sz="1400" b="0">
                          <a:solidFill>
                            <a:srgbClr val="8B1A1A"/>
                          </a:solidFill>
                          <a:latin typeface="Arial"/>
                        </a:rPr>
                        <a:t>No</a:t>
                      </a:r>
                    </a:p>
                  </a:txBody>
                  <a:tcPr>
                    <a:solidFill>
                      <a:srgbClr val="FFFFFF"/>
                    </a:solidFill>
                    <a:solidFill>
                      <a:srgbClr val="F7D6D6"/>
                    </a:solidFill>
                  </a:tcPr>
                </a:tc>
                <a:tc>
                  <a:txBody>
                    <a:bodyPr wrap="square"/>
                    <a:lstStyle/>
                    <a:p>
                      <a:pPr algn="l"/>
                      <a:r>
                        <a:rPr sz="1400" b="0">
                          <a:solidFill>
                            <a:srgbClr val="333333"/>
                          </a:solidFill>
                          <a:latin typeface="Arial"/>
                        </a:rPr>
                        <a:t>Contention-blind, duplication-free list scheduler</a:t>
                      </a:r>
                    </a:p>
                  </a:txBody>
                  <a:tcPr>
                    <a:solidFill>
                      <a:srgbClr val="FFFFFF"/>
                    </a:solidFill>
                  </a:tcPr>
                </a:tc>
              </a:tr>
              <a:tr h="932688">
                <a:tc>
                  <a:txBody>
                    <a:bodyPr wrap="square"/>
                    <a:lstStyle/>
                    <a:p>
                      <a:pPr algn="l"/>
                      <a:r>
                        <a:rPr sz="1400" b="0">
                          <a:solidFill>
                            <a:srgbClr val="333333"/>
                          </a:solidFill>
                          <a:latin typeface="Arial"/>
                        </a:rPr>
                        <a:t>CA-LS</a:t>
                      </a:r>
                    </a:p>
                  </a:txBody>
                  <a:tcPr>
                    <a:solidFill>
                      <a:srgbClr val="F2F2F2"/>
                    </a:solidFill>
                  </a:tcPr>
                </a:tc>
                <a:tc>
                  <a:txBody>
                    <a:bodyPr wrap="square"/>
                    <a:lstStyle/>
                    <a:p>
                      <a:pPr algn="l"/>
                      <a:r>
                        <a:rPr sz="1400" b="0">
                          <a:solidFill>
                            <a:srgbClr val="8B1A1A"/>
                          </a:solidFill>
                          <a:latin typeface="Arial"/>
                        </a:rPr>
                        <a:t>No</a:t>
                      </a:r>
                    </a:p>
                  </a:txBody>
                  <a:tcPr>
                    <a:solidFill>
                      <a:srgbClr val="F2F2F2"/>
                    </a:solidFill>
                    <a:solidFill>
                      <a:srgbClr val="F7D6D6"/>
                    </a:solidFill>
                  </a:tcPr>
                </a:tc>
                <a:tc>
                  <a:txBody>
                    <a:bodyPr wrap="square"/>
                    <a:lstStyle/>
                    <a:p>
                      <a:pPr algn="l"/>
                      <a:r>
                        <a:rPr sz="1400" b="0">
                          <a:solidFill>
                            <a:srgbClr val="1A6B1A"/>
                          </a:solidFill>
                          <a:latin typeface="Arial"/>
                        </a:rPr>
                        <a:t>Yes</a:t>
                      </a:r>
                    </a:p>
                  </a:txBody>
                  <a:tcPr>
                    <a:solidFill>
                      <a:srgbClr val="F2F2F2"/>
                    </a:solidFill>
                    <a:solidFill>
                      <a:srgbClr val="D6F0D6"/>
                    </a:solidFill>
                  </a:tcPr>
                </a:tc>
                <a:tc>
                  <a:txBody>
                    <a:bodyPr wrap="square"/>
                    <a:lstStyle/>
                    <a:p>
                      <a:pPr algn="l"/>
                      <a:r>
                        <a:rPr sz="1400" b="0">
                          <a:solidFill>
                            <a:srgbClr val="333333"/>
                          </a:solidFill>
                          <a:latin typeface="Arial"/>
                        </a:rPr>
                        <a:t>No duplication; strict physical NoC reservations</a:t>
                      </a:r>
                    </a:p>
                  </a:txBody>
                  <a:tcPr>
                    <a:solidFill>
                      <a:srgbClr val="F2F2F2"/>
                    </a:solidFill>
                  </a:tcPr>
                </a:tc>
              </a:tr>
              <a:tr h="932688">
                <a:tc>
                  <a:txBody>
                    <a:bodyPr wrap="square"/>
                    <a:lstStyle/>
                    <a:p>
                      <a:pPr algn="l"/>
                      <a:r>
                        <a:rPr sz="1400" b="0">
                          <a:solidFill>
                            <a:srgbClr val="333333"/>
                          </a:solidFill>
                          <a:latin typeface="Arial"/>
                        </a:rPr>
                        <a:t>CD-LS</a:t>
                      </a:r>
                    </a:p>
                  </a:txBody>
                  <a:tcPr>
                    <a:solidFill>
                      <a:srgbClr val="FFFFFF"/>
                    </a:solidFill>
                  </a:tcPr>
                </a:tc>
                <a:tc>
                  <a:txBody>
                    <a:bodyPr wrap="square"/>
                    <a:lstStyle/>
                    <a:p>
                      <a:pPr algn="l"/>
                      <a:r>
                        <a:rPr sz="1400" b="0">
                          <a:solidFill>
                            <a:srgbClr val="1A6B1A"/>
                          </a:solidFill>
                          <a:latin typeface="Arial"/>
                        </a:rPr>
                        <a:t>Yes</a:t>
                      </a:r>
                    </a:p>
                  </a:txBody>
                  <a:tcPr>
                    <a:solidFill>
                      <a:srgbClr val="FFFFFF"/>
                    </a:solidFill>
                    <a:solidFill>
                      <a:srgbClr val="D6F0D6"/>
                    </a:solidFill>
                  </a:tcPr>
                </a:tc>
                <a:tc>
                  <a:txBody>
                    <a:bodyPr wrap="square"/>
                    <a:lstStyle/>
                    <a:p>
                      <a:pPr algn="l"/>
                      <a:r>
                        <a:rPr sz="1400" b="0">
                          <a:solidFill>
                            <a:srgbClr val="8B1A1A"/>
                          </a:solidFill>
                          <a:latin typeface="Arial"/>
                        </a:rPr>
                        <a:t>No</a:t>
                      </a:r>
                    </a:p>
                  </a:txBody>
                  <a:tcPr>
                    <a:solidFill>
                      <a:srgbClr val="FFFFFF"/>
                    </a:solidFill>
                    <a:solidFill>
                      <a:srgbClr val="F7D6D6"/>
                    </a:solidFill>
                  </a:tcPr>
                </a:tc>
                <a:tc>
                  <a:txBody>
                    <a:bodyPr wrap="square"/>
                    <a:lstStyle/>
                    <a:p>
                      <a:pPr algn="l"/>
                      <a:r>
                        <a:rPr sz="1400" b="0">
                          <a:solidFill>
                            <a:srgbClr val="333333"/>
                          </a:solidFill>
                          <a:latin typeface="Arial"/>
                        </a:rPr>
                        <a:t>Parent task replication; contention-blind network</a:t>
                      </a:r>
                    </a:p>
                  </a:txBody>
                  <a:tcPr>
                    <a:solidFill>
                      <a:srgbClr val="FFFFFF"/>
                    </a:solidFill>
                  </a:tcPr>
                </a:tc>
              </a:tr>
              <a:tr h="932688">
                <a:tc>
                  <a:txBody>
                    <a:bodyPr wrap="square"/>
                    <a:lstStyle/>
                    <a:p>
                      <a:pPr algn="l"/>
                      <a:r>
                        <a:rPr sz="1400" b="1">
                          <a:solidFill>
                            <a:srgbClr val="333333"/>
                          </a:solidFill>
                          <a:latin typeface="Arial"/>
                        </a:rPr>
                        <a:t>CA-D (Proposed)</a:t>
                      </a:r>
                    </a:p>
                  </a:txBody>
                  <a:tcPr>
                    <a:solidFill>
                      <a:srgbClr val="F2F2F2"/>
                    </a:solidFill>
                  </a:tcPr>
                </a:tc>
                <a:tc>
                  <a:txBody>
                    <a:bodyPr wrap="square"/>
                    <a:lstStyle/>
                    <a:p>
                      <a:pPr algn="l"/>
                      <a:r>
                        <a:rPr sz="1400" b="0">
                          <a:solidFill>
                            <a:srgbClr val="1A6B1A"/>
                          </a:solidFill>
                          <a:latin typeface="Arial"/>
                        </a:rPr>
                        <a:t>Yes</a:t>
                      </a:r>
                    </a:p>
                  </a:txBody>
                  <a:tcPr>
                    <a:solidFill>
                      <a:srgbClr val="F2F2F2"/>
                    </a:solidFill>
                    <a:solidFill>
                      <a:srgbClr val="D6F0D6"/>
                    </a:solidFill>
                  </a:tcPr>
                </a:tc>
                <a:tc>
                  <a:txBody>
                    <a:bodyPr wrap="square"/>
                    <a:lstStyle/>
                    <a:p>
                      <a:pPr algn="l"/>
                      <a:r>
                        <a:rPr sz="1400" b="0">
                          <a:solidFill>
                            <a:srgbClr val="1A6B1A"/>
                          </a:solidFill>
                          <a:latin typeface="Arial"/>
                        </a:rPr>
                        <a:t>Yes</a:t>
                      </a:r>
                    </a:p>
                  </a:txBody>
                  <a:tcPr>
                    <a:solidFill>
                      <a:srgbClr val="F2F2F2"/>
                    </a:solidFill>
                    <a:solidFill>
                      <a:srgbClr val="D6F0D6"/>
                    </a:solidFill>
                  </a:tcPr>
                </a:tc>
                <a:tc>
                  <a:txBody>
                    <a:bodyPr wrap="square"/>
                    <a:lstStyle/>
                    <a:p>
                      <a:pPr algn="l"/>
                      <a:r>
                        <a:rPr sz="1400" b="0">
                          <a:solidFill>
                            <a:srgbClr val="333333"/>
                          </a:solidFill>
                          <a:latin typeface="Arial"/>
                        </a:rPr>
                        <a:t>Co-optimises link contention + recursive duplication</a:t>
                      </a:r>
                    </a:p>
                  </a:txBody>
                  <a:tcPr>
                    <a:solidFill>
                      <a:srgbClr val="F2F2F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Architectural Deviations &amp; Design Decisions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4</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7122993"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Deviation 1: Custom Interval Simulator over Cycle-Accurate Tools (BookSim)</a:t>
            </a:r>
          </a:p>
          <a:p>
            <a:pPr lvl="1" indent="-182880" marL="640080" spcBef="100" spcAft="100">
              <a:buClr>
                <a:srgbClr val="8B1A2B"/>
              </a:buClr>
              <a:buSzPct val="100000"/>
              <a:buChar char="–"/>
            </a:pPr>
            <a:r>
              <a:rPr sz="1500" b="0" i="0">
                <a:solidFill>
                  <a:srgbClr val="333333"/>
                </a:solidFill>
                <a:latin typeface="Arial"/>
              </a:rPr>
              <a:t>Required for sub-microsecond state cloning during scheduler candidate exploration.</a:t>
            </a:r>
          </a:p>
          <a:p>
            <a:pPr lvl="0" indent="-182880" marL="411480" spcBef="300" spcAft="100">
              <a:buClr>
                <a:srgbClr val="8B1A2B"/>
              </a:buClr>
              <a:buSzPct val="100000"/>
              <a:buChar char="▸"/>
            </a:pPr>
            <a:r>
              <a:rPr sz="1700" b="1" i="0">
                <a:solidFill>
                  <a:srgbClr val="333333"/>
                </a:solidFill>
                <a:latin typeface="Arial"/>
              </a:rPr>
              <a:t>Decision 2: The "Fair Replay" Module</a:t>
            </a:r>
          </a:p>
          <a:p>
            <a:pPr lvl="1" indent="-182880" marL="640080" spcBef="100" spcAft="100">
              <a:buClr>
                <a:srgbClr val="8B1A2B"/>
              </a:buClr>
              <a:buSzPct val="100000"/>
              <a:buChar char="–"/>
            </a:pPr>
            <a:r>
              <a:rPr sz="1500" b="0" i="0">
                <a:solidFill>
                  <a:srgbClr val="333333"/>
                </a:solidFill>
                <a:latin typeface="Arial"/>
              </a:rPr>
              <a:t>Contention-blind schedulers produce falsely optimistic end times.</a:t>
            </a:r>
          </a:p>
          <a:p>
            <a:pPr lvl="1" indent="-182880" marL="640080" spcBef="100" spcAft="100">
              <a:buClr>
                <a:srgbClr val="8B1A2B"/>
              </a:buClr>
              <a:buSzPct val="100000"/>
              <a:buChar char="–"/>
            </a:pPr>
            <a:r>
              <a:rPr sz="1500" b="0" i="0">
                <a:solidFill>
                  <a:srgbClr val="333333"/>
                </a:solidFill>
                <a:latin typeface="Arial"/>
              </a:rPr>
              <a:t>A validation engine re-enforces all placements on the same physical NoC model to extract true makespans.</a:t>
            </a:r>
          </a:p>
          <a:p>
            <a:pPr lvl="0" indent="-182880" marL="411480" spcBef="300" spcAft="100">
              <a:buClr>
                <a:srgbClr val="8B1A2B"/>
              </a:buClr>
              <a:buSzPct val="100000"/>
              <a:buChar char="▸"/>
            </a:pPr>
            <a:r>
              <a:rPr sz="1700" b="1" i="0">
                <a:solidFill>
                  <a:srgbClr val="333333"/>
                </a:solidFill>
                <a:latin typeface="Arial"/>
              </a:rPr>
              <a:t>Decision 3: Structural Shallow-Copy Optimisation</a:t>
            </a:r>
          </a:p>
          <a:p>
            <a:pPr lvl="1" indent="-182880" marL="640080" spcBef="100" spcAft="100">
              <a:buClr>
                <a:srgbClr val="8B1A2B"/>
              </a:buClr>
              <a:buSzPct val="100000"/>
              <a:buChar char="–"/>
            </a:pPr>
            <a:r>
              <a:rPr sz="1500" b="0" i="0">
                <a:solidFill>
                  <a:srgbClr val="333333"/>
                </a:solidFill>
                <a:latin typeface="Arial"/>
              </a:rPr>
              <a:t>Replaced </a:t>
            </a:r>
            <a:r>
              <a:rPr sz="1500" b="0" i="0">
                <a:solidFill>
                  <a:srgbClr val="333333"/>
                </a:solidFill>
                <a:latin typeface="Courier New"/>
              </a:rPr>
              <a:t>deepcopy</a:t>
            </a:r>
            <a:r>
              <a:rPr sz="1500" b="0" i="0">
                <a:solidFill>
                  <a:srgbClr val="333333"/>
                </a:solidFill>
                <a:latin typeface="Arial"/>
              </a:rPr>
              <a:t> with shared immutable infrastructure — prevents recursion bottlenecks in the Clone-Discard pattern.</a:t>
            </a:r>
          </a:p>
        </p:txBody>
      </p:sp>
      <p:pic>
        <p:nvPicPr>
          <p:cNvPr id="6" name="Picture 5" descr="fig3_native_vs_replay.png"/>
          <p:cNvPicPr>
            <a:picLocks noChangeAspect="1"/>
          </p:cNvPicPr>
          <p:nvPr/>
        </p:nvPicPr>
        <p:blipFill>
          <a:blip r:embed="rId2"/>
          <a:stretch>
            <a:fillRect/>
          </a:stretch>
        </p:blipFill>
        <p:spPr>
          <a:xfrm>
            <a:off x="7443033" y="658368"/>
            <a:ext cx="4611502" cy="58521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Deep Dive I — The CA-D Scheduling Pipeline</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5</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6885559"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Stage 1: Upward Priority Ranking</a:t>
            </a:r>
            <a:r>
              <a:rPr sz="1700" b="0" i="0">
                <a:solidFill>
                  <a:srgbClr val="333333"/>
                </a:solidFill>
                <a:latin typeface="Arial"/>
              </a:rPr>
              <a:t> — Critical path priority assignment for all DAG tasks.</a:t>
            </a:r>
          </a:p>
          <a:p>
            <a:pPr lvl="0" indent="-182880" marL="411480" spcBef="300" spcAft="100">
              <a:buClr>
                <a:srgbClr val="8B1A2B"/>
              </a:buClr>
              <a:buSzPct val="100000"/>
              <a:buChar char="▸"/>
            </a:pPr>
            <a:r>
              <a:rPr sz="1700" b="1" i="0">
                <a:solidFill>
                  <a:srgbClr val="333333"/>
                </a:solidFill>
                <a:latin typeface="Arial"/>
              </a:rPr>
              <a:t>Stage 2: Candidate Processor Exploration</a:t>
            </a:r>
            <a:r>
              <a:rPr sz="1700" b="0" i="0">
                <a:solidFill>
                  <a:srgbClr val="333333"/>
                </a:solidFill>
                <a:latin typeface="Arial"/>
              </a:rPr>
              <a:t> — Evaluate all 4×4 grid tiles for each ready task.</a:t>
            </a:r>
          </a:p>
          <a:p>
            <a:pPr lvl="0" indent="-182880" marL="411480" spcBef="300" spcAft="100">
              <a:buClr>
                <a:srgbClr val="8B1A2B"/>
              </a:buClr>
              <a:buSzPct val="100000"/>
              <a:buChar char="▸"/>
            </a:pPr>
            <a:r>
              <a:rPr sz="1700" b="1" i="0">
                <a:solidFill>
                  <a:srgbClr val="333333"/>
                </a:solidFill>
                <a:latin typeface="Arial"/>
              </a:rPr>
              <a:t>Stage 3: Isolated State Branching</a:t>
            </a:r>
            <a:r>
              <a:rPr sz="1700" b="0" i="0">
                <a:solidFill>
                  <a:srgbClr val="333333"/>
                </a:solidFill>
                <a:latin typeface="Arial"/>
              </a:rPr>
              <a:t> — Clone-Discard pattern prevents data pollution across candidate evaluations.</a:t>
            </a:r>
          </a:p>
          <a:p>
            <a:pPr lvl="0" indent="-182880" marL="411480" spcBef="300" spcAft="100">
              <a:buClr>
                <a:srgbClr val="8B1A2B"/>
              </a:buClr>
              <a:buSzPct val="100000"/>
              <a:buChar char="▸"/>
            </a:pPr>
            <a:r>
              <a:rPr sz="1700" b="1" i="0">
                <a:solidFill>
                  <a:srgbClr val="333333"/>
                </a:solidFill>
                <a:latin typeface="Arial"/>
              </a:rPr>
              <a:t>Stage 4: Best Candidate Promotion</a:t>
            </a:r>
            <a:r>
              <a:rPr sz="1700" b="0" i="0">
                <a:solidFill>
                  <a:srgbClr val="333333"/>
                </a:solidFill>
                <a:latin typeface="Arial"/>
              </a:rPr>
              <a:t> — Commits the placement that minimises Earliest Finish Time (EFT).</a:t>
            </a:r>
          </a:p>
          <a:p>
            <a:pPr lvl="0" indent="-182880" marL="411480" spcBef="300" spcAft="100">
              <a:buClr>
                <a:srgbClr val="8B1A2B"/>
              </a:buClr>
              <a:buSzPct val="100000"/>
              <a:buChar char="▸"/>
            </a:pPr>
            <a:r>
              <a:rPr sz="1700" b="1" i="0">
                <a:solidFill>
                  <a:srgbClr val="333333"/>
                </a:solidFill>
                <a:latin typeface="Arial"/>
              </a:rPr>
              <a:t>Stage 5: Post-Processing Clean-up</a:t>
            </a:r>
            <a:r>
              <a:rPr sz="1700" b="0" i="0">
                <a:solidFill>
                  <a:srgbClr val="333333"/>
                </a:solidFill>
                <a:latin typeface="Arial"/>
              </a:rPr>
              <a:t> — Conservative pruning removes redundant task copies with no live consumers.</a:t>
            </a:r>
          </a:p>
        </p:txBody>
      </p:sp>
      <p:pic>
        <p:nvPicPr>
          <p:cNvPr id="6" name="Picture 5" descr="fig2_scheduler_concept.png"/>
          <p:cNvPicPr>
            <a:picLocks noChangeAspect="1"/>
          </p:cNvPicPr>
          <p:nvPr/>
        </p:nvPicPr>
        <p:blipFill>
          <a:blip r:embed="rId2"/>
          <a:stretch>
            <a:fillRect/>
          </a:stretch>
        </p:blipFill>
        <p:spPr>
          <a:xfrm>
            <a:off x="7205599" y="658368"/>
            <a:ext cx="4848935" cy="58521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Deep Dive II — Recursive Ancestor Duplication Mechanics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6</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7360426"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The Core Evaluation Metric (ΔEFT):</a:t>
            </a:r>
          </a:p>
          <a:p>
            <a:pPr lvl="1" indent="-182880" marL="640080" spcBef="100" spcAft="100">
              <a:buClr>
                <a:srgbClr val="8B1A2B"/>
              </a:buClr>
              <a:buSzPct val="100000"/>
              <a:buChar char="–"/>
            </a:pPr>
            <a:r>
              <a:rPr sz="1500" b="0" i="1">
                <a:solidFill>
                  <a:srgbClr val="333333"/>
                </a:solidFill>
                <a:latin typeface="Arial"/>
              </a:rPr>
              <a:t>Baseline (EFT_no_dup):</a:t>
            </a:r>
            <a:r>
              <a:rPr sz="1500" b="0" i="0">
                <a:solidFill>
                  <a:srgbClr val="333333"/>
                </a:solidFill>
                <a:latin typeface="Arial"/>
              </a:rPr>
              <a:t> Leave predecessor remote — suffer NoC contention delay.</a:t>
            </a:r>
          </a:p>
          <a:p>
            <a:pPr lvl="1" indent="-182880" marL="640080" spcBef="100" spcAft="100">
              <a:buClr>
                <a:srgbClr val="8B1A2B"/>
              </a:buClr>
              <a:buSzPct val="100000"/>
              <a:buChar char="–"/>
            </a:pPr>
            <a:r>
              <a:rPr sz="1500" b="0" i="1">
                <a:solidFill>
                  <a:srgbClr val="333333"/>
                </a:solidFill>
                <a:latin typeface="Arial"/>
              </a:rPr>
              <a:t>Duplicated (EFT_dup):</a:t>
            </a:r>
            <a:r>
              <a:rPr sz="1500" b="0" i="0">
                <a:solidFill>
                  <a:srgbClr val="333333"/>
                </a:solidFill>
                <a:latin typeface="Arial"/>
              </a:rPr>
              <a:t> Replicate predecessor locally on the target core.</a:t>
            </a:r>
          </a:p>
          <a:p>
            <a:pPr lvl="1" indent="-182880" marL="640080" spcBef="100" spcAft="100">
              <a:buClr>
                <a:srgbClr val="8B1A2B"/>
              </a:buClr>
              <a:buSzPct val="100000"/>
              <a:buChar char="–"/>
            </a:pPr>
            <a:r>
              <a:rPr sz="1500" b="0" i="1">
                <a:solidFill>
                  <a:srgbClr val="333333"/>
                </a:solidFill>
                <a:latin typeface="Arial"/>
              </a:rPr>
              <a:t>Commit Rule:</a:t>
            </a:r>
            <a:r>
              <a:rPr sz="1500" b="0" i="0">
                <a:solidFill>
                  <a:srgbClr val="333333"/>
                </a:solidFill>
                <a:latin typeface="Arial"/>
              </a:rPr>
              <a:t> ΔEFT = EFT_no_dup − EFT_dup &gt; ε</a:t>
            </a:r>
          </a:p>
          <a:p>
            <a:pPr lvl="0" indent="-182880" marL="411480" spcBef="300" spcAft="100">
              <a:buClr>
                <a:srgbClr val="8B1A2B"/>
              </a:buClr>
              <a:buSzPct val="100000"/>
              <a:buChar char="▸"/>
            </a:pPr>
            <a:r>
              <a:rPr sz="1700" b="1" i="0">
                <a:solidFill>
                  <a:srgbClr val="333333"/>
                </a:solidFill>
                <a:latin typeface="Arial"/>
              </a:rPr>
              <a:t>Recursive Traversal:</a:t>
            </a:r>
            <a:r>
              <a:rPr sz="1700" b="0" i="0">
                <a:solidFill>
                  <a:srgbClr val="333333"/>
                </a:solidFill>
                <a:latin typeface="Arial"/>
              </a:rPr>
              <a:t> If local duplication helps, climb the ancestor tree and evaluate grandparents recursively.</a:t>
            </a:r>
          </a:p>
          <a:p>
            <a:pPr lvl="0" indent="-182880" marL="411480" spcBef="300" spcAft="100">
              <a:buClr>
                <a:srgbClr val="8B1A2B"/>
              </a:buClr>
              <a:buSzPct val="100000"/>
              <a:buChar char="▸"/>
            </a:pPr>
            <a:r>
              <a:rPr sz="1700" b="1" i="0">
                <a:solidFill>
                  <a:srgbClr val="333333"/>
                </a:solidFill>
                <a:latin typeface="Arial"/>
              </a:rPr>
              <a:t>Cycle Guard Constraint:</a:t>
            </a:r>
            <a:r>
              <a:rPr sz="1700" b="0" i="0">
                <a:solidFill>
                  <a:srgbClr val="333333"/>
                </a:solidFill>
                <a:latin typeface="Arial"/>
              </a:rPr>
              <a:t> A visiting set strictly blocks infinite loops during traversal.</a:t>
            </a:r>
          </a:p>
        </p:txBody>
      </p:sp>
      <p:pic>
        <p:nvPicPr>
          <p:cNvPr id="6" name="Picture 5" descr="figB_earliest_route_slot.png"/>
          <p:cNvPicPr>
            <a:picLocks noChangeAspect="1"/>
          </p:cNvPicPr>
          <p:nvPr/>
        </p:nvPicPr>
        <p:blipFill>
          <a:blip r:embed="rId2"/>
          <a:stretch>
            <a:fillRect/>
          </a:stretch>
        </p:blipFill>
        <p:spPr>
          <a:xfrm>
            <a:off x="7680466" y="658368"/>
            <a:ext cx="4374068" cy="58521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Deep Dive III — Best-Instance Selection &amp; Pruning</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7</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11871655"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Data Source Selection Rule (priority order):</a:t>
            </a:r>
          </a:p>
          <a:p>
            <a:pPr lvl="1" indent="-182880" marL="640080" spcBef="100" spcAft="100">
              <a:buClr>
                <a:srgbClr val="8B1A2B"/>
              </a:buClr>
              <a:buSzPct val="100000"/>
              <a:buChar char="–"/>
            </a:pPr>
            <a:r>
              <a:rPr sz="1500" b="0" i="0">
                <a:solidFill>
                  <a:srgbClr val="333333"/>
                </a:solidFill>
                <a:latin typeface="Arial"/>
              </a:rPr>
              <a:t>1. Earliest Arrival Time (under physical link contention)</a:t>
            </a:r>
          </a:p>
          <a:p>
            <a:pPr lvl="1" indent="-182880" marL="640080" spcBef="100" spcAft="100">
              <a:buClr>
                <a:srgbClr val="8B1A2B"/>
              </a:buClr>
              <a:buSzPct val="100000"/>
              <a:buChar char="–"/>
            </a:pPr>
            <a:r>
              <a:rPr sz="1500" b="0" i="0">
                <a:solidFill>
                  <a:srgbClr val="333333"/>
                </a:solidFill>
                <a:latin typeface="Arial"/>
              </a:rPr>
              <a:t>2. Local Advantage — prefer local copy as tie-breaker</a:t>
            </a:r>
          </a:p>
          <a:p>
            <a:pPr lvl="1" indent="-182880" marL="640080" spcBef="100" spcAft="100">
              <a:buClr>
                <a:srgbClr val="8B1A2B"/>
              </a:buClr>
              <a:buSzPct val="100000"/>
              <a:buChar char="–"/>
            </a:pPr>
            <a:r>
              <a:rPr sz="1500" b="0" i="0">
                <a:solidFill>
                  <a:srgbClr val="333333"/>
                </a:solidFill>
                <a:latin typeface="Arial"/>
              </a:rPr>
              <a:t>3. Determinism — smaller processor ID for stable ordering</a:t>
            </a:r>
          </a:p>
          <a:p>
            <a:pPr lvl="0" indent="-182880" marL="411480" spcBef="300" spcAft="100">
              <a:buClr>
                <a:srgbClr val="8B1A2B"/>
              </a:buClr>
              <a:buSzPct val="100000"/>
              <a:buChar char="▸"/>
            </a:pPr>
            <a:r>
              <a:rPr sz="1700" b="1" i="0">
                <a:solidFill>
                  <a:srgbClr val="333333"/>
                </a:solidFill>
                <a:latin typeface="Arial"/>
              </a:rPr>
              <a:t>Conservative Redundant Pruning — instance deleted if ALL hold:</a:t>
            </a:r>
          </a:p>
          <a:p>
            <a:pPr lvl="1" indent="-182880" marL="640080" spcBef="100" spcAft="100">
              <a:buClr>
                <a:srgbClr val="8B1A2B"/>
              </a:buClr>
              <a:buSzPct val="100000"/>
              <a:buChar char="–"/>
            </a:pPr>
            <a:r>
              <a:rPr sz="1500" b="0" i="0">
                <a:solidFill>
                  <a:srgbClr val="333333"/>
                </a:solidFill>
                <a:latin typeface="Arial"/>
              </a:rPr>
              <a:t>Not a primary (first-scheduled) node instance</a:t>
            </a:r>
          </a:p>
          <a:p>
            <a:pPr lvl="1" indent="-182880" marL="640080" spcBef="100" spcAft="100">
              <a:buClr>
                <a:srgbClr val="8B1A2B"/>
              </a:buClr>
              <a:buSzPct val="100000"/>
              <a:buChar char="–"/>
            </a:pPr>
            <a:r>
              <a:rPr sz="1500" b="0" i="0">
                <a:solidFill>
                  <a:srgbClr val="333333"/>
                </a:solidFill>
                <a:latin typeface="Arial"/>
              </a:rPr>
              <a:t>At least one valid instance of the task remains on the chip</a:t>
            </a:r>
          </a:p>
          <a:p>
            <a:pPr lvl="1" indent="-182880" marL="640080" spcBef="100" spcAft="100">
              <a:buClr>
                <a:srgbClr val="8B1A2B"/>
              </a:buClr>
              <a:buSzPct val="100000"/>
              <a:buChar char="–"/>
            </a:pPr>
            <a:r>
              <a:rPr sz="1500" b="0" i="0">
                <a:solidFill>
                  <a:srgbClr val="333333"/>
                </a:solidFill>
                <a:latin typeface="Arial"/>
              </a:rPr>
              <a:t>No local successor or outgoing NoC communication depends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Experimental Setup &amp; Target Workloads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8</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5935827"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960 Comprehensive Experimental Runs</a:t>
            </a:r>
            <a:r>
              <a:rPr sz="1700" b="0" i="0">
                <a:solidFill>
                  <a:srgbClr val="333333"/>
                </a:solidFill>
                <a:latin typeface="Arial"/>
              </a:rPr>
              <a:t> across all scheduler × DAG × CCR combinations.</a:t>
            </a:r>
          </a:p>
          <a:p>
            <a:pPr lvl="0" indent="-182880" marL="411480" spcBef="300" spcAft="100">
              <a:buClr>
                <a:srgbClr val="8B1A2B"/>
              </a:buClr>
              <a:buSzPct val="100000"/>
              <a:buChar char="▸"/>
            </a:pPr>
            <a:r>
              <a:rPr sz="1700" b="1" i="0">
                <a:solidFill>
                  <a:srgbClr val="333333"/>
                </a:solidFill>
                <a:latin typeface="Arial"/>
              </a:rPr>
              <a:t>4 Target Structural DAG Families:</a:t>
            </a:r>
            <a:r>
              <a:rPr sz="1700" b="0" i="0">
                <a:solidFill>
                  <a:srgbClr val="333333"/>
                </a:solidFill>
                <a:latin typeface="Arial"/>
              </a:rPr>
              <a:t> Chain, Fork, Out-tree, Fork-Join.</a:t>
            </a:r>
          </a:p>
          <a:p>
            <a:pPr lvl="0" indent="-182880" marL="411480" spcBef="300" spcAft="100">
              <a:buClr>
                <a:srgbClr val="8B1A2B"/>
              </a:buClr>
              <a:buSzPct val="100000"/>
              <a:buChar char="▸"/>
            </a:pPr>
            <a:r>
              <a:rPr sz="1700" b="1" i="0">
                <a:solidFill>
                  <a:srgbClr val="333333"/>
                </a:solidFill>
                <a:latin typeface="Arial"/>
              </a:rPr>
              <a:t>4 CCR Spectrum Points:</a:t>
            </a:r>
            <a:r>
              <a:rPr sz="1700" b="0" i="0">
                <a:solidFill>
                  <a:srgbClr val="333333"/>
                </a:solidFill>
                <a:latin typeface="Arial"/>
              </a:rPr>
              <a:t> 0.1 (compute-bound) → 1.0 → 5.0 → 10.0 (communication-bound).</a:t>
            </a:r>
          </a:p>
          <a:p>
            <a:pPr lvl="0" indent="-182880" marL="411480" spcBef="300" spcAft="100">
              <a:buClr>
                <a:srgbClr val="8B1A2B"/>
              </a:buClr>
              <a:buSzPct val="100000"/>
              <a:buChar char="▸"/>
            </a:pPr>
            <a:r>
              <a:rPr sz="1700" b="1" i="0">
                <a:solidFill>
                  <a:srgbClr val="333333"/>
                </a:solidFill>
                <a:latin typeface="Arial"/>
              </a:rPr>
              <a:t>Statistical Distribution:</a:t>
            </a:r>
            <a:r>
              <a:rPr sz="1700" b="0" i="0">
                <a:solidFill>
                  <a:srgbClr val="333333"/>
                </a:solidFill>
                <a:latin typeface="Arial"/>
              </a:rPr>
              <a:t> 20 distinct random seeds per configuration — ensures robust, reproducible averages.</a:t>
            </a:r>
          </a:p>
        </p:txBody>
      </p:sp>
      <p:pic>
        <p:nvPicPr>
          <p:cNvPr id="6" name="Picture 5" descr="fig1_dag_family_topologies.png"/>
          <p:cNvPicPr>
            <a:picLocks noChangeAspect="1"/>
          </p:cNvPicPr>
          <p:nvPr/>
        </p:nvPicPr>
        <p:blipFill>
          <a:blip r:embed="rId2"/>
          <a:stretch>
            <a:fillRect/>
          </a:stretch>
        </p:blipFill>
        <p:spPr>
          <a:xfrm>
            <a:off x="6255867" y="658368"/>
            <a:ext cx="5798667" cy="5852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Quantitative Performance — Replayed Speedup &amp; Overhead</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9</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5935827"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Core Discovery (Replayed Speedup):</a:t>
            </a:r>
            <a:r>
              <a:rPr sz="1700" b="0" i="0">
                <a:solidFill>
                  <a:srgbClr val="333333"/>
                </a:solidFill>
                <a:latin typeface="Arial"/>
              </a:rPr>
              <a:t> At CCR=10.0, CA-D yields the highest speedup. CD-LS </a:t>
            </a:r>
            <a:r>
              <a:rPr sz="1700" b="0" i="1">
                <a:solidFill>
                  <a:srgbClr val="333333"/>
                </a:solidFill>
                <a:latin typeface="Arial"/>
              </a:rPr>
              <a:t>collapses</a:t>
            </a:r>
            <a:r>
              <a:rPr sz="1700" b="0" i="0">
                <a:solidFill>
                  <a:srgbClr val="333333"/>
                </a:solidFill>
                <a:latin typeface="Arial"/>
              </a:rPr>
              <a:t> — performing worse than HEFT (0.68× slowdown).</a:t>
            </a:r>
          </a:p>
          <a:p>
            <a:pPr lvl="0" indent="-182880" marL="411480" spcBef="300" spcAft="100">
              <a:buClr>
                <a:srgbClr val="8B1A2B"/>
              </a:buClr>
              <a:buSzPct val="100000"/>
              <a:buChar char="▸"/>
            </a:pPr>
            <a:r>
              <a:rPr sz="1700" b="1" i="0">
                <a:solidFill>
                  <a:srgbClr val="333333"/>
                </a:solidFill>
                <a:latin typeface="Arial"/>
              </a:rPr>
              <a:t>Illusion Exposed (Replay Overhead):</a:t>
            </a:r>
            <a:r>
              <a:rPr sz="1700" b="0" i="0">
                <a:solidFill>
                  <a:srgbClr val="333333"/>
                </a:solidFill>
                <a:latin typeface="Arial"/>
              </a:rPr>
              <a:t> HEFT and CD-LS show 38–85% optimistic error. CA-D holds a flat 1.0 line — no prediction gap.</a:t>
            </a:r>
          </a:p>
          <a:p>
            <a:pPr lvl="0" indent="-182880" marL="411480" spcBef="300" spcAft="100">
              <a:buClr>
                <a:srgbClr val="8B1A2B"/>
              </a:buClr>
              <a:buSzPct val="100000"/>
              <a:buChar char="▸"/>
            </a:pPr>
            <a:r>
              <a:rPr sz="1700" b="1" i="0">
                <a:solidFill>
                  <a:srgbClr val="333333"/>
                </a:solidFill>
                <a:latin typeface="Arial"/>
              </a:rPr>
              <a:t>Key Takeaway:</a:t>
            </a:r>
            <a:r>
              <a:rPr sz="1700" b="0" i="0">
                <a:solidFill>
                  <a:srgbClr val="333333"/>
                </a:solidFill>
                <a:latin typeface="Arial"/>
              </a:rPr>
              <a:t> Contention modelling is not optional at high CCR — it is the deciding factor between speedup and degradation.</a:t>
            </a:r>
          </a:p>
        </p:txBody>
      </p:sp>
      <p:pic>
        <p:nvPicPr>
          <p:cNvPr id="6" name="Picture 5" descr="fig5_ccr_sweep_replayed_speedup.png"/>
          <p:cNvPicPr>
            <a:picLocks noChangeAspect="1"/>
          </p:cNvPicPr>
          <p:nvPr/>
        </p:nvPicPr>
        <p:blipFill>
          <a:blip r:embed="rId2"/>
          <a:stretch>
            <a:fillRect/>
          </a:stretch>
        </p:blipFill>
        <p:spPr>
          <a:xfrm>
            <a:off x="6255867" y="658368"/>
            <a:ext cx="5798667" cy="2880360"/>
          </a:xfrm>
          <a:prstGeom prst="rect">
            <a:avLst/>
          </a:prstGeom>
        </p:spPr>
      </p:pic>
      <p:pic>
        <p:nvPicPr>
          <p:cNvPr id="7" name="Picture 6" descr="fig6_replay_overhead_ratio.png"/>
          <p:cNvPicPr>
            <a:picLocks noChangeAspect="1"/>
          </p:cNvPicPr>
          <p:nvPr/>
        </p:nvPicPr>
        <p:blipFill>
          <a:blip r:embed="rId3"/>
          <a:stretch>
            <a:fillRect/>
          </a:stretch>
        </p:blipFill>
        <p:spPr>
          <a:xfrm>
            <a:off x="6255867" y="3630168"/>
            <a:ext cx="5798667" cy="2880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Qualitative Performance — Fork-Join Gantt Chart Analysis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10</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5698394"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HEFT Strategy:</a:t>
            </a:r>
            <a:r>
              <a:rPr sz="1700" b="0" i="0">
                <a:solidFill>
                  <a:srgbClr val="333333"/>
                </a:solidFill>
                <a:latin typeface="Arial"/>
              </a:rPr>
              <a:t> Stacks independent tasks onto fewer cores to avoid analytical multi-hop costs. Creates a narrow, tall schedule with poor parallelism.</a:t>
            </a:r>
          </a:p>
          <a:p>
            <a:pPr lvl="0" indent="-182880" marL="411480" spcBef="300" spcAft="100">
              <a:buClr>
                <a:srgbClr val="8B1A2B"/>
              </a:buClr>
              <a:buSzPct val="100000"/>
              <a:buChar char="▸"/>
            </a:pPr>
            <a:r>
              <a:rPr sz="1700" b="1" i="0">
                <a:solidFill>
                  <a:srgbClr val="333333"/>
                </a:solidFill>
                <a:latin typeface="Arial"/>
              </a:rPr>
              <a:t>CA-D Strategy:</a:t>
            </a:r>
            <a:r>
              <a:rPr sz="1700" b="0" i="0">
                <a:solidFill>
                  <a:srgbClr val="333333"/>
                </a:solidFill>
                <a:latin typeface="Arial"/>
              </a:rPr>
              <a:t> Spatially distributes tasks across the 4×4 mesh. Replicates high-frequency ancestor nodes directly onto target cores. Creates a wide, flat schedule.</a:t>
            </a:r>
          </a:p>
          <a:p>
            <a:pPr lvl="0" indent="-182880" marL="411480" spcBef="300" spcAft="100">
              <a:buClr>
                <a:srgbClr val="8B1A2B"/>
              </a:buClr>
              <a:buSzPct val="100000"/>
              <a:buChar char="▸"/>
            </a:pPr>
            <a:r>
              <a:rPr sz="1700" b="1" i="0">
                <a:solidFill>
                  <a:srgbClr val="333333"/>
                </a:solidFill>
                <a:latin typeface="Arial"/>
              </a:rPr>
              <a:t>Outcome:</a:t>
            </a:r>
            <a:r>
              <a:rPr sz="1700" b="0" i="0">
                <a:solidFill>
                  <a:srgbClr val="333333"/>
                </a:solidFill>
                <a:latin typeface="Arial"/>
              </a:rPr>
              <a:t> ~20% makespan reduction in dense Fork-Join workloads — achieved by trading a small amount of SRAM for significantly reduced network bandwidth.</a:t>
            </a:r>
          </a:p>
        </p:txBody>
      </p:sp>
      <p:pic>
        <p:nvPicPr>
          <p:cNvPr id="6" name="Picture 5" descr="fig4c_fork_join_gantt.png"/>
          <p:cNvPicPr>
            <a:picLocks noChangeAspect="1"/>
          </p:cNvPicPr>
          <p:nvPr/>
        </p:nvPicPr>
        <p:blipFill>
          <a:blip r:embed="rId2"/>
          <a:stretch>
            <a:fillRect/>
          </a:stretch>
        </p:blipFill>
        <p:spPr>
          <a:xfrm>
            <a:off x="6018434" y="658368"/>
            <a:ext cx="6036100" cy="58521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Discussion &amp; Embedded System Design Trade-offs</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11</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6885559"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Computational Cost:</a:t>
            </a:r>
            <a:r>
              <a:rPr sz="1700" b="0" i="0">
                <a:solidFill>
                  <a:srgbClr val="333333"/>
                </a:solidFill>
                <a:latin typeface="Arial"/>
              </a:rPr>
              <a:t> Contention-aware decisions require recursive state cloning — ~14× slower compilation runtime. Chain DAGs trigger maximum recursion depth.</a:t>
            </a:r>
          </a:p>
          <a:p>
            <a:pPr lvl="0" indent="-182880" marL="411480" spcBef="300" spcAft="100">
              <a:buClr>
                <a:srgbClr val="8B1A2B"/>
              </a:buClr>
              <a:buSzPct val="100000"/>
              <a:buChar char="▸"/>
            </a:pPr>
            <a:r>
              <a:rPr sz="1700" b="1" i="0">
                <a:solidFill>
                  <a:srgbClr val="333333"/>
                </a:solidFill>
                <a:latin typeface="Arial"/>
              </a:rPr>
              <a:t>Memory vs. Bandwidth:</a:t>
            </a:r>
            <a:r>
              <a:rPr sz="1700" b="0" i="0">
                <a:solidFill>
                  <a:srgbClr val="333333"/>
                </a:solidFill>
                <a:latin typeface="Arial"/>
              </a:rPr>
              <a:t> Task duplication reduces network congestion but consumes local instruction memory (SRAM) on each tile.</a:t>
            </a:r>
          </a:p>
          <a:p>
            <a:pPr lvl="0" indent="-182880" marL="411480" spcBef="300" spcAft="100">
              <a:buClr>
                <a:srgbClr val="8B1A2B"/>
              </a:buClr>
              <a:buSzPct val="100000"/>
              <a:buChar char="▸"/>
            </a:pPr>
            <a:r>
              <a:rPr sz="1700" b="1" i="0">
                <a:solidFill>
                  <a:srgbClr val="333333"/>
                </a:solidFill>
                <a:latin typeface="Arial"/>
              </a:rPr>
              <a:t>Power Balance:</a:t>
            </a:r>
            <a:r>
              <a:rPr sz="1700" b="0" i="0">
                <a:solidFill>
                  <a:srgbClr val="333333"/>
                </a:solidFill>
                <a:latin typeface="Arial"/>
              </a:rPr>
              <a:t> Excessive duplication increases dynamic switching power — making Conservative Pruning mandatory for power-constrained SoC targets.</a:t>
            </a:r>
          </a:p>
          <a:p>
            <a:pPr lvl="0" indent="-182880" marL="411480" spcBef="300" spcAft="100">
              <a:buClr>
                <a:srgbClr val="8B1A2B"/>
              </a:buClr>
              <a:buSzPct val="100000"/>
              <a:buChar char="▸"/>
            </a:pPr>
            <a:r>
              <a:rPr sz="1700" b="1" i="0">
                <a:solidFill>
                  <a:srgbClr val="333333"/>
                </a:solidFill>
                <a:latin typeface="Arial"/>
              </a:rPr>
              <a:t>Scalability:</a:t>
            </a:r>
            <a:r>
              <a:rPr sz="1700" b="0" i="0">
                <a:solidFill>
                  <a:srgbClr val="333333"/>
                </a:solidFill>
                <a:latin typeface="Arial"/>
              </a:rPr>
              <a:t> The heuristic is fully offline (compile-time) — zero runtime overhead on the physical target.</a:t>
            </a:r>
          </a:p>
        </p:txBody>
      </p:sp>
      <p:pic>
        <p:nvPicPr>
          <p:cNvPr id="6" name="Picture 5" descr="fig7_task_instance_ratio.png"/>
          <p:cNvPicPr>
            <a:picLocks noChangeAspect="1"/>
          </p:cNvPicPr>
          <p:nvPr/>
        </p:nvPicPr>
        <p:blipFill>
          <a:blip r:embed="rId2"/>
          <a:stretch>
            <a:fillRect/>
          </a:stretch>
        </p:blipFill>
        <p:spPr>
          <a:xfrm>
            <a:off x="7205599" y="658368"/>
            <a:ext cx="4848935" cy="58521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8B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200" b="1">
                <a:solidFill>
                  <a:srgbClr val="FFFFFF"/>
                </a:solidFill>
                <a:latin typeface="Arial"/>
              </a:rPr>
              <a:t>Conclusions and Future Work</a:t>
            </a:r>
          </a:p>
        </p:txBody>
      </p:sp>
      <p:sp>
        <p:nvSpPr>
          <p:cNvPr id="3" name="TextBox 2"/>
          <p:cNvSpPr txBox="1"/>
          <p:nvPr/>
        </p:nvSpPr>
        <p:spPr>
          <a:xfrm>
            <a:off x="11551615" y="45720"/>
            <a:ext cx="548640" cy="411480"/>
          </a:xfrm>
          <a:prstGeom prst="rect">
            <a:avLst/>
          </a:prstGeom>
          <a:noFill/>
        </p:spPr>
        <p:txBody>
          <a:bodyPr wrap="square">
            <a:spAutoFit/>
          </a:bodyPr>
          <a:lstStyle/>
          <a:p>
            <a:pPr algn="r"/>
            <a:r>
              <a:rPr sz="1200" b="1">
                <a:solidFill>
                  <a:srgbClr val="FFFFFF"/>
                </a:solidFill>
                <a:latin typeface="Arial"/>
              </a:rPr>
              <a:t>12</a:t>
            </a:r>
          </a:p>
        </p:txBody>
      </p:sp>
      <p:sp>
        <p:nvSpPr>
          <p:cNvPr id="4" name="TextBox 3"/>
          <p:cNvSpPr txBox="1"/>
          <p:nvPr/>
        </p:nvSpPr>
        <p:spPr>
          <a:xfrm>
            <a:off x="137160" y="6565392"/>
            <a:ext cx="8229600" cy="274320"/>
          </a:xfrm>
          <a:prstGeom prst="rect">
            <a:avLst/>
          </a:prstGeom>
          <a:noFill/>
        </p:spPr>
        <p:txBody>
          <a:bodyPr wrap="square">
            <a:spAutoFit/>
          </a:bodyPr>
          <a:lstStyle/>
          <a:p>
            <a:r>
              <a:rPr sz="900" b="0">
                <a:solidFill>
                  <a:srgbClr val="888888"/>
                </a:solidFill>
                <a:latin typeface="Arial"/>
              </a:rPr>
              <a:t>CMP720 — Contention-Aware DAG Scheduling on NoC</a:t>
            </a:r>
          </a:p>
        </p:txBody>
      </p:sp>
      <p:sp>
        <p:nvSpPr>
          <p:cNvPr id="5" name="TextBox 4"/>
          <p:cNvSpPr txBox="1"/>
          <p:nvPr/>
        </p:nvSpPr>
        <p:spPr>
          <a:xfrm>
            <a:off x="228600" y="658368"/>
            <a:ext cx="11871655" cy="5852160"/>
          </a:xfrm>
          <a:prstGeom prst="rect">
            <a:avLst/>
          </a:prstGeom>
          <a:noFill/>
        </p:spPr>
        <p:txBody>
          <a:bodyPr wrap="square"/>
          <a:lstStyle/>
          <a:p>
            <a:pPr lvl="0" indent="-182880" marL="411480" spcBef="300" spcAft="100">
              <a:buClr>
                <a:srgbClr val="8B1A2B"/>
              </a:buClr>
              <a:buSzPct val="100000"/>
              <a:buChar char="▸"/>
            </a:pPr>
            <a:r>
              <a:rPr sz="1700" b="1" i="0">
                <a:solidFill>
                  <a:srgbClr val="333333"/>
                </a:solidFill>
                <a:latin typeface="Arial"/>
              </a:rPr>
              <a:t>Status:</a:t>
            </a:r>
            <a:r>
              <a:rPr sz="1700" b="0" i="0">
                <a:solidFill>
                  <a:srgbClr val="333333"/>
                </a:solidFill>
                <a:latin typeface="Arial"/>
              </a:rPr>
              <a:t> Physical 2D-Mesh NoC models, XY routing, recursive CA-D heuristic, and verification suites are fully implemented and experimentally validated.</a:t>
            </a:r>
          </a:p>
          <a:p>
            <a:pPr lvl="0" indent="-182880" marL="411480" spcBef="300" spcAft="100">
              <a:buClr>
                <a:srgbClr val="8B1A2B"/>
              </a:buClr>
              <a:buSzPct val="100000"/>
              <a:buChar char="▸"/>
            </a:pPr>
            <a:r>
              <a:rPr sz="1700" b="1" i="0">
                <a:solidFill>
                  <a:srgbClr val="333333"/>
                </a:solidFill>
                <a:latin typeface="Arial"/>
              </a:rPr>
              <a:t>Key Result:</a:t>
            </a:r>
            <a:r>
              <a:rPr sz="1700" b="0" i="0">
                <a:solidFill>
                  <a:srgbClr val="333333"/>
                </a:solidFill>
                <a:latin typeface="Arial"/>
              </a:rPr>
              <a:t> CA-D consistently outperforms all baselines at CCR ≥ 5.0 while maintaining zero replay overhead — proving contention-aware scheduling closes the simulation-to-hardware gap.</a:t>
            </a:r>
          </a:p>
          <a:p>
            <a:pPr lvl="0" indent="-182880" marL="411480" spcBef="300" spcAft="100">
              <a:buClr>
                <a:srgbClr val="8B1A2B"/>
              </a:buClr>
              <a:buSzPct val="100000"/>
              <a:buChar char="▸"/>
            </a:pPr>
            <a:r>
              <a:rPr sz="1700" b="1" i="0">
                <a:solidFill>
                  <a:srgbClr val="333333"/>
                </a:solidFill>
                <a:latin typeface="Arial"/>
              </a:rPr>
              <a:t>Future Work:</a:t>
            </a:r>
          </a:p>
          <a:p>
            <a:pPr lvl="1" indent="-182880" marL="640080" spcBef="100" spcAft="100">
              <a:buClr>
                <a:srgbClr val="8B1A2B"/>
              </a:buClr>
              <a:buSzPct val="100000"/>
              <a:buChar char="–"/>
            </a:pPr>
            <a:r>
              <a:rPr sz="1500" b="0" i="0">
                <a:solidFill>
                  <a:srgbClr val="333333"/>
                </a:solidFill>
                <a:latin typeface="Arial"/>
              </a:rPr>
              <a:t>Support for heterogeneous computing tiles (GPU / DSP cores)</a:t>
            </a:r>
          </a:p>
          <a:p>
            <a:pPr lvl="1" indent="-182880" marL="640080" spcBef="100" spcAft="100">
              <a:buClr>
                <a:srgbClr val="8B1A2B"/>
              </a:buClr>
              <a:buSzPct val="100000"/>
              <a:buChar char="–"/>
            </a:pPr>
            <a:r>
              <a:rPr sz="1500" b="0" i="0">
                <a:solidFill>
                  <a:srgbClr val="333333"/>
                </a:solidFill>
                <a:latin typeface="Arial"/>
              </a:rPr>
              <a:t>Active physical power estimation models</a:t>
            </a:r>
          </a:p>
          <a:p>
            <a:pPr lvl="1" indent="-182880" marL="640080" spcBef="100" spcAft="100">
              <a:buClr>
                <a:srgbClr val="8B1A2B"/>
              </a:buClr>
              <a:buSzPct val="100000"/>
              <a:buChar char="–"/>
            </a:pPr>
            <a:r>
              <a:rPr sz="1500" b="0" i="0">
                <a:solidFill>
                  <a:srgbClr val="333333"/>
                </a:solidFill>
                <a:latin typeface="Arial"/>
              </a:rPr>
              <a:t>Online adaptive scheduling variants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