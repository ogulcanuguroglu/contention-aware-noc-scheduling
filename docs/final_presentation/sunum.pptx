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3" r:id="rId4"/>
    <p:sldId id="271" r:id="rId5"/>
    <p:sldId id="260" r:id="rId6"/>
    <p:sldId id="259" r:id="rId7"/>
    <p:sldId id="258" r:id="rId8"/>
    <p:sldId id="274" r:id="rId9"/>
    <p:sldId id="275" r:id="rId10"/>
    <p:sldId id="276" r:id="rId11"/>
    <p:sldId id="277" r:id="rId12"/>
    <p:sldId id="278" r:id="rId13"/>
    <p:sldId id="279" r:id="rId14"/>
    <p:sldId id="281" r:id="rId15"/>
    <p:sldId id="263" r:id="rId16"/>
    <p:sldId id="264" r:id="rId17"/>
    <p:sldId id="265" r:id="rId18"/>
    <p:sldId id="266" r:id="rId19"/>
    <p:sldId id="272" r:id="rId20"/>
    <p:sldId id="26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106" autoAdjust="0"/>
  </p:normalViewPr>
  <p:slideViewPr>
    <p:cSldViewPr snapToGrid="0" snapToObjects="1">
      <p:cViewPr varScale="1">
        <p:scale>
          <a:sx n="76" d="100"/>
          <a:sy n="76" d="100"/>
        </p:scale>
        <p:origin x="191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8788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Hello everyone.</a:t>
            </a:r>
            <a:br>
              <a:rPr lang="en-US" dirty="0"/>
            </a:br>
            <a:r>
              <a:rPr lang="en-US" dirty="0"/>
              <a:t>My name is Barış </a:t>
            </a:r>
            <a:r>
              <a:rPr lang="en-US" dirty="0" err="1"/>
              <a:t>Büyükyılmaz</a:t>
            </a:r>
            <a:r>
              <a:rPr lang="en-US" dirty="0"/>
              <a:t>.</a:t>
            </a:r>
          </a:p>
          <a:p>
            <a:r>
              <a:rPr lang="en-US" dirty="0"/>
              <a:t>Today I will present our progress on </a:t>
            </a:r>
            <a:r>
              <a:rPr lang="en-US" b="1" dirty="0"/>
              <a:t>Contention-Aware Task Duplication Scheduling for Networks-on-Chip</a:t>
            </a:r>
            <a:r>
              <a:rPr lang="en-US" dirty="0"/>
              <a:t>.</a:t>
            </a:r>
          </a:p>
          <a:p>
            <a:r>
              <a:rPr lang="en-US" dirty="0"/>
              <a:t>The main idea is simple:</a:t>
            </a:r>
            <a:br>
              <a:rPr lang="en-US" dirty="0"/>
            </a:br>
            <a:r>
              <a:rPr lang="en-US" dirty="0"/>
              <a:t>we want to schedule tasks on multicore processors while considering communication delays inside the network.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"Let me start with why this problem exists.</a:t>
            </a:r>
          </a:p>
          <a:p>
            <a:r>
              <a:rPr lang="en-US" sz="1200" b="0" i="0" kern="1200" dirty="0">
                <a:solidFill>
                  <a:schemeClr val="tx1"/>
                </a:solidFill>
                <a:effectLst/>
                <a:latin typeface="+mn-lt"/>
                <a:ea typeface="+mn-ea"/>
                <a:cs typeface="+mn-cs"/>
              </a:rPr>
              <a:t>Modern embedded chips have dozens of cores onto a single chip. These cores communicate by sending packets through a network of routers and wires that we call a Network-on-Chip, or NoC.</a:t>
            </a:r>
          </a:p>
          <a:p>
            <a:r>
              <a:rPr lang="en-US" sz="1200" b="0" i="0" kern="1200" dirty="0">
                <a:solidFill>
                  <a:schemeClr val="tx1"/>
                </a:solidFill>
                <a:effectLst/>
                <a:latin typeface="+mn-lt"/>
                <a:ea typeface="+mn-ea"/>
                <a:cs typeface="+mn-cs"/>
              </a:rPr>
              <a:t>Applications on these chips are naturally structured as DAGs. Each node is a computational task; each edge means </a:t>
            </a:r>
            <a:r>
              <a:rPr lang="en-US" dirty="0"/>
              <a:t>the next task must wait for the previous task’s result.</a:t>
            </a:r>
            <a:r>
              <a:rPr lang="en-US" sz="1200" b="0" i="0" kern="1200" dirty="0">
                <a:solidFill>
                  <a:schemeClr val="tx1"/>
                </a:solidFill>
                <a:effectLst/>
                <a:latin typeface="+mn-lt"/>
                <a:ea typeface="+mn-ea"/>
                <a:cs typeface="+mn-cs"/>
              </a:rPr>
              <a:t>' The scheduler's job is to assign tasks to processors to minimize the total execution time.</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0A6F5-8562-0E92-F880-8FB1A75FD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5760C-F44F-A88E-4BDD-8F9AE19872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3A411AB-DC5B-8335-5D26-D617DA249CB5}"/>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Our implemented network model is the 4×4 mesh. There are 16 processors, each connected to a router. Packets travel horizontally first, then vertically — that's XY routing.</a:t>
            </a:r>
            <a:endParaRPr lang="en-US" dirty="0"/>
          </a:p>
        </p:txBody>
      </p:sp>
      <p:sp>
        <p:nvSpPr>
          <p:cNvPr id="4" name="Slide Number Placeholder 3">
            <a:extLst>
              <a:ext uri="{FF2B5EF4-FFF2-40B4-BE49-F238E27FC236}">
                <a16:creationId xmlns:a16="http://schemas.microsoft.com/office/drawing/2014/main" id="{69B2F7DF-7364-A1DE-F6E9-69605B811344}"/>
              </a:ext>
            </a:extLst>
          </p:cNvPr>
          <p:cNvSpPr>
            <a:spLocks noGrp="1"/>
          </p:cNvSpPr>
          <p:nvPr>
            <p:ph type="sldNum" sz="quarter" idx="5"/>
          </p:nvPr>
        </p:nvSpPr>
        <p:spPr/>
      </p:sp>
    </p:spTree>
    <p:extLst>
      <p:ext uri="{BB962C8B-B14F-4D97-AF65-F5344CB8AC3E}">
        <p14:creationId xmlns:p14="http://schemas.microsoft.com/office/powerpoint/2010/main" val="851870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 Yer Tutucusu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Now look at the diagram. Here's the problem. Two transfers — T1 and T2 — both need to use same link at the same time. T1 goes first. T2 has to wait. That waiting time is the contention delay.</a:t>
            </a:r>
            <a:endParaRPr lang="tr-TR" dirty="0"/>
          </a:p>
        </p:txBody>
      </p:sp>
    </p:spTree>
    <p:extLst>
      <p:ext uri="{BB962C8B-B14F-4D97-AF65-F5344CB8AC3E}">
        <p14:creationId xmlns:p14="http://schemas.microsoft.com/office/powerpoint/2010/main" val="2778981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Three things stayed the same: the NoC model, the focus on duplication, and the upward-rank priority ordering.</a:t>
            </a:r>
          </a:p>
          <a:p>
            <a:r>
              <a:rPr lang="en-US" sz="1200" b="0" i="0" kern="1200" dirty="0">
                <a:solidFill>
                  <a:schemeClr val="tx1"/>
                </a:solidFill>
                <a:effectLst/>
                <a:latin typeface="+mn-lt"/>
                <a:ea typeface="+mn-ea"/>
                <a:cs typeface="+mn-cs"/>
              </a:rPr>
              <a:t>The biggest change was the contention model itself. The proposal used a scalar penalty formula — multiply volume by a congestion estimate. We replaced this with per-link interval reservation. Every link maintains a list of occupied time intervals. When we want to send a message, we find the earliest slot where all links along the XY route.</a:t>
            </a:r>
          </a:p>
          <a:p>
            <a:r>
              <a:rPr lang="en-US" sz="1200" b="0" i="0" kern="1200" dirty="0">
                <a:solidFill>
                  <a:schemeClr val="tx1"/>
                </a:solidFill>
                <a:effectLst/>
                <a:latin typeface="+mn-lt"/>
                <a:ea typeface="+mn-ea"/>
                <a:cs typeface="+mn-cs"/>
              </a:rPr>
              <a:t>It's more expensive but physically accurate.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second change was how duplication is triggered. The proposal followed critical-parent selection. We instead evaluate all predecessors greedily. Simpler, deterministic, and captures more duplication benefit under the contention model.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And lastly, we added the fair replay methodology. Without it, comparing non-contention aware scheduler </a:t>
            </a:r>
            <a:r>
              <a:rPr lang="en-US" sz="1200" b="0" i="0" kern="1200" dirty="0" err="1">
                <a:solidFill>
                  <a:schemeClr val="tx1"/>
                </a:solidFill>
                <a:effectLst/>
                <a:latin typeface="+mn-lt"/>
                <a:ea typeface="+mn-ea"/>
                <a:cs typeface="+mn-cs"/>
              </a:rPr>
              <a:t>makespan</a:t>
            </a:r>
            <a:r>
              <a:rPr lang="en-US" sz="1200" b="0" i="0" kern="1200" dirty="0">
                <a:solidFill>
                  <a:schemeClr val="tx1"/>
                </a:solidFill>
                <a:effectLst/>
                <a:latin typeface="+mn-lt"/>
                <a:ea typeface="+mn-ea"/>
                <a:cs typeface="+mn-cs"/>
              </a:rPr>
              <a:t> to contention-modeled </a:t>
            </a:r>
            <a:r>
              <a:rPr lang="en-US" sz="1200" b="0" i="0" kern="1200" dirty="0" err="1">
                <a:solidFill>
                  <a:schemeClr val="tx1"/>
                </a:solidFill>
                <a:effectLst/>
                <a:latin typeface="+mn-lt"/>
                <a:ea typeface="+mn-ea"/>
                <a:cs typeface="+mn-cs"/>
              </a:rPr>
              <a:t>makespan</a:t>
            </a:r>
            <a:r>
              <a:rPr lang="en-US" sz="1200" b="0" i="0" kern="1200" dirty="0">
                <a:solidFill>
                  <a:schemeClr val="tx1"/>
                </a:solidFill>
                <a:effectLst/>
                <a:latin typeface="+mn-lt"/>
                <a:ea typeface="+mn-ea"/>
                <a:cs typeface="+mn-cs"/>
              </a:rPr>
              <a:t> will not fair.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figure shows the implemented framework.</a:t>
            </a:r>
          </a:p>
          <a:p>
            <a:r>
              <a:rPr lang="en-US" dirty="0"/>
              <a:t>At the top, we have two inputs:</a:t>
            </a:r>
            <a:br>
              <a:rPr lang="en-US" dirty="0"/>
            </a:br>
            <a:r>
              <a:rPr lang="en-US" dirty="0"/>
              <a:t>the DAG generator and the </a:t>
            </a:r>
            <a:r>
              <a:rPr lang="en-US" dirty="0" err="1"/>
              <a:t>MeshNoC</a:t>
            </a:r>
            <a:r>
              <a:rPr lang="en-US" dirty="0"/>
              <a:t> model.</a:t>
            </a:r>
          </a:p>
          <a:p>
            <a:r>
              <a:rPr lang="en-US" dirty="0"/>
              <a:t>The DAG generator creates different graph families.</a:t>
            </a:r>
            <a:br>
              <a:rPr lang="en-US" dirty="0"/>
            </a:br>
            <a:r>
              <a:rPr lang="en-US" dirty="0"/>
              <a:t>The </a:t>
            </a:r>
            <a:r>
              <a:rPr lang="en-US" dirty="0" err="1"/>
              <a:t>MeshNoC</a:t>
            </a:r>
            <a:r>
              <a:rPr lang="en-US" dirty="0"/>
              <a:t> model defines the 4 by 4 network and XY routing.</a:t>
            </a:r>
          </a:p>
          <a:p>
            <a:r>
              <a:rPr lang="en-US" dirty="0"/>
              <a:t>Then, the same input is given to three schedulers:</a:t>
            </a:r>
            <a:br>
              <a:rPr lang="en-US" dirty="0"/>
            </a:br>
            <a:r>
              <a:rPr lang="en-US" dirty="0"/>
              <a:t>HEFT, CD-LS, and CA-D.</a:t>
            </a:r>
          </a:p>
          <a:p>
            <a:r>
              <a:rPr lang="en-US" dirty="0"/>
              <a:t>Each scheduler creates a schedule state.</a:t>
            </a:r>
          </a:p>
          <a:p>
            <a:r>
              <a:rPr lang="en-US" dirty="0"/>
              <a:t>The schedule state stores processor reservations and link reservations.</a:t>
            </a:r>
          </a:p>
          <a:p>
            <a:r>
              <a:rPr lang="en-US" dirty="0"/>
              <a:t>After that, we use the replay step.</a:t>
            </a:r>
            <a:br>
              <a:rPr lang="en-US" dirty="0"/>
            </a:br>
            <a:r>
              <a:rPr lang="en-US" dirty="0"/>
              <a:t>Replay recomputes the timing with real link contention.</a:t>
            </a:r>
          </a:p>
          <a:p>
            <a:r>
              <a:rPr lang="en-US" dirty="0"/>
              <a:t>Finally, we calculate metrics such as speedup, overhead and TIR.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61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HEFT: no duplication, no contention model. Pure analytic. It's our reference. </a:t>
            </a:r>
          </a:p>
          <a:p>
            <a:r>
              <a:rPr lang="en-US" sz="1200" b="0" i="0" kern="1200" dirty="0">
                <a:solidFill>
                  <a:schemeClr val="tx1"/>
                </a:solidFill>
                <a:effectLst/>
                <a:latin typeface="+mn-lt"/>
                <a:ea typeface="+mn-ea"/>
                <a:cs typeface="+mn-cs"/>
              </a:rPr>
              <a:t>CD-LS: parent-only duplication — it duplicates direct predecessors — but uses the analytic model. No link intervals.</a:t>
            </a:r>
          </a:p>
          <a:p>
            <a:r>
              <a:rPr lang="en-US" sz="1200" b="0" i="0" kern="1200" dirty="0">
                <a:solidFill>
                  <a:schemeClr val="tx1"/>
                </a:solidFill>
                <a:effectLst/>
                <a:latin typeface="+mn-lt"/>
                <a:ea typeface="+mn-ea"/>
                <a:cs typeface="+mn-cs"/>
              </a:rPr>
              <a:t>CA-D, our proposed scheduler: Both duplication with full contention-aware link reservation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7D6F-8ED4-C8CF-FA18-969F441B9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609E4-8F0C-46F3-B07C-C5713E79C22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3FE9729-9502-DF30-B759-EA67E91BC549}"/>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"Let me tell about the variables. I'll do this in four groups.</a:t>
            </a:r>
          </a:p>
          <a:p>
            <a:r>
              <a:rPr lang="en-US" sz="1200" b="0" i="0" kern="1200" dirty="0">
                <a:solidFill>
                  <a:schemeClr val="tx1"/>
                </a:solidFill>
                <a:effectLst/>
                <a:latin typeface="+mn-lt"/>
                <a:ea typeface="+mn-ea"/>
                <a:cs typeface="+mn-cs"/>
              </a:rPr>
              <a:t>First, the DAG variables. </a:t>
            </a:r>
          </a:p>
          <a:p>
            <a:r>
              <a:rPr lang="en-US" sz="1200" b="0" i="0" kern="1200" dirty="0">
                <a:solidFill>
                  <a:schemeClr val="tx1"/>
                </a:solidFill>
                <a:effectLst/>
                <a:latin typeface="+mn-lt"/>
                <a:ea typeface="+mn-ea"/>
                <a:cs typeface="+mn-cs"/>
              </a:rPr>
              <a:t>V is the task set — the nodes in the graph. </a:t>
            </a:r>
          </a:p>
          <a:p>
            <a:r>
              <a:rPr lang="en-US" sz="1200" b="0" i="0" kern="1200" dirty="0">
                <a:solidFill>
                  <a:schemeClr val="tx1"/>
                </a:solidFill>
                <a:effectLst/>
                <a:latin typeface="+mn-lt"/>
                <a:ea typeface="+mn-ea"/>
                <a:cs typeface="+mn-cs"/>
              </a:rPr>
              <a:t>E is the edge set — the dependencies. </a:t>
            </a:r>
          </a:p>
          <a:p>
            <a:r>
              <a:rPr lang="en-US" sz="1200" b="0" i="0" kern="1200" dirty="0" err="1">
                <a:solidFill>
                  <a:schemeClr val="tx1"/>
                </a:solidFill>
                <a:effectLst/>
                <a:latin typeface="+mn-lt"/>
                <a:ea typeface="+mn-ea"/>
                <a:cs typeface="+mn-cs"/>
              </a:rPr>
              <a:t>comp_cost</a:t>
            </a:r>
            <a:r>
              <a:rPr lang="en-US" sz="1200" b="0" i="0" kern="1200" dirty="0">
                <a:solidFill>
                  <a:schemeClr val="tx1"/>
                </a:solidFill>
                <a:effectLst/>
                <a:latin typeface="+mn-lt"/>
                <a:ea typeface="+mn-ea"/>
                <a:cs typeface="+mn-cs"/>
              </a:rPr>
              <a:t>(v) is how long task v takes on any processor. </a:t>
            </a:r>
          </a:p>
          <a:p>
            <a:r>
              <a:rPr lang="en-US" sz="1200" b="0" i="0" kern="1200" dirty="0" err="1">
                <a:solidFill>
                  <a:schemeClr val="tx1"/>
                </a:solidFill>
                <a:effectLst/>
                <a:latin typeface="+mn-lt"/>
                <a:ea typeface="+mn-ea"/>
                <a:cs typeface="+mn-cs"/>
              </a:rPr>
              <a:t>comm_vol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u,v</a:t>
            </a:r>
            <a:r>
              <a:rPr lang="en-US" sz="1200" b="0" i="0" kern="1200" dirty="0">
                <a:solidFill>
                  <a:schemeClr val="tx1"/>
                </a:solidFill>
                <a:effectLst/>
                <a:latin typeface="+mn-lt"/>
                <a:ea typeface="+mn-ea"/>
                <a:cs typeface="+mn-cs"/>
              </a:rPr>
              <a:t>) is the data payload on edge u-v — it's zero when both tasks are on the same processor, because assume that local communication costs nothing.</a:t>
            </a:r>
          </a:p>
          <a:p>
            <a:r>
              <a:rPr lang="en-US" sz="1200" b="0" i="0" kern="1200" dirty="0">
                <a:solidFill>
                  <a:schemeClr val="tx1"/>
                </a:solidFill>
                <a:effectLst/>
                <a:latin typeface="+mn-lt"/>
                <a:ea typeface="+mn-ea"/>
                <a:cs typeface="+mn-cs"/>
              </a:rPr>
              <a:t>CCR summarizes the workload character. CCR of 0.1 means computation dominates — tasks are heavy, communication is light. CCR of 5 means communication dominates — tasks are lightweight but generate lots of data.</a:t>
            </a:r>
          </a:p>
          <a:p>
            <a:endParaRPr lang="en-US" dirty="0"/>
          </a:p>
        </p:txBody>
      </p:sp>
      <p:sp>
        <p:nvSpPr>
          <p:cNvPr id="4" name="Slide Number Placeholder 3">
            <a:extLst>
              <a:ext uri="{FF2B5EF4-FFF2-40B4-BE49-F238E27FC236}">
                <a16:creationId xmlns:a16="http://schemas.microsoft.com/office/drawing/2014/main" id="{16BD0B57-57B5-FA4E-0286-D5A63F57AAC4}"/>
              </a:ext>
            </a:extLst>
          </p:cNvPr>
          <p:cNvSpPr>
            <a:spLocks noGrp="1"/>
          </p:cNvSpPr>
          <p:nvPr>
            <p:ph type="sldNum" sz="quarter" idx="5"/>
          </p:nvPr>
        </p:nvSpPr>
        <p:spPr/>
      </p:sp>
    </p:spTree>
    <p:extLst>
      <p:ext uri="{BB962C8B-B14F-4D97-AF65-F5344CB8AC3E}">
        <p14:creationId xmlns:p14="http://schemas.microsoft.com/office/powerpoint/2010/main" val="776743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5B6ED-A53E-E0B4-5B8D-E268EDB3A7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3D3FB-017F-E8C2-5780-031A6F39C3B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9F99F5-A771-30D5-E190-DD915CF39A46}"/>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On the NoC side: </a:t>
            </a:r>
          </a:p>
          <a:p>
            <a:r>
              <a:rPr lang="en-US" sz="1200" b="0" i="0" kern="1200" dirty="0">
                <a:solidFill>
                  <a:schemeClr val="tx1"/>
                </a:solidFill>
                <a:effectLst/>
                <a:latin typeface="+mn-lt"/>
                <a:ea typeface="+mn-ea"/>
                <a:cs typeface="+mn-cs"/>
              </a:rPr>
              <a:t>rows times cols gives us the grid size. In all experiments this is 4 by 4, so 16 processors.</a:t>
            </a:r>
          </a:p>
          <a:p>
            <a:r>
              <a:rPr lang="en-US" sz="1200" b="0" i="0" kern="1200" dirty="0">
                <a:solidFill>
                  <a:schemeClr val="tx1"/>
                </a:solidFill>
                <a:effectLst/>
                <a:latin typeface="+mn-lt"/>
                <a:ea typeface="+mn-ea"/>
                <a:cs typeface="+mn-cs"/>
              </a:rPr>
              <a:t>Alpha is the per-hop latency coefficient. </a:t>
            </a:r>
          </a:p>
          <a:p>
            <a:r>
              <a:rPr lang="en-US" sz="1200" b="0" i="0" kern="1200" dirty="0">
                <a:solidFill>
                  <a:schemeClr val="tx1"/>
                </a:solidFill>
                <a:effectLst/>
                <a:latin typeface="+mn-lt"/>
                <a:ea typeface="+mn-ea"/>
                <a:cs typeface="+mn-cs"/>
              </a:rPr>
              <a:t>Beta is the bandwidth coefficient. </a:t>
            </a:r>
          </a:p>
          <a:p>
            <a:r>
              <a:rPr lang="en-US" sz="1200" b="0" i="0" kern="1200" dirty="0" err="1">
                <a:solidFill>
                  <a:schemeClr val="tx1"/>
                </a:solidFill>
                <a:effectLst/>
                <a:latin typeface="+mn-lt"/>
                <a:ea typeface="+mn-ea"/>
                <a:cs typeface="+mn-cs"/>
              </a:rPr>
              <a:t>hop_count</a:t>
            </a:r>
            <a:r>
              <a:rPr lang="en-US" sz="1200" b="0" i="0" kern="1200" dirty="0">
                <a:solidFill>
                  <a:schemeClr val="tx1"/>
                </a:solidFill>
                <a:effectLst/>
                <a:latin typeface="+mn-lt"/>
                <a:ea typeface="+mn-ea"/>
                <a:cs typeface="+mn-cs"/>
              </a:rPr>
              <a:t> is just Manhattan distance — number of router hops between source and destination.</a:t>
            </a:r>
          </a:p>
          <a:p>
            <a:r>
              <a:rPr lang="en-US" sz="1200" b="0" i="0" kern="1200" dirty="0">
                <a:solidFill>
                  <a:schemeClr val="tx1"/>
                </a:solidFill>
                <a:effectLst/>
                <a:latin typeface="+mn-lt"/>
                <a:ea typeface="+mn-ea"/>
                <a:cs typeface="+mn-cs"/>
              </a:rPr>
              <a:t>And </a:t>
            </a:r>
            <a:r>
              <a:rPr lang="en-US" sz="1200" b="0" i="0" kern="1200" dirty="0" err="1">
                <a:solidFill>
                  <a:schemeClr val="tx1"/>
                </a:solidFill>
                <a:effectLst/>
                <a:latin typeface="+mn-lt"/>
                <a:ea typeface="+mn-ea"/>
                <a:cs typeface="+mn-cs"/>
              </a:rPr>
              <a:t>link_intervals</a:t>
            </a:r>
            <a:r>
              <a:rPr lang="en-US" sz="1200" b="0" i="0" kern="1200" dirty="0">
                <a:solidFill>
                  <a:schemeClr val="tx1"/>
                </a:solidFill>
                <a:effectLst/>
                <a:latin typeface="+mn-lt"/>
                <a:ea typeface="+mn-ea"/>
                <a:cs typeface="+mn-cs"/>
              </a:rPr>
              <a:t>[L] is the key data structure — a list of busy slots for each directed link. It ‘s kind a </a:t>
            </a:r>
            <a:r>
              <a:rPr lang="en-US" sz="1200" b="0" i="0" kern="1200" dirty="0" err="1">
                <a:solidFill>
                  <a:schemeClr val="tx1"/>
                </a:solidFill>
                <a:effectLst/>
                <a:latin typeface="+mn-lt"/>
                <a:ea typeface="+mn-ea"/>
                <a:cs typeface="+mn-cs"/>
              </a:rPr>
              <a:t>calender</a:t>
            </a:r>
            <a:r>
              <a:rPr lang="en-US" sz="1200" b="0" i="0" kern="1200" dirty="0">
                <a:solidFill>
                  <a:schemeClr val="tx1"/>
                </a:solidFill>
                <a:effectLst/>
                <a:latin typeface="+mn-lt"/>
                <a:ea typeface="+mn-ea"/>
                <a:cs typeface="+mn-cs"/>
              </a:rPr>
              <a:t> to book for each road. If a time slot is booked, the next message has to wait."</a:t>
            </a:r>
          </a:p>
          <a:p>
            <a:endParaRPr lang="en-US" dirty="0"/>
          </a:p>
        </p:txBody>
      </p:sp>
      <p:sp>
        <p:nvSpPr>
          <p:cNvPr id="4" name="Slide Number Placeholder 3">
            <a:extLst>
              <a:ext uri="{FF2B5EF4-FFF2-40B4-BE49-F238E27FC236}">
                <a16:creationId xmlns:a16="http://schemas.microsoft.com/office/drawing/2014/main" id="{71EF223A-2516-D9A3-2662-CE30298F461F}"/>
              </a:ext>
            </a:extLst>
          </p:cNvPr>
          <p:cNvSpPr>
            <a:spLocks noGrp="1"/>
          </p:cNvSpPr>
          <p:nvPr>
            <p:ph type="sldNum" sz="quarter" idx="5"/>
          </p:nvPr>
        </p:nvSpPr>
        <p:spPr/>
      </p:sp>
    </p:spTree>
    <p:extLst>
      <p:ext uri="{BB962C8B-B14F-4D97-AF65-F5344CB8AC3E}">
        <p14:creationId xmlns:p14="http://schemas.microsoft.com/office/powerpoint/2010/main" val="3765473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DEE62-671A-BABD-CF66-2C63C2C1A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A2690-5988-5775-2932-F4F8233B41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842B803-158A-018A-BCB9-96060ACB24B3}"/>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"Now the contention model variables. This is where the notation gets a bit dense but the idea is simple.</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"u tells us if two messages share a specific road. </a:t>
            </a:r>
          </a:p>
          <a:p>
            <a:r>
              <a:rPr lang="en-US" sz="1200" b="0" i="0" kern="1200" dirty="0">
                <a:solidFill>
                  <a:schemeClr val="tx1"/>
                </a:solidFill>
                <a:effectLst/>
                <a:latin typeface="+mn-lt"/>
                <a:ea typeface="+mn-ea"/>
                <a:cs typeface="+mn-cs"/>
              </a:rPr>
              <a:t>“a tells us if they share </a:t>
            </a:r>
            <a:r>
              <a:rPr lang="en-US" sz="1200" b="0" i="1" kern="1200" dirty="0">
                <a:solidFill>
                  <a:schemeClr val="tx1"/>
                </a:solidFill>
                <a:effectLst/>
                <a:latin typeface="+mn-lt"/>
                <a:ea typeface="+mn-ea"/>
                <a:cs typeface="+mn-cs"/>
              </a:rPr>
              <a:t>any</a:t>
            </a:r>
            <a:r>
              <a:rPr lang="en-US" sz="1200" b="0" i="0" kern="1200" dirty="0">
                <a:solidFill>
                  <a:schemeClr val="tx1"/>
                </a:solidFill>
                <a:effectLst/>
                <a:latin typeface="+mn-lt"/>
                <a:ea typeface="+mn-ea"/>
                <a:cs typeface="+mn-cs"/>
              </a:rPr>
              <a:t> road at all. If a = 1, one of them must wait — and our scheduler accounts for that wait when placing tasks."</a:t>
            </a:r>
          </a:p>
          <a:p>
            <a:br>
              <a:rPr lang="en-US" dirty="0"/>
            </a:br>
            <a:endParaRPr lang="en-US" dirty="0"/>
          </a:p>
        </p:txBody>
      </p:sp>
      <p:sp>
        <p:nvSpPr>
          <p:cNvPr id="4" name="Slide Number Placeholder 3">
            <a:extLst>
              <a:ext uri="{FF2B5EF4-FFF2-40B4-BE49-F238E27FC236}">
                <a16:creationId xmlns:a16="http://schemas.microsoft.com/office/drawing/2014/main" id="{D9DDBDCA-2091-B4EC-0B01-4A507172D8B2}"/>
              </a:ext>
            </a:extLst>
          </p:cNvPr>
          <p:cNvSpPr>
            <a:spLocks noGrp="1"/>
          </p:cNvSpPr>
          <p:nvPr>
            <p:ph type="sldNum" sz="quarter" idx="5"/>
          </p:nvPr>
        </p:nvSpPr>
        <p:spPr/>
      </p:sp>
    </p:spTree>
    <p:extLst>
      <p:ext uri="{BB962C8B-B14F-4D97-AF65-F5344CB8AC3E}">
        <p14:creationId xmlns:p14="http://schemas.microsoft.com/office/powerpoint/2010/main" val="526961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3F3C-6C8F-DACB-EE8F-EC9043B57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B8503-A1BC-E0EA-F1FD-049175092E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470853-7D1A-D8AE-1251-424B71CBE51B}"/>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Three more variables drive the scheduling decisions themselves. </a:t>
            </a:r>
          </a:p>
          <a:p>
            <a:r>
              <a:rPr lang="en-US" sz="1200" b="0" i="0" kern="1200" dirty="0" err="1">
                <a:solidFill>
                  <a:schemeClr val="tx1"/>
                </a:solidFill>
                <a:effectLst/>
                <a:latin typeface="+mn-lt"/>
                <a:ea typeface="+mn-ea"/>
                <a:cs typeface="+mn-cs"/>
              </a:rPr>
              <a:t>upward_rank</a:t>
            </a:r>
            <a:r>
              <a:rPr lang="en-US" sz="1200" b="0" i="0" kern="1200" dirty="0">
                <a:solidFill>
                  <a:schemeClr val="tx1"/>
                </a:solidFill>
                <a:effectLst/>
                <a:latin typeface="+mn-lt"/>
                <a:ea typeface="+mn-ea"/>
                <a:cs typeface="+mn-cs"/>
              </a:rPr>
              <a:t>(v) is the priority score. it's the length of the longest remaining path from v to the exit.</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DRT — Data Ready Time — for task v on processor P is the latest arrival time among all incoming data transfers. In other words: when is the last piece of input data available on processor P? The task cannot start before this time, regardless of when the processor is free.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EFT — Earliest Finish Time — combines the processor's free time, the DRT, and the task's computation cost.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Delta-EFT is the duplication gain — EFT without duplication minus EFT with duplication. If positive, duplicating a parent helps. If zero or negative, don't duplicate.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_EPS — epsilon, is a floating-point guard.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a:t>
            </a:r>
            <a:r>
              <a:rPr lang="en-US" sz="1200" b="0" i="0" kern="1200" dirty="0" err="1">
                <a:solidFill>
                  <a:schemeClr val="tx1"/>
                </a:solidFill>
                <a:effectLst/>
                <a:latin typeface="+mn-lt"/>
                <a:ea typeface="+mn-ea"/>
                <a:cs typeface="+mn-cs"/>
              </a:rPr>
              <a:t>is_primary</a:t>
            </a:r>
            <a:r>
              <a:rPr lang="en-US" sz="1200" b="0" i="0" kern="1200" dirty="0">
                <a:solidFill>
                  <a:schemeClr val="tx1"/>
                </a:solidFill>
                <a:effectLst/>
                <a:latin typeface="+mn-lt"/>
                <a:ea typeface="+mn-ea"/>
                <a:cs typeface="+mn-cs"/>
              </a:rPr>
              <a:t>: only one instance of each original task has this flag set to True . All duplicates have it False</a:t>
            </a:r>
          </a:p>
        </p:txBody>
      </p:sp>
      <p:sp>
        <p:nvSpPr>
          <p:cNvPr id="4" name="Slide Number Placeholder 3">
            <a:extLst>
              <a:ext uri="{FF2B5EF4-FFF2-40B4-BE49-F238E27FC236}">
                <a16:creationId xmlns:a16="http://schemas.microsoft.com/office/drawing/2014/main" id="{E3291B1A-61D4-3B2D-4126-2A41319C1621}"/>
              </a:ext>
            </a:extLst>
          </p:cNvPr>
          <p:cNvSpPr>
            <a:spLocks noGrp="1"/>
          </p:cNvSpPr>
          <p:nvPr>
            <p:ph type="sldNum" sz="quarter" idx="5"/>
          </p:nvPr>
        </p:nvSpPr>
        <p:spPr/>
      </p:sp>
    </p:spTree>
    <p:extLst>
      <p:ext uri="{BB962C8B-B14F-4D97-AF65-F5344CB8AC3E}">
        <p14:creationId xmlns:p14="http://schemas.microsoft.com/office/powerpoint/2010/main" val="2357193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C9E8-6661-1E3B-B393-32EA4B72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9D789-147E-3D15-1881-C8328096128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552311A-263D-A3C8-E576-72FDA8B69840}"/>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"Now the algorithm itself. CA-D is built on top of a standard list scheduling loop.</a:t>
            </a:r>
          </a:p>
          <a:p>
            <a:r>
              <a:rPr lang="en-US" sz="1200" b="0" i="0" kern="1200" dirty="0">
                <a:solidFill>
                  <a:schemeClr val="tx1"/>
                </a:solidFill>
                <a:effectLst/>
                <a:latin typeface="+mn-lt"/>
                <a:ea typeface="+mn-ea"/>
                <a:cs typeface="+mn-cs"/>
              </a:rPr>
              <a:t>Steps one and two are common to all three schedulers: compute upward ranks, sort tasks by descending rank. Step three is the main loop: take the highest-priority ready task T, evaluate it on every processor candidate, commit to the one with minimum EFT.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What makes CA-D different from HEFT, happens inside the loop, in those green highlighted lines. For each processor candidate P, we don't just compute a scalar EFT. We: Clone the current </a:t>
            </a:r>
            <a:r>
              <a:rPr lang="en-US" sz="1200" b="0" i="0" kern="1200" dirty="0" err="1">
                <a:solidFill>
                  <a:schemeClr val="tx1"/>
                </a:solidFill>
                <a:effectLst/>
                <a:latin typeface="+mn-lt"/>
                <a:ea typeface="+mn-ea"/>
                <a:cs typeface="+mn-cs"/>
              </a:rPr>
              <a:t>ScheduleState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On that clone, try to place each remote predecessor of T onto P.</a:t>
            </a:r>
          </a:p>
          <a:p>
            <a:r>
              <a:rPr lang="en-US" sz="1200" b="0" i="0" kern="1200" dirty="0">
                <a:solidFill>
                  <a:schemeClr val="tx1"/>
                </a:solidFill>
                <a:effectLst/>
                <a:latin typeface="+mn-lt"/>
                <a:ea typeface="+mn-ea"/>
                <a:cs typeface="+mn-cs"/>
              </a:rPr>
              <a:t>If placing a predecessor reduces T's EFT by more than epsilon, commit that duplication on the clone</a:t>
            </a:r>
          </a:p>
          <a:p>
            <a:r>
              <a:rPr lang="en-US" sz="1200" b="0" i="0" kern="1200" dirty="0">
                <a:solidFill>
                  <a:schemeClr val="tx1"/>
                </a:solidFill>
                <a:effectLst/>
                <a:latin typeface="+mn-lt"/>
                <a:ea typeface="+mn-ea"/>
                <a:cs typeface="+mn-cs"/>
              </a:rPr>
              <a:t>Then compute T's EFT on that clone. This is greedy recursive duplication. When we place a pred onto P, we recursively ask the same question for the grandparents. If placing a grandparent reduces pred's EFT on P by more than epsilon, we commit that too. We keep going up the ancestor chain, stopping when there's no more benefit or we hit the visited set.</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DC8FD42-A1FD-3D8F-E293-9FE49DB60F2A}"/>
              </a:ext>
            </a:extLst>
          </p:cNvPr>
          <p:cNvSpPr>
            <a:spLocks noGrp="1"/>
          </p:cNvSpPr>
          <p:nvPr>
            <p:ph type="sldNum" sz="quarter" idx="5"/>
          </p:nvPr>
        </p:nvSpPr>
        <p:spPr/>
      </p:sp>
    </p:spTree>
    <p:extLst>
      <p:ext uri="{BB962C8B-B14F-4D97-AF65-F5344CB8AC3E}">
        <p14:creationId xmlns:p14="http://schemas.microsoft.com/office/powerpoint/2010/main" val="4038974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47B35-9DC4-D3AF-0974-BAA85FA7C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C02E9-9F5C-523F-5985-03741DEFD21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B3EC1C7-03BB-7632-1F71-8BF3189D0F62}"/>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"Before we look at results, I need to explain why we need the replay methodology — because without it, our comparison is invalid.</a:t>
            </a:r>
          </a:p>
          <a:p>
            <a:r>
              <a:rPr lang="en-US" sz="1200" b="0" i="0" kern="1200" dirty="0">
                <a:solidFill>
                  <a:schemeClr val="tx1"/>
                </a:solidFill>
                <a:effectLst/>
                <a:latin typeface="+mn-lt"/>
                <a:ea typeface="+mn-ea"/>
                <a:cs typeface="+mn-cs"/>
              </a:rPr>
              <a:t>HEFT use an analytic communication model. It compute a scalar communication time and never reserve any links. Its schedule is </a:t>
            </a:r>
            <a:r>
              <a:rPr lang="en-US" sz="1200" b="0" i="1" kern="1200" dirty="0">
                <a:solidFill>
                  <a:schemeClr val="tx1"/>
                </a:solidFill>
                <a:effectLst/>
                <a:latin typeface="+mn-lt"/>
                <a:ea typeface="+mn-ea"/>
                <a:cs typeface="+mn-cs"/>
              </a:rPr>
              <a:t>optimistic</a:t>
            </a:r>
            <a:r>
              <a:rPr lang="en-US" sz="1200" b="0" i="0" kern="1200" dirty="0">
                <a:solidFill>
                  <a:schemeClr val="tx1"/>
                </a:solidFill>
                <a:effectLst/>
                <a:latin typeface="+mn-lt"/>
                <a:ea typeface="+mn-ea"/>
                <a:cs typeface="+mn-cs"/>
              </a:rPr>
              <a:t> — it assume no congestion.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CA-D use full per-link reservation. It model contention explicitly. Its schedule is </a:t>
            </a:r>
            <a:r>
              <a:rPr lang="en-US" sz="1200" b="0" i="1" kern="1200" dirty="0">
                <a:solidFill>
                  <a:schemeClr val="tx1"/>
                </a:solidFill>
                <a:effectLst/>
                <a:latin typeface="+mn-lt"/>
                <a:ea typeface="+mn-ea"/>
                <a:cs typeface="+mn-cs"/>
              </a:rPr>
              <a:t>realistic</a:t>
            </a:r>
            <a:r>
              <a:rPr lang="en-US" sz="1200" b="0" i="0" kern="1200" dirty="0">
                <a:solidFill>
                  <a:schemeClr val="tx1"/>
                </a:solidFill>
                <a:effectLst/>
                <a:latin typeface="+mn-lt"/>
                <a:ea typeface="+mn-ea"/>
                <a:cs typeface="+mn-cs"/>
              </a:rPr>
              <a:t> — it include all waiting times.</a:t>
            </a:r>
          </a:p>
          <a:p>
            <a:r>
              <a:rPr lang="en-US" sz="1200" b="0" i="0" kern="1200" dirty="0">
                <a:solidFill>
                  <a:schemeClr val="tx1"/>
                </a:solidFill>
                <a:effectLst/>
                <a:latin typeface="+mn-lt"/>
                <a:ea typeface="+mn-ea"/>
                <a:cs typeface="+mn-cs"/>
              </a:rPr>
              <a:t>If we compare native </a:t>
            </a:r>
            <a:r>
              <a:rPr lang="en-US" sz="1200" b="0" i="0" kern="1200" dirty="0" err="1">
                <a:solidFill>
                  <a:schemeClr val="tx1"/>
                </a:solidFill>
                <a:effectLst/>
                <a:latin typeface="+mn-lt"/>
                <a:ea typeface="+mn-ea"/>
                <a:cs typeface="+mn-cs"/>
              </a:rPr>
              <a:t>makespans</a:t>
            </a:r>
            <a:r>
              <a:rPr lang="en-US" sz="1200" b="0" i="0" kern="1200" dirty="0">
                <a:solidFill>
                  <a:schemeClr val="tx1"/>
                </a:solidFill>
                <a:effectLst/>
                <a:latin typeface="+mn-lt"/>
                <a:ea typeface="+mn-ea"/>
                <a:cs typeface="+mn-cs"/>
              </a:rPr>
              <a:t>, we're comparing apples to oranges. HEFT says </a:t>
            </a:r>
            <a:r>
              <a:rPr lang="en-US" sz="1200" b="0" i="0" kern="1200" dirty="0" err="1">
                <a:solidFill>
                  <a:schemeClr val="tx1"/>
                </a:solidFill>
                <a:effectLst/>
                <a:latin typeface="+mn-lt"/>
                <a:ea typeface="+mn-ea"/>
                <a:cs typeface="+mn-cs"/>
              </a:rPr>
              <a:t>makespan</a:t>
            </a:r>
            <a:r>
              <a:rPr lang="en-US" sz="1200" b="0" i="0" kern="1200" dirty="0">
                <a:solidFill>
                  <a:schemeClr val="tx1"/>
                </a:solidFill>
                <a:effectLst/>
                <a:latin typeface="+mn-lt"/>
                <a:ea typeface="+mn-ea"/>
                <a:cs typeface="+mn-cs"/>
              </a:rPr>
              <a:t> is 100 using its optimistic model. CA-D says </a:t>
            </a:r>
            <a:r>
              <a:rPr lang="en-US" sz="1200" b="0" i="0" kern="1200" dirty="0" err="1">
                <a:solidFill>
                  <a:schemeClr val="tx1"/>
                </a:solidFill>
                <a:effectLst/>
                <a:latin typeface="+mn-lt"/>
                <a:ea typeface="+mn-ea"/>
                <a:cs typeface="+mn-cs"/>
              </a:rPr>
              <a:t>makespan</a:t>
            </a:r>
            <a:r>
              <a:rPr lang="en-US" sz="1200" b="0" i="0" kern="1200" dirty="0">
                <a:solidFill>
                  <a:schemeClr val="tx1"/>
                </a:solidFill>
                <a:effectLst/>
                <a:latin typeface="+mn-lt"/>
                <a:ea typeface="+mn-ea"/>
                <a:cs typeface="+mn-cs"/>
              </a:rPr>
              <a:t> is 130 using a realistic model. Does that mean HEFT is better? No — HEFT’s 100 would be 144 in reality.</a:t>
            </a:r>
          </a:p>
          <a:p>
            <a:r>
              <a:rPr lang="en-US" sz="1200" b="0" i="0" kern="1200" dirty="0">
                <a:solidFill>
                  <a:schemeClr val="tx1"/>
                </a:solidFill>
                <a:effectLst/>
                <a:latin typeface="+mn-lt"/>
                <a:ea typeface="+mn-ea"/>
                <a:cs typeface="+mn-cs"/>
              </a:rPr>
              <a:t>The replay function solves this. It takes every schedule preserves only the task-to-processor assignment and the primary/duplicate flags, throws away all original timing, and recomputes everything from scratch using the same contention-aware NoC model. After replay, every comparison is on equal footing.</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4137ABC-0C19-61BD-0D56-A0FA8063FF44}"/>
              </a:ext>
            </a:extLst>
          </p:cNvPr>
          <p:cNvSpPr>
            <a:spLocks noGrp="1"/>
          </p:cNvSpPr>
          <p:nvPr>
            <p:ph type="sldNum" sz="quarter" idx="5"/>
          </p:nvPr>
        </p:nvSpPr>
        <p:spPr/>
      </p:sp>
    </p:spTree>
    <p:extLst>
      <p:ext uri="{BB962C8B-B14F-4D97-AF65-F5344CB8AC3E}">
        <p14:creationId xmlns:p14="http://schemas.microsoft.com/office/powerpoint/2010/main" val="1487662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4CAA7-E598-7BE3-64A9-F9C500CC7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E3935-0288-5726-0167-9EE34A91EC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884484B-B4B0-5FC9-A486-C87FF66DAD8A}"/>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"Our evaluation metrics </a:t>
            </a:r>
            <a:r>
              <a:rPr lang="en-US" sz="1200" b="0" i="0" kern="1200" dirty="0" err="1">
                <a:solidFill>
                  <a:schemeClr val="tx1"/>
                </a:solidFill>
                <a:effectLst/>
                <a:latin typeface="+mn-lt"/>
                <a:ea typeface="+mn-ea"/>
                <a:cs typeface="+mn-cs"/>
              </a:rPr>
              <a:t>seperated</a:t>
            </a:r>
            <a:r>
              <a:rPr lang="en-US" sz="1200" b="0" i="0" kern="1200" dirty="0">
                <a:solidFill>
                  <a:schemeClr val="tx1"/>
                </a:solidFill>
                <a:effectLst/>
                <a:latin typeface="+mn-lt"/>
                <a:ea typeface="+mn-ea"/>
                <a:cs typeface="+mn-cs"/>
              </a:rPr>
              <a:t> into three groups.</a:t>
            </a:r>
          </a:p>
          <a:p>
            <a:r>
              <a:rPr lang="en-US" sz="1200" b="0" i="0" kern="1200" dirty="0" err="1">
                <a:solidFill>
                  <a:schemeClr val="tx1"/>
                </a:solidFill>
                <a:effectLst/>
                <a:latin typeface="+mn-lt"/>
                <a:ea typeface="+mn-ea"/>
                <a:cs typeface="+mn-cs"/>
              </a:rPr>
              <a:t>Makespan</a:t>
            </a:r>
            <a:r>
              <a:rPr lang="en-US" sz="1200" b="0" i="0" kern="1200" dirty="0">
                <a:solidFill>
                  <a:schemeClr val="tx1"/>
                </a:solidFill>
                <a:effectLst/>
                <a:latin typeface="+mn-lt"/>
                <a:ea typeface="+mn-ea"/>
                <a:cs typeface="+mn-cs"/>
              </a:rPr>
              <a:t> metrics: native </a:t>
            </a:r>
            <a:r>
              <a:rPr lang="en-US" sz="1200" b="0" i="0" kern="1200" dirty="0" err="1">
                <a:solidFill>
                  <a:schemeClr val="tx1"/>
                </a:solidFill>
                <a:effectLst/>
                <a:latin typeface="+mn-lt"/>
                <a:ea typeface="+mn-ea"/>
                <a:cs typeface="+mn-cs"/>
              </a:rPr>
              <a:t>makespan</a:t>
            </a:r>
            <a:r>
              <a:rPr lang="en-US" sz="1200" b="0" i="0" kern="1200" dirty="0">
                <a:solidFill>
                  <a:schemeClr val="tx1"/>
                </a:solidFill>
                <a:effectLst/>
                <a:latin typeface="+mn-lt"/>
                <a:ea typeface="+mn-ea"/>
                <a:cs typeface="+mn-cs"/>
              </a:rPr>
              <a:t> and replayed </a:t>
            </a:r>
            <a:r>
              <a:rPr lang="en-US" sz="1200" b="0" i="0" kern="1200" dirty="0" err="1">
                <a:solidFill>
                  <a:schemeClr val="tx1"/>
                </a:solidFill>
                <a:effectLst/>
                <a:latin typeface="+mn-lt"/>
                <a:ea typeface="+mn-ea"/>
                <a:cs typeface="+mn-cs"/>
              </a:rPr>
              <a:t>makespan</a:t>
            </a:r>
            <a:r>
              <a:rPr lang="en-US" sz="1200" b="0" i="0" kern="1200" dirty="0">
                <a:solidFill>
                  <a:schemeClr val="tx1"/>
                </a:solidFill>
                <a:effectLst/>
                <a:latin typeface="+mn-lt"/>
                <a:ea typeface="+mn-ea"/>
                <a:cs typeface="+mn-cs"/>
              </a:rPr>
              <a:t>. The replayed version is the fair one.</a:t>
            </a:r>
          </a:p>
          <a:p>
            <a:r>
              <a:rPr lang="en-US" sz="1200" b="0" i="0" kern="1200" dirty="0">
                <a:solidFill>
                  <a:schemeClr val="tx1"/>
                </a:solidFill>
                <a:effectLst/>
                <a:latin typeface="+mn-lt"/>
                <a:ea typeface="+mn-ea"/>
                <a:cs typeface="+mn-cs"/>
              </a:rPr>
              <a:t>Speedup metrics: both native and replayed speedup versus HEFT. Again, the replayed version is the meaningful one.</a:t>
            </a:r>
          </a:p>
          <a:p>
            <a:r>
              <a:rPr lang="en-US" sz="1200" b="0" i="0" kern="1200" dirty="0">
                <a:solidFill>
                  <a:schemeClr val="tx1"/>
                </a:solidFill>
                <a:effectLst/>
                <a:latin typeface="+mn-lt"/>
                <a:ea typeface="+mn-ea"/>
                <a:cs typeface="+mn-cs"/>
              </a:rPr>
              <a:t>Efficiency metrics: TIR — Task Instance Ratio — is the total number of task instances divided by the number of original tasks. If this is equal to 1 that means no duplication. Higher TIR means more computation overhead.</a:t>
            </a:r>
          </a:p>
          <a:p>
            <a:endParaRPr lang="en-US" dirty="0"/>
          </a:p>
        </p:txBody>
      </p:sp>
      <p:sp>
        <p:nvSpPr>
          <p:cNvPr id="4" name="Slide Number Placeholder 3">
            <a:extLst>
              <a:ext uri="{FF2B5EF4-FFF2-40B4-BE49-F238E27FC236}">
                <a16:creationId xmlns:a16="http://schemas.microsoft.com/office/drawing/2014/main" id="{77A9C452-7D4D-B9E5-728D-EA7B61BE9ACE}"/>
              </a:ext>
            </a:extLst>
          </p:cNvPr>
          <p:cNvSpPr>
            <a:spLocks noGrp="1"/>
          </p:cNvSpPr>
          <p:nvPr>
            <p:ph type="sldNum" sz="quarter" idx="5"/>
          </p:nvPr>
        </p:nvSpPr>
        <p:spPr/>
      </p:sp>
    </p:spTree>
    <p:extLst>
      <p:ext uri="{BB962C8B-B14F-4D97-AF65-F5344CB8AC3E}">
        <p14:creationId xmlns:p14="http://schemas.microsoft.com/office/powerpoint/2010/main" val="141980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test the schedulers on four structured DAG families. Each family stresses a different scheduler behavior. The chain is the simplest case. It has no useful parallelism. We use it as a negative control: all schedulers should produce the same result. The fork DAG has one root and eight leaves. Here, parent duplication is sufficient. CA-D and CD-LS behave the same because there is only one ancestor level. The out-tree has two levels of hierarchy. This is where recursive ancestor duplication helps CA-D beyond CD-LS. CA-D can duplicate the root task onto the leaf processors, eliminating all ancestor communication. The fork-join is the most interesting case. It has four branches that all reconverge at a join task. Here, contention between branches becomes very significant, and contention-blind schedulers may produce worse results under replay.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Gantt charts for the out-tree DAG. Each row is a processor. Each colored bar is a task. Hatched bars are duplicate task instances. Solid bars are primary instances. There are two rows of panels: CCR=1.0 at the top and CCR=10.0 at the bottom. Each row has three panels: HEFT, CD-LS, and CA-D. At CCR=1.0, the differences are moderate. At CCR=10.0, you can see a clear change. HEFT places most tasks on one processor because remote communication becomes very expensive. CD-LS duplicates direct parents, using a few processors. CA-D duplicates both the parent and grandparent tasks near the leaves. This allows all leaf tasks to start immediately with local data. The makespan difference between HEFT and CA-D is visible on the x-axis. CA-D achieves a significantly shorter makespan at high CCR.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main result slide. The left figure shows replayed speedup versus HEFT across CCR values for all four DAG families. On chain, all schedulers are equal. This confirms the negative control. On fork, CD-LS and CA-D both achieve around 2.8 times speedup at high CCR. They are equivalent because the fork has only one ancestor level. On out-tree, CA-D outperforms CD-LS because recursive ancestor duplication adds the root onto each leaf processor. On fork-join, CD-LS can drop below 1.0 at CCR=10, meaning it becomes worse than HEFT when evaluated fairly. CA-D stays above 1.0 consistently. The right figure shows replay overhead. CA-D maintains 1.0 overhead on all topologies. CD-LS shows 1.26 times overhead on fork-join, revealing that its native prediction was too optimistic. This confirms that contention-aware scheduling is necessary for accurate makespan prediction.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two metrics that explain the duplication behavior. The left figure shows the Task Instance Ratio, or TIR. This measures how many total task instances exist compared to the original task count. On chain, TIR is 1.0 for all schedulers because duplication does not help there. On fork and out-tree, CA-D and CD-LS show TIR above 1.0, meaning duplicates were created. On fork-join, CA-D creates more duplicates than CD-LS, but with better results. The right figure shows the Remote Communication Volume Ratio. This is a new metric I introduced. It tells us what fraction of total DAG communication remains as remote transfers in the native schedule. Lower is better. CA-D consistently achieves lower RCVR than CD-LS on out-tree and fork-join. This means CA-D eliminates more remote communication by placing more ancestor copies locally. The combination of TIR and RCVR explains why CA-D achieves lower replayed makespan even though it uses more task instances.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7DBFD-662F-E8B7-5292-8B6DF73F1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CA357-2B9C-39BA-DA0F-638CC43636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41925C0-4A09-22AD-68A8-69F0A99F712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FFC8AC8-8D2C-DD9A-FB9D-EDAD313D76EB}"/>
              </a:ext>
            </a:extLst>
          </p:cNvPr>
          <p:cNvSpPr>
            <a:spLocks noGrp="1"/>
          </p:cNvSpPr>
          <p:nvPr>
            <p:ph type="sldNum" sz="quarter" idx="5"/>
          </p:nvPr>
        </p:nvSpPr>
        <p:spPr/>
      </p:sp>
    </p:spTree>
    <p:extLst>
      <p:ext uri="{BB962C8B-B14F-4D97-AF65-F5344CB8AC3E}">
        <p14:creationId xmlns:p14="http://schemas.microsoft.com/office/powerpoint/2010/main" val="3823728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conclude. On the achievements side, I have a working framework that includes all three schedulers, a contention-aware replay evaluator, and results across four DAG families and four CCR values. I also introduced a new metric, the Remote Communication Volume Ratio, which quantifies how much communication remains remote after duplication. On the limitations side, the most important is that these are synthetic DAGs. Results may differ on real application graphs. Also, CA-D is a greedy heuristic, not an optimal algorithm. It is not a full implementation of the Sinnen critical-parent algorithm. The conservative pruning step was implemented but did not trigger in any test case. For future work, the immediate next step is to finalize the report. Beyond the course, interesting directions include real application DAGs, energy-aware scheduling, and larger NoC topologies. The main finding is that contention-aware scheduling produces stable and accurate results, especially on topologies where multiple branches share NoC paths. Thank you. I am ready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560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91695" cy="5029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47472" y="320040"/>
            <a:ext cx="11496751" cy="477054"/>
          </a:xfrm>
          <a:prstGeom prst="rect">
            <a:avLst/>
          </a:prstGeom>
          <a:noFill/>
        </p:spPr>
        <p:txBody>
          <a:bodyPr wrap="square" lIns="0" tIns="0">
            <a:spAutoFit/>
          </a:bodyPr>
          <a:lstStyle/>
          <a:p>
            <a:pPr algn="l"/>
            <a:r>
              <a:rPr sz="2800" b="1" i="0" dirty="0">
                <a:solidFill>
                  <a:srgbClr val="FFFFFF"/>
                </a:solidFill>
                <a:latin typeface="Calibri"/>
              </a:rPr>
              <a:t>Contention-Aware Task Duplication</a:t>
            </a:r>
            <a:r>
              <a:rPr lang="en-US" sz="2800" b="1" i="0" dirty="0">
                <a:solidFill>
                  <a:srgbClr val="FFFFFF"/>
                </a:solidFill>
                <a:latin typeface="Calibri"/>
              </a:rPr>
              <a:t> Scheduler </a:t>
            </a:r>
            <a:r>
              <a:rPr sz="2800" b="1" i="0" dirty="0">
                <a:solidFill>
                  <a:srgbClr val="FFFFFF"/>
                </a:solidFill>
                <a:latin typeface="Calibri"/>
              </a:rPr>
              <a:t>for </a:t>
            </a:r>
            <a:r>
              <a:rPr sz="2800" b="1" i="0" dirty="0" err="1">
                <a:solidFill>
                  <a:srgbClr val="FFFFFF"/>
                </a:solidFill>
                <a:latin typeface="Calibri"/>
              </a:rPr>
              <a:t>NoC</a:t>
            </a:r>
            <a:r>
              <a:rPr lang="en-US" sz="2800" b="1" i="0" dirty="0" err="1">
                <a:solidFill>
                  <a:srgbClr val="FFFFFF"/>
                </a:solidFill>
                <a:latin typeface="Calibri"/>
              </a:rPr>
              <a:t>s</a:t>
            </a:r>
            <a:endParaRPr sz="2800" b="1" i="0" dirty="0">
              <a:solidFill>
                <a:srgbClr val="FFFFFF"/>
              </a:solidFill>
              <a:latin typeface="Calibri"/>
            </a:endParaRPr>
          </a:p>
        </p:txBody>
      </p:sp>
      <p:sp>
        <p:nvSpPr>
          <p:cNvPr id="5" name="TextBox 4"/>
          <p:cNvSpPr txBox="1"/>
          <p:nvPr/>
        </p:nvSpPr>
        <p:spPr>
          <a:xfrm>
            <a:off x="347472" y="45720"/>
            <a:ext cx="11496751" cy="320040"/>
          </a:xfrm>
          <a:prstGeom prst="rect">
            <a:avLst/>
          </a:prstGeom>
          <a:noFill/>
        </p:spPr>
        <p:txBody>
          <a:bodyPr wrap="square" lIns="0" tIns="0">
            <a:spAutoFit/>
          </a:bodyPr>
          <a:lstStyle/>
          <a:p>
            <a:pPr algn="l"/>
            <a:r>
              <a:rPr sz="1200" b="0" i="0">
                <a:solidFill>
                  <a:srgbClr val="B0C8E8"/>
                </a:solidFill>
                <a:latin typeface="Calibri"/>
              </a:rPr>
              <a:t>CMP720 — Embedded System Design  |  Progress Presentation</a:t>
            </a:r>
          </a:p>
        </p:txBody>
      </p:sp>
      <p:sp>
        <p:nvSpPr>
          <p:cNvPr id="6" name="TextBox 5"/>
          <p:cNvSpPr txBox="1"/>
          <p:nvPr/>
        </p:nvSpPr>
        <p:spPr>
          <a:xfrm>
            <a:off x="347624" y="2834640"/>
            <a:ext cx="11496751" cy="353943"/>
          </a:xfrm>
          <a:prstGeom prst="rect">
            <a:avLst/>
          </a:prstGeom>
          <a:noFill/>
        </p:spPr>
        <p:txBody>
          <a:bodyPr wrap="square" lIns="0" tIns="0">
            <a:spAutoFit/>
          </a:bodyPr>
          <a:lstStyle/>
          <a:p>
            <a:pPr algn="l"/>
            <a:r>
              <a:rPr sz="2000" b="1" i="0" dirty="0">
                <a:solidFill>
                  <a:srgbClr val="1F3864"/>
                </a:solidFill>
                <a:latin typeface="Calibri"/>
              </a:rPr>
              <a:t>Bar</a:t>
            </a:r>
            <a:r>
              <a:rPr lang="en-US" sz="2000" b="1" i="0" dirty="0">
                <a:solidFill>
                  <a:srgbClr val="1F3864"/>
                </a:solidFill>
                <a:latin typeface="Calibri"/>
              </a:rPr>
              <a:t>ı</a:t>
            </a:r>
            <a:r>
              <a:rPr lang="en-US" sz="2000" b="1" dirty="0">
                <a:solidFill>
                  <a:srgbClr val="1F3864"/>
                </a:solidFill>
                <a:latin typeface="Calibri"/>
              </a:rPr>
              <a:t>ş</a:t>
            </a:r>
            <a:r>
              <a:rPr sz="2000" b="1" i="0" dirty="0">
                <a:solidFill>
                  <a:srgbClr val="1F3864"/>
                </a:solidFill>
                <a:latin typeface="Calibri"/>
              </a:rPr>
              <a:t> </a:t>
            </a:r>
            <a:r>
              <a:rPr sz="2000" b="1" i="0" dirty="0" err="1">
                <a:solidFill>
                  <a:srgbClr val="1F3864"/>
                </a:solidFill>
                <a:latin typeface="Calibri"/>
              </a:rPr>
              <a:t>B</a:t>
            </a:r>
            <a:r>
              <a:rPr lang="en-US" sz="2000" b="1" i="0" dirty="0" err="1">
                <a:solidFill>
                  <a:srgbClr val="1F3864"/>
                </a:solidFill>
                <a:latin typeface="Calibri"/>
              </a:rPr>
              <a:t>ü</a:t>
            </a:r>
            <a:r>
              <a:rPr sz="2000" b="1" i="0" dirty="0" err="1">
                <a:solidFill>
                  <a:srgbClr val="1F3864"/>
                </a:solidFill>
                <a:latin typeface="Calibri"/>
              </a:rPr>
              <a:t>y</a:t>
            </a:r>
            <a:r>
              <a:rPr lang="en-US" sz="2000" b="1" i="0" dirty="0" err="1">
                <a:solidFill>
                  <a:srgbClr val="1F3864"/>
                </a:solidFill>
                <a:latin typeface="Calibri"/>
              </a:rPr>
              <a:t>ü</a:t>
            </a:r>
            <a:r>
              <a:rPr sz="2000" b="1" i="0" dirty="0" err="1">
                <a:solidFill>
                  <a:srgbClr val="1F3864"/>
                </a:solidFill>
                <a:latin typeface="Calibri"/>
              </a:rPr>
              <a:t>ky</a:t>
            </a:r>
            <a:r>
              <a:rPr lang="en-US" sz="2000" b="1" i="0" dirty="0" err="1">
                <a:solidFill>
                  <a:srgbClr val="1F3864"/>
                </a:solidFill>
                <a:latin typeface="Calibri"/>
              </a:rPr>
              <a:t>ı</a:t>
            </a:r>
            <a:r>
              <a:rPr sz="2000" b="1" i="0" dirty="0" err="1">
                <a:solidFill>
                  <a:srgbClr val="1F3864"/>
                </a:solidFill>
                <a:latin typeface="Calibri"/>
              </a:rPr>
              <a:t>lmaz</a:t>
            </a:r>
            <a:r>
              <a:rPr lang="en-US" sz="2000" b="1" dirty="0">
                <a:solidFill>
                  <a:srgbClr val="1F3864"/>
                </a:solidFill>
                <a:latin typeface="Calibri"/>
              </a:rPr>
              <a:t>, </a:t>
            </a:r>
            <a:r>
              <a:rPr lang="en-US" sz="2000" b="1" i="0" dirty="0">
                <a:solidFill>
                  <a:srgbClr val="1F3864"/>
                </a:solidFill>
                <a:latin typeface="Calibri"/>
              </a:rPr>
              <a:t>Oğulcan </a:t>
            </a:r>
            <a:r>
              <a:rPr lang="en-US" sz="2000" b="1" i="0" dirty="0" err="1">
                <a:solidFill>
                  <a:srgbClr val="1F3864"/>
                </a:solidFill>
                <a:latin typeface="Calibri"/>
              </a:rPr>
              <a:t>Uğuroğlu</a:t>
            </a:r>
            <a:endParaRPr sz="2000" b="1" i="0" dirty="0">
              <a:solidFill>
                <a:srgbClr val="1F3864"/>
              </a:solidFill>
              <a:latin typeface="Calibri"/>
            </a:endParaRPr>
          </a:p>
        </p:txBody>
      </p:sp>
      <p:sp>
        <p:nvSpPr>
          <p:cNvPr id="7" name="TextBox 6"/>
          <p:cNvSpPr txBox="1"/>
          <p:nvPr/>
        </p:nvSpPr>
        <p:spPr>
          <a:xfrm>
            <a:off x="347472" y="3337560"/>
            <a:ext cx="11496751" cy="502920"/>
          </a:xfrm>
          <a:prstGeom prst="rect">
            <a:avLst/>
          </a:prstGeom>
          <a:noFill/>
        </p:spPr>
        <p:txBody>
          <a:bodyPr wrap="square" lIns="0" tIns="0">
            <a:spAutoFit/>
          </a:bodyPr>
          <a:lstStyle/>
          <a:p>
            <a:pPr algn="l"/>
            <a:r>
              <a:rPr sz="1500" b="0" i="0">
                <a:solidFill>
                  <a:srgbClr val="000000"/>
                </a:solidFill>
                <a:latin typeface="Calibri"/>
              </a:rPr>
              <a:t>Hacettepe University, Department of Computer Engineering</a:t>
            </a:r>
          </a:p>
        </p:txBody>
      </p:sp>
      <p:pic>
        <p:nvPicPr>
          <p:cNvPr id="12" name="Resim 11">
            <a:extLst>
              <a:ext uri="{FF2B5EF4-FFF2-40B4-BE49-F238E27FC236}">
                <a16:creationId xmlns:a16="http://schemas.microsoft.com/office/drawing/2014/main" id="{E74EE522-80CE-7ECD-85CC-AD8A9AFA4882}"/>
              </a:ext>
            </a:extLst>
          </p:cNvPr>
          <p:cNvPicPr>
            <a:picLocks noChangeAspect="1"/>
          </p:cNvPicPr>
          <p:nvPr/>
        </p:nvPicPr>
        <p:blipFill>
          <a:blip r:embed="rId3"/>
          <a:stretch>
            <a:fillRect/>
          </a:stretch>
        </p:blipFill>
        <p:spPr>
          <a:xfrm>
            <a:off x="5043160" y="2683337"/>
            <a:ext cx="714884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Problem Definition</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Resim 9">
            <a:extLst>
              <a:ext uri="{FF2B5EF4-FFF2-40B4-BE49-F238E27FC236}">
                <a16:creationId xmlns:a16="http://schemas.microsoft.com/office/drawing/2014/main" id="{3938158A-E7D3-E33C-DFBA-CCAD277B33E2}"/>
              </a:ext>
            </a:extLst>
          </p:cNvPr>
          <p:cNvPicPr>
            <a:picLocks noChangeAspect="1"/>
          </p:cNvPicPr>
          <p:nvPr/>
        </p:nvPicPr>
        <p:blipFill>
          <a:blip r:embed="rId3"/>
          <a:stretch>
            <a:fillRect/>
          </a:stretch>
        </p:blipFill>
        <p:spPr>
          <a:xfrm>
            <a:off x="8702687" y="1653455"/>
            <a:ext cx="2940368" cy="3353858"/>
          </a:xfrm>
          <a:prstGeom prst="rect">
            <a:avLst/>
          </a:prstGeom>
        </p:spPr>
      </p:pic>
      <p:pic>
        <p:nvPicPr>
          <p:cNvPr id="12" name="Resim 11">
            <a:extLst>
              <a:ext uri="{FF2B5EF4-FFF2-40B4-BE49-F238E27FC236}">
                <a16:creationId xmlns:a16="http://schemas.microsoft.com/office/drawing/2014/main" id="{3CBDCF67-009E-D833-4BDA-CB9FC9BB11AD}"/>
              </a:ext>
            </a:extLst>
          </p:cNvPr>
          <p:cNvPicPr>
            <a:picLocks noChangeAspect="1"/>
          </p:cNvPicPr>
          <p:nvPr/>
        </p:nvPicPr>
        <p:blipFill>
          <a:blip r:embed="rId4"/>
          <a:stretch>
            <a:fillRect/>
          </a:stretch>
        </p:blipFill>
        <p:spPr>
          <a:xfrm>
            <a:off x="0" y="1606888"/>
            <a:ext cx="8382000" cy="34004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4CA91-F9E4-305D-3BF2-E85C092CDBC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A0705C8-6DA1-3942-BD92-6488B09C2986}"/>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Problem Definition</a:t>
            </a:r>
          </a:p>
        </p:txBody>
      </p:sp>
      <p:sp>
        <p:nvSpPr>
          <p:cNvPr id="3" name="Rectangle 2">
            <a:extLst>
              <a:ext uri="{FF2B5EF4-FFF2-40B4-BE49-F238E27FC236}">
                <a16:creationId xmlns:a16="http://schemas.microsoft.com/office/drawing/2014/main" id="{FA092DCF-9E35-3A29-B1AA-33A9D5EFE798}"/>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Resim 12">
            <a:extLst>
              <a:ext uri="{FF2B5EF4-FFF2-40B4-BE49-F238E27FC236}">
                <a16:creationId xmlns:a16="http://schemas.microsoft.com/office/drawing/2014/main" id="{6CBD64F0-3CFF-00DF-65A9-973B4BCF2EDD}"/>
              </a:ext>
            </a:extLst>
          </p:cNvPr>
          <p:cNvPicPr>
            <a:picLocks noChangeAspect="1"/>
          </p:cNvPicPr>
          <p:nvPr/>
        </p:nvPicPr>
        <p:blipFill>
          <a:blip r:embed="rId3"/>
          <a:stretch>
            <a:fillRect/>
          </a:stretch>
        </p:blipFill>
        <p:spPr>
          <a:xfrm>
            <a:off x="6852438" y="1521143"/>
            <a:ext cx="5105272" cy="5105272"/>
          </a:xfrm>
          <a:prstGeom prst="rect">
            <a:avLst/>
          </a:prstGeom>
        </p:spPr>
      </p:pic>
      <p:pic>
        <p:nvPicPr>
          <p:cNvPr id="7" name="Resim 6">
            <a:extLst>
              <a:ext uri="{FF2B5EF4-FFF2-40B4-BE49-F238E27FC236}">
                <a16:creationId xmlns:a16="http://schemas.microsoft.com/office/drawing/2014/main" id="{A4115A86-6240-61EC-CC83-33DA3246E203}"/>
              </a:ext>
            </a:extLst>
          </p:cNvPr>
          <p:cNvPicPr>
            <a:picLocks noChangeAspect="1"/>
          </p:cNvPicPr>
          <p:nvPr/>
        </p:nvPicPr>
        <p:blipFill>
          <a:blip r:embed="rId4"/>
          <a:stretch>
            <a:fillRect/>
          </a:stretch>
        </p:blipFill>
        <p:spPr>
          <a:xfrm>
            <a:off x="397669" y="1856125"/>
            <a:ext cx="6193631" cy="3145750"/>
          </a:xfrm>
          <a:prstGeom prst="rect">
            <a:avLst/>
          </a:prstGeom>
        </p:spPr>
      </p:pic>
    </p:spTree>
    <p:extLst>
      <p:ext uri="{BB962C8B-B14F-4D97-AF65-F5344CB8AC3E}">
        <p14:creationId xmlns:p14="http://schemas.microsoft.com/office/powerpoint/2010/main" val="335354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881576-D56E-F922-38D7-8EB768DB2CAD}"/>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Problem Definition</a:t>
            </a:r>
          </a:p>
        </p:txBody>
      </p:sp>
      <p:sp>
        <p:nvSpPr>
          <p:cNvPr id="3" name="Rectangle 2">
            <a:extLst>
              <a:ext uri="{FF2B5EF4-FFF2-40B4-BE49-F238E27FC236}">
                <a16:creationId xmlns:a16="http://schemas.microsoft.com/office/drawing/2014/main" id="{5AAB3FA2-CFAB-A3DA-611A-15714607975F}"/>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DADB964-C250-9966-5578-9896A6DD128A}"/>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2 / 12</a:t>
            </a:r>
          </a:p>
        </p:txBody>
      </p:sp>
      <p:sp>
        <p:nvSpPr>
          <p:cNvPr id="12" name="Rectangle 5">
            <a:extLst>
              <a:ext uri="{FF2B5EF4-FFF2-40B4-BE49-F238E27FC236}">
                <a16:creationId xmlns:a16="http://schemas.microsoft.com/office/drawing/2014/main" id="{78EE233E-52C3-AF46-9040-623B3A246814}"/>
              </a:ext>
            </a:extLst>
          </p:cNvPr>
          <p:cNvSpPr/>
          <p:nvPr/>
        </p:nvSpPr>
        <p:spPr>
          <a:xfrm>
            <a:off x="8315324" y="3289769"/>
            <a:ext cx="3711437" cy="12344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dirty="0">
                <a:solidFill>
                  <a:srgbClr val="FFFFFF"/>
                </a:solidFill>
                <a:latin typeface="Calibri"/>
              </a:rPr>
              <a:t>Research Question</a:t>
            </a:r>
            <a:r>
              <a:rPr lang="en-US" sz="1400" b="1" dirty="0">
                <a:solidFill>
                  <a:srgbClr val="FFFFFF"/>
                </a:solidFill>
                <a:latin typeface="Calibri"/>
              </a:rPr>
              <a:t>:</a:t>
            </a:r>
            <a:br>
              <a:rPr lang="en-US" sz="1400" b="1" dirty="0">
                <a:solidFill>
                  <a:srgbClr val="FFFFFF"/>
                </a:solidFill>
                <a:latin typeface="Calibri"/>
              </a:rPr>
            </a:br>
            <a:r>
              <a:rPr lang="en-US" sz="1400" b="1" dirty="0">
                <a:solidFill>
                  <a:srgbClr val="FFFFFF"/>
                </a:solidFill>
                <a:latin typeface="Calibri"/>
              </a:rPr>
              <a:t>Can task duplication reduce </a:t>
            </a:r>
            <a:r>
              <a:rPr lang="en-US" sz="1400" b="1" dirty="0" err="1">
                <a:solidFill>
                  <a:srgbClr val="FFFFFF"/>
                </a:solidFill>
                <a:latin typeface="Calibri"/>
              </a:rPr>
              <a:t>makespan</a:t>
            </a:r>
            <a:r>
              <a:rPr lang="en-US" sz="1400" b="1" dirty="0">
                <a:solidFill>
                  <a:srgbClr val="FFFFFF"/>
                </a:solidFill>
                <a:latin typeface="Calibri"/>
              </a:rPr>
              <a:t> when scheduling on a NoC, if contention is accounted for during the scheduling decision itself?</a:t>
            </a:r>
          </a:p>
          <a:p>
            <a:pPr algn="ctr"/>
            <a:endParaRPr sz="1400" b="1" dirty="0">
              <a:solidFill>
                <a:srgbClr val="FFFFFF"/>
              </a:solidFill>
              <a:latin typeface="Calibri"/>
            </a:endParaRPr>
          </a:p>
        </p:txBody>
      </p:sp>
      <p:pic>
        <p:nvPicPr>
          <p:cNvPr id="16" name="Resim 15">
            <a:extLst>
              <a:ext uri="{FF2B5EF4-FFF2-40B4-BE49-F238E27FC236}">
                <a16:creationId xmlns:a16="http://schemas.microsoft.com/office/drawing/2014/main" id="{8370A554-6601-C5AB-7570-47702C2EBE45}"/>
              </a:ext>
            </a:extLst>
          </p:cNvPr>
          <p:cNvPicPr>
            <a:picLocks noChangeAspect="1"/>
          </p:cNvPicPr>
          <p:nvPr/>
        </p:nvPicPr>
        <p:blipFill>
          <a:blip r:embed="rId3"/>
          <a:srcRect b="5763"/>
          <a:stretch>
            <a:fillRect/>
          </a:stretch>
        </p:blipFill>
        <p:spPr>
          <a:xfrm>
            <a:off x="0" y="1076134"/>
            <a:ext cx="8165306" cy="5780368"/>
          </a:xfrm>
          <a:prstGeom prst="rect">
            <a:avLst/>
          </a:prstGeom>
        </p:spPr>
      </p:pic>
    </p:spTree>
    <p:extLst>
      <p:ext uri="{BB962C8B-B14F-4D97-AF65-F5344CB8AC3E}">
        <p14:creationId xmlns:p14="http://schemas.microsoft.com/office/powerpoint/2010/main" val="242690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400" b="1" dirty="0">
                <a:solidFill>
                  <a:srgbClr val="FFFFFF"/>
                </a:solidFill>
                <a:latin typeface="Calibri"/>
              </a:rPr>
              <a:t>Methodology Updates: What Changed, and Why?</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5 / 12</a:t>
            </a:r>
          </a:p>
        </p:txBody>
      </p:sp>
      <p:sp>
        <p:nvSpPr>
          <p:cNvPr id="11" name="Rectangle 10"/>
          <p:cNvSpPr/>
          <p:nvPr/>
        </p:nvSpPr>
        <p:spPr>
          <a:xfrm>
            <a:off x="347472" y="6113981"/>
            <a:ext cx="11496751" cy="438912"/>
          </a:xfrm>
          <a:prstGeom prst="rect">
            <a:avLst/>
          </a:prstGeom>
          <a:solidFill>
            <a:srgbClr val="EEF2F7"/>
          </a:solidFill>
          <a:ln w="9525">
            <a:solidFill>
              <a:srgbClr val="1F3864"/>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0">
                <a:solidFill>
                  <a:srgbClr val="1F3864"/>
                </a:solidFill>
                <a:latin typeface="Calibri"/>
              </a:rPr>
              <a:t>Key shift: from a scalar contention estimate to per-link interval reservation — enabling CA-D to make duplication decisions under realistic link occupancy.</a:t>
            </a:r>
          </a:p>
        </p:txBody>
      </p:sp>
      <p:pic>
        <p:nvPicPr>
          <p:cNvPr id="6" name="Resim 5">
            <a:extLst>
              <a:ext uri="{FF2B5EF4-FFF2-40B4-BE49-F238E27FC236}">
                <a16:creationId xmlns:a16="http://schemas.microsoft.com/office/drawing/2014/main" id="{0261BC9C-EAED-E0D0-7592-574339B97329}"/>
              </a:ext>
            </a:extLst>
          </p:cNvPr>
          <p:cNvPicPr>
            <a:picLocks noChangeAspect="1"/>
          </p:cNvPicPr>
          <p:nvPr/>
        </p:nvPicPr>
        <p:blipFill>
          <a:blip r:embed="rId3"/>
          <a:stretch>
            <a:fillRect/>
          </a:stretch>
        </p:blipFill>
        <p:spPr>
          <a:xfrm>
            <a:off x="304915" y="1143421"/>
            <a:ext cx="5572125" cy="2457450"/>
          </a:xfrm>
          <a:prstGeom prst="rect">
            <a:avLst/>
          </a:prstGeom>
        </p:spPr>
      </p:pic>
      <p:grpSp>
        <p:nvGrpSpPr>
          <p:cNvPr id="16" name="Grup 15">
            <a:extLst>
              <a:ext uri="{FF2B5EF4-FFF2-40B4-BE49-F238E27FC236}">
                <a16:creationId xmlns:a16="http://schemas.microsoft.com/office/drawing/2014/main" id="{FE461234-BFBA-9CA3-8771-A4A15E47C47C}"/>
              </a:ext>
            </a:extLst>
          </p:cNvPr>
          <p:cNvGrpSpPr/>
          <p:nvPr/>
        </p:nvGrpSpPr>
        <p:grpSpPr>
          <a:xfrm>
            <a:off x="5910378" y="1151359"/>
            <a:ext cx="5638800" cy="2305682"/>
            <a:chOff x="5572125" y="1123318"/>
            <a:chExt cx="5638800" cy="2305682"/>
          </a:xfrm>
        </p:grpSpPr>
        <p:pic>
          <p:nvPicPr>
            <p:cNvPr id="13" name="Resim 12">
              <a:extLst>
                <a:ext uri="{FF2B5EF4-FFF2-40B4-BE49-F238E27FC236}">
                  <a16:creationId xmlns:a16="http://schemas.microsoft.com/office/drawing/2014/main" id="{260C5FEC-C16E-32DC-A84F-745A65EE5321}"/>
                </a:ext>
              </a:extLst>
            </p:cNvPr>
            <p:cNvPicPr>
              <a:picLocks noChangeAspect="1"/>
            </p:cNvPicPr>
            <p:nvPr/>
          </p:nvPicPr>
          <p:blipFill>
            <a:blip r:embed="rId4"/>
            <a:stretch>
              <a:fillRect/>
            </a:stretch>
          </p:blipFill>
          <p:spPr>
            <a:xfrm>
              <a:off x="5572125" y="1123318"/>
              <a:ext cx="5638800" cy="2047875"/>
            </a:xfrm>
            <a:prstGeom prst="rect">
              <a:avLst/>
            </a:prstGeom>
          </p:spPr>
        </p:pic>
        <p:pic>
          <p:nvPicPr>
            <p:cNvPr id="15" name="Resim 14">
              <a:extLst>
                <a:ext uri="{FF2B5EF4-FFF2-40B4-BE49-F238E27FC236}">
                  <a16:creationId xmlns:a16="http://schemas.microsoft.com/office/drawing/2014/main" id="{DD213732-DB57-0969-CE81-E9F2F5DFDB50}"/>
                </a:ext>
              </a:extLst>
            </p:cNvPr>
            <p:cNvPicPr>
              <a:picLocks noChangeAspect="1"/>
            </p:cNvPicPr>
            <p:nvPr/>
          </p:nvPicPr>
          <p:blipFill>
            <a:blip r:embed="rId5"/>
            <a:srcRect b="22109"/>
            <a:stretch>
              <a:fillRect/>
            </a:stretch>
          </p:blipFill>
          <p:spPr>
            <a:xfrm>
              <a:off x="5756275" y="3102558"/>
              <a:ext cx="3143250" cy="326442"/>
            </a:xfrm>
            <a:prstGeom prst="rect">
              <a:avLst/>
            </a:prstGeom>
          </p:spPr>
        </p:pic>
      </p:grpSp>
      <p:grpSp>
        <p:nvGrpSpPr>
          <p:cNvPr id="25" name="Grup 24">
            <a:extLst>
              <a:ext uri="{FF2B5EF4-FFF2-40B4-BE49-F238E27FC236}">
                <a16:creationId xmlns:a16="http://schemas.microsoft.com/office/drawing/2014/main" id="{E8113B5A-20BE-37D4-7EC5-8EAA17729749}"/>
              </a:ext>
            </a:extLst>
          </p:cNvPr>
          <p:cNvGrpSpPr/>
          <p:nvPr/>
        </p:nvGrpSpPr>
        <p:grpSpPr>
          <a:xfrm>
            <a:off x="3313228" y="3810778"/>
            <a:ext cx="5562600" cy="1825625"/>
            <a:chOff x="2933547" y="3759820"/>
            <a:chExt cx="5562600" cy="1825625"/>
          </a:xfrm>
        </p:grpSpPr>
        <p:pic>
          <p:nvPicPr>
            <p:cNvPr id="20" name="Resim 19">
              <a:extLst>
                <a:ext uri="{FF2B5EF4-FFF2-40B4-BE49-F238E27FC236}">
                  <a16:creationId xmlns:a16="http://schemas.microsoft.com/office/drawing/2014/main" id="{6AAAE2F1-5155-1E72-7C7B-209A2ADD23AD}"/>
                </a:ext>
              </a:extLst>
            </p:cNvPr>
            <p:cNvPicPr>
              <a:picLocks noChangeAspect="1"/>
            </p:cNvPicPr>
            <p:nvPr/>
          </p:nvPicPr>
          <p:blipFill>
            <a:blip r:embed="rId6"/>
            <a:stretch>
              <a:fillRect/>
            </a:stretch>
          </p:blipFill>
          <p:spPr>
            <a:xfrm>
              <a:off x="2933547" y="3759820"/>
              <a:ext cx="5562600" cy="1314450"/>
            </a:xfrm>
            <a:prstGeom prst="rect">
              <a:avLst/>
            </a:prstGeom>
          </p:spPr>
        </p:pic>
        <p:pic>
          <p:nvPicPr>
            <p:cNvPr id="24" name="Resim 23">
              <a:extLst>
                <a:ext uri="{FF2B5EF4-FFF2-40B4-BE49-F238E27FC236}">
                  <a16:creationId xmlns:a16="http://schemas.microsoft.com/office/drawing/2014/main" id="{53626441-6202-061F-1D9C-F69FF4B29576}"/>
                </a:ext>
              </a:extLst>
            </p:cNvPr>
            <p:cNvPicPr>
              <a:picLocks noChangeAspect="1"/>
            </p:cNvPicPr>
            <p:nvPr/>
          </p:nvPicPr>
          <p:blipFill>
            <a:blip r:embed="rId7"/>
            <a:stretch>
              <a:fillRect/>
            </a:stretch>
          </p:blipFill>
          <p:spPr>
            <a:xfrm>
              <a:off x="3103562" y="5061570"/>
              <a:ext cx="5305425" cy="523875"/>
            </a:xfrm>
            <a:prstGeom prst="rect">
              <a:avLst/>
            </a:prstGeom>
          </p:spPr>
        </p:pic>
      </p:grpSp>
      <p:pic>
        <p:nvPicPr>
          <p:cNvPr id="28" name="Resim 27">
            <a:extLst>
              <a:ext uri="{FF2B5EF4-FFF2-40B4-BE49-F238E27FC236}">
                <a16:creationId xmlns:a16="http://schemas.microsoft.com/office/drawing/2014/main" id="{4251740D-FD16-AA08-957E-F65BB02A108C}"/>
              </a:ext>
            </a:extLst>
          </p:cNvPr>
          <p:cNvPicPr>
            <a:picLocks noChangeAspect="1"/>
          </p:cNvPicPr>
          <p:nvPr/>
        </p:nvPicPr>
        <p:blipFill>
          <a:blip r:embed="rId8"/>
          <a:srcRect t="4431"/>
          <a:stretch>
            <a:fillRect/>
          </a:stretch>
        </p:blipFill>
        <p:spPr>
          <a:xfrm>
            <a:off x="7396278" y="220629"/>
            <a:ext cx="4152900" cy="5916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1100" dirty="0">
                <a:solidFill>
                  <a:srgbClr val="B0C8E8"/>
                </a:solidFill>
                <a:latin typeface="Calibri"/>
              </a:rPr>
              <a:t> </a:t>
            </a:r>
            <a:r>
              <a:rPr sz="2600" b="1" dirty="0">
                <a:solidFill>
                  <a:srgbClr val="FFFFFF"/>
                </a:solidFill>
                <a:latin typeface="Calibri"/>
              </a:rPr>
              <a:t>Implemented System Architecture</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4 / 12</a:t>
            </a:r>
          </a:p>
        </p:txBody>
      </p:sp>
      <p:sp>
        <p:nvSpPr>
          <p:cNvPr id="5" name="Rectangle 4"/>
          <p:cNvSpPr/>
          <p:nvPr/>
        </p:nvSpPr>
        <p:spPr>
          <a:xfrm>
            <a:off x="2255367" y="1170432"/>
            <a:ext cx="3383280" cy="56692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DAG Generator
4 families: Chain, Fork, Out-tree, Fork-join</a:t>
            </a:r>
          </a:p>
        </p:txBody>
      </p:sp>
      <p:sp>
        <p:nvSpPr>
          <p:cNvPr id="6" name="Rectangle 5"/>
          <p:cNvSpPr/>
          <p:nvPr/>
        </p:nvSpPr>
        <p:spPr>
          <a:xfrm>
            <a:off x="6553047" y="1170432"/>
            <a:ext cx="3383280" cy="56692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dirty="0" err="1">
                <a:solidFill>
                  <a:srgbClr val="FFFFFF"/>
                </a:solidFill>
                <a:latin typeface="Calibri"/>
              </a:rPr>
              <a:t>MeshNoC</a:t>
            </a:r>
            <a:r>
              <a:rPr sz="1200" b="1" dirty="0">
                <a:solidFill>
                  <a:srgbClr val="FFFFFF"/>
                </a:solidFill>
                <a:latin typeface="Calibri"/>
              </a:rPr>
              <a:t> Model
4×4 mesh, XY routing, α=</a:t>
            </a:r>
            <a:r>
              <a:rPr lang="en-US" sz="1200" b="1" dirty="0">
                <a:solidFill>
                  <a:srgbClr val="FFFFFF"/>
                </a:solidFill>
                <a:latin typeface="Calibri"/>
              </a:rPr>
              <a:t>1</a:t>
            </a:r>
            <a:r>
              <a:rPr sz="1200" b="1" dirty="0">
                <a:solidFill>
                  <a:srgbClr val="FFFFFF"/>
                </a:solidFill>
                <a:latin typeface="Calibri"/>
              </a:rPr>
              <a:t>, β=1</a:t>
            </a:r>
          </a:p>
        </p:txBody>
      </p:sp>
      <p:sp>
        <p:nvSpPr>
          <p:cNvPr id="7" name="TextBox 6"/>
          <p:cNvSpPr txBox="1"/>
          <p:nvPr/>
        </p:nvSpPr>
        <p:spPr>
          <a:xfrm>
            <a:off x="3764127" y="1737360"/>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8" name="TextBox 7"/>
          <p:cNvSpPr txBox="1"/>
          <p:nvPr/>
        </p:nvSpPr>
        <p:spPr>
          <a:xfrm>
            <a:off x="8061807" y="1737360"/>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9" name="Rectangle 8"/>
          <p:cNvSpPr/>
          <p:nvPr/>
        </p:nvSpPr>
        <p:spPr>
          <a:xfrm>
            <a:off x="347472" y="2029968"/>
            <a:ext cx="3337560" cy="56692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HEFT
Analytic comm, no duplication</a:t>
            </a:r>
          </a:p>
        </p:txBody>
      </p:sp>
      <p:sp>
        <p:nvSpPr>
          <p:cNvPr id="10" name="Rectangle 9"/>
          <p:cNvSpPr/>
          <p:nvPr/>
        </p:nvSpPr>
        <p:spPr>
          <a:xfrm>
            <a:off x="3913632" y="2029968"/>
            <a:ext cx="3337560" cy="566928"/>
          </a:xfrm>
          <a:prstGeom prst="rect">
            <a:avLst/>
          </a:prstGeom>
          <a:solidFill>
            <a:srgbClr val="D6604D"/>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CD-LS
Parent dup, analytic comm</a:t>
            </a:r>
          </a:p>
        </p:txBody>
      </p:sp>
      <p:sp>
        <p:nvSpPr>
          <p:cNvPr id="11" name="Rectangle 10"/>
          <p:cNvSpPr/>
          <p:nvPr/>
        </p:nvSpPr>
        <p:spPr>
          <a:xfrm>
            <a:off x="7479792" y="2029968"/>
            <a:ext cx="3337560" cy="566928"/>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CA-D
Recursive ancestor dup, contention-aware</a:t>
            </a:r>
          </a:p>
        </p:txBody>
      </p:sp>
      <p:sp>
        <p:nvSpPr>
          <p:cNvPr id="12" name="TextBox 11"/>
          <p:cNvSpPr txBox="1"/>
          <p:nvPr/>
        </p:nvSpPr>
        <p:spPr>
          <a:xfrm>
            <a:off x="5912967" y="2596896"/>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13" name="Rectangle 12"/>
          <p:cNvSpPr/>
          <p:nvPr/>
        </p:nvSpPr>
        <p:spPr>
          <a:xfrm>
            <a:off x="347472" y="2889504"/>
            <a:ext cx="11496751"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ScheduleState  —  processor_intervals + link_intervals</a:t>
            </a:r>
          </a:p>
        </p:txBody>
      </p:sp>
      <p:sp>
        <p:nvSpPr>
          <p:cNvPr id="14" name="TextBox 13"/>
          <p:cNvSpPr txBox="1"/>
          <p:nvPr/>
        </p:nvSpPr>
        <p:spPr>
          <a:xfrm>
            <a:off x="5912967" y="3456432"/>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15" name="Rectangle 14"/>
          <p:cNvSpPr/>
          <p:nvPr/>
        </p:nvSpPr>
        <p:spPr>
          <a:xfrm>
            <a:off x="347472" y="3749040"/>
            <a:ext cx="11496751" cy="566928"/>
          </a:xfrm>
          <a:prstGeom prst="rect">
            <a:avLst/>
          </a:prstGeom>
          <a:solidFill>
            <a:srgbClr val="CCBB4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1F3864"/>
                </a:solidFill>
                <a:latin typeface="Calibri"/>
              </a:rPr>
              <a:t>replay_under_contention()  —  re-run timing with link reservations</a:t>
            </a:r>
          </a:p>
        </p:txBody>
      </p:sp>
      <p:sp>
        <p:nvSpPr>
          <p:cNvPr id="16" name="TextBox 15"/>
          <p:cNvSpPr txBox="1"/>
          <p:nvPr/>
        </p:nvSpPr>
        <p:spPr>
          <a:xfrm>
            <a:off x="5912967" y="4315968"/>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17" name="Rectangle 16"/>
          <p:cNvSpPr/>
          <p:nvPr/>
        </p:nvSpPr>
        <p:spPr>
          <a:xfrm>
            <a:off x="3267379" y="4586002"/>
            <a:ext cx="5656935" cy="566928"/>
          </a:xfrm>
          <a:prstGeom prst="rect">
            <a:avLst/>
          </a:prstGeom>
          <a:solidFill>
            <a:srgbClr val="EEF2F7"/>
          </a:solidFill>
          <a:ln w="9525">
            <a:solidFill>
              <a:srgbClr val="2166AC"/>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dirty="0">
                <a:solidFill>
                  <a:srgbClr val="1F3864"/>
                </a:solidFill>
                <a:latin typeface="Calibri"/>
              </a:rPr>
              <a:t>Metrics
Speedup, Overhead, </a:t>
            </a:r>
            <a:r>
              <a:rPr lang="tr-TR" sz="1200" b="1" dirty="0" err="1">
                <a:solidFill>
                  <a:srgbClr val="1F3864"/>
                </a:solidFill>
                <a:latin typeface="Calibri"/>
              </a:rPr>
              <a:t>Task</a:t>
            </a:r>
            <a:r>
              <a:rPr lang="tr-TR" sz="1200" b="1" dirty="0">
                <a:solidFill>
                  <a:srgbClr val="1F3864"/>
                </a:solidFill>
                <a:latin typeface="Calibri"/>
              </a:rPr>
              <a:t> </a:t>
            </a:r>
            <a:r>
              <a:rPr lang="tr-TR" sz="1200" b="1" dirty="0" err="1">
                <a:solidFill>
                  <a:srgbClr val="1F3864"/>
                </a:solidFill>
                <a:latin typeface="Calibri"/>
              </a:rPr>
              <a:t>Instance</a:t>
            </a:r>
            <a:r>
              <a:rPr lang="tr-TR" sz="1200" b="1" dirty="0">
                <a:solidFill>
                  <a:srgbClr val="1F3864"/>
                </a:solidFill>
                <a:latin typeface="Calibri"/>
              </a:rPr>
              <a:t> </a:t>
            </a:r>
            <a:r>
              <a:rPr lang="tr-TR" sz="1200" b="1" dirty="0" err="1">
                <a:solidFill>
                  <a:srgbClr val="1F3864"/>
                </a:solidFill>
                <a:latin typeface="Calibri"/>
              </a:rPr>
              <a:t>Ratio</a:t>
            </a:r>
            <a:r>
              <a:rPr lang="tr-TR" sz="1200" b="1" dirty="0">
                <a:solidFill>
                  <a:srgbClr val="1F3864"/>
                </a:solidFill>
                <a:latin typeface="Calibri"/>
              </a:rPr>
              <a:t> </a:t>
            </a:r>
            <a:r>
              <a:rPr lang="en-US" sz="1200" b="1" dirty="0">
                <a:solidFill>
                  <a:srgbClr val="1F3864"/>
                </a:solidFill>
                <a:latin typeface="Calibri"/>
              </a:rPr>
              <a:t>(</a:t>
            </a:r>
            <a:r>
              <a:rPr sz="1200" b="1" dirty="0">
                <a:solidFill>
                  <a:srgbClr val="1F3864"/>
                </a:solidFill>
                <a:latin typeface="Calibri"/>
              </a:rPr>
              <a:t>TIR</a:t>
            </a:r>
            <a:r>
              <a:rPr lang="en-US" sz="1200" b="1" dirty="0">
                <a:solidFill>
                  <a:srgbClr val="1F3864"/>
                </a:solidFill>
                <a:latin typeface="Calibri"/>
              </a:rPr>
              <a:t>)</a:t>
            </a:r>
            <a:endParaRPr sz="1200" b="1" dirty="0">
              <a:solidFill>
                <a:srgbClr val="1F3864"/>
              </a:solidFill>
              <a:latin typeface="Calibri"/>
            </a:endParaRPr>
          </a:p>
        </p:txBody>
      </p:sp>
    </p:spTree>
    <p:extLst>
      <p:ext uri="{BB962C8B-B14F-4D97-AF65-F5344CB8AC3E}">
        <p14:creationId xmlns:p14="http://schemas.microsoft.com/office/powerpoint/2010/main" val="622706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Reminder: Proposed Methodology</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3 / 12</a:t>
            </a:r>
          </a:p>
        </p:txBody>
      </p:sp>
      <p:sp>
        <p:nvSpPr>
          <p:cNvPr id="6" name="Rectangle 5"/>
          <p:cNvSpPr/>
          <p:nvPr/>
        </p:nvSpPr>
        <p:spPr>
          <a:xfrm>
            <a:off x="347472" y="5239512"/>
            <a:ext cx="11425428" cy="1234440"/>
          </a:xfrm>
          <a:prstGeom prst="rect">
            <a:avLst/>
          </a:prstGeom>
          <a:solidFill>
            <a:srgbClr val="EEF2F7"/>
          </a:solidFill>
          <a:ln w="9525">
            <a:solidFill>
              <a:srgbClr val="2166AC"/>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dirty="0">
                <a:solidFill>
                  <a:srgbClr val="1F3864"/>
                </a:solidFill>
                <a:latin typeface="Calibri"/>
              </a:rPr>
              <a:t>Communication model:   duration = α × </a:t>
            </a:r>
            <a:r>
              <a:rPr sz="1300" b="0" dirty="0" err="1">
                <a:solidFill>
                  <a:srgbClr val="1F3864"/>
                </a:solidFill>
                <a:latin typeface="Calibri"/>
              </a:rPr>
              <a:t>hop_count</a:t>
            </a:r>
            <a:r>
              <a:rPr sz="1300" b="0" dirty="0">
                <a:solidFill>
                  <a:srgbClr val="1F3864"/>
                </a:solidFill>
                <a:latin typeface="Calibri"/>
              </a:rPr>
              <a:t> + β × volume
NoC: 4×4 homogeneous 2D mesh  |  XY routing  |  16 processors</a:t>
            </a:r>
          </a:p>
        </p:txBody>
      </p:sp>
      <p:grpSp>
        <p:nvGrpSpPr>
          <p:cNvPr id="28" name="Grup 27">
            <a:extLst>
              <a:ext uri="{FF2B5EF4-FFF2-40B4-BE49-F238E27FC236}">
                <a16:creationId xmlns:a16="http://schemas.microsoft.com/office/drawing/2014/main" id="{F3450404-66DC-F538-B83B-F6B30CF97BFD}"/>
              </a:ext>
            </a:extLst>
          </p:cNvPr>
          <p:cNvGrpSpPr/>
          <p:nvPr/>
        </p:nvGrpSpPr>
        <p:grpSpPr>
          <a:xfrm>
            <a:off x="1125043" y="1562324"/>
            <a:ext cx="9870280" cy="2841304"/>
            <a:chOff x="1125045" y="2436454"/>
            <a:chExt cx="9870280" cy="2841304"/>
          </a:xfrm>
        </p:grpSpPr>
        <p:pic>
          <p:nvPicPr>
            <p:cNvPr id="22" name="Resim 21">
              <a:extLst>
                <a:ext uri="{FF2B5EF4-FFF2-40B4-BE49-F238E27FC236}">
                  <a16:creationId xmlns:a16="http://schemas.microsoft.com/office/drawing/2014/main" id="{A0D5B87C-E8C5-FD69-0562-E47E17AA1CC4}"/>
                </a:ext>
              </a:extLst>
            </p:cNvPr>
            <p:cNvPicPr>
              <a:picLocks noChangeAspect="1"/>
            </p:cNvPicPr>
            <p:nvPr/>
          </p:nvPicPr>
          <p:blipFill>
            <a:blip r:embed="rId3"/>
            <a:srcRect t="85461"/>
            <a:stretch>
              <a:fillRect/>
            </a:stretch>
          </p:blipFill>
          <p:spPr>
            <a:xfrm>
              <a:off x="1125045" y="4814170"/>
              <a:ext cx="9870279" cy="463588"/>
            </a:xfrm>
            <a:prstGeom prst="rect">
              <a:avLst/>
            </a:prstGeom>
          </p:spPr>
        </p:pic>
        <p:pic>
          <p:nvPicPr>
            <p:cNvPr id="27" name="Resim 26">
              <a:extLst>
                <a:ext uri="{FF2B5EF4-FFF2-40B4-BE49-F238E27FC236}">
                  <a16:creationId xmlns:a16="http://schemas.microsoft.com/office/drawing/2014/main" id="{2548D298-3FE3-465B-95C1-46E53DBE507B}"/>
                </a:ext>
              </a:extLst>
            </p:cNvPr>
            <p:cNvPicPr>
              <a:picLocks noChangeAspect="1"/>
            </p:cNvPicPr>
            <p:nvPr/>
          </p:nvPicPr>
          <p:blipFill>
            <a:blip r:embed="rId3"/>
            <a:srcRect b="24229"/>
            <a:stretch>
              <a:fillRect/>
            </a:stretch>
          </p:blipFill>
          <p:spPr>
            <a:xfrm>
              <a:off x="1125046" y="2436454"/>
              <a:ext cx="9870279" cy="2415961"/>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B40AF-80A0-C8B8-5C07-7E0B3F1BCC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FD2384-B5B6-46A6-8459-E8D7ADD34BEF}"/>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Variables I</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C9391CBB-F928-CDAB-61DA-F0DB41670A4F}"/>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9BD6C2A-3B19-0546-333A-4BE88B94B035}"/>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3 / 12</a:t>
            </a:r>
          </a:p>
        </p:txBody>
      </p:sp>
      <p:pic>
        <p:nvPicPr>
          <p:cNvPr id="14" name="Resim 13">
            <a:extLst>
              <a:ext uri="{FF2B5EF4-FFF2-40B4-BE49-F238E27FC236}">
                <a16:creationId xmlns:a16="http://schemas.microsoft.com/office/drawing/2014/main" id="{7CAA2D03-0190-8B7B-0441-746C6445F689}"/>
              </a:ext>
            </a:extLst>
          </p:cNvPr>
          <p:cNvPicPr>
            <a:picLocks noChangeAspect="1"/>
          </p:cNvPicPr>
          <p:nvPr/>
        </p:nvPicPr>
        <p:blipFill>
          <a:blip r:embed="rId3"/>
          <a:stretch>
            <a:fillRect/>
          </a:stretch>
        </p:blipFill>
        <p:spPr>
          <a:xfrm>
            <a:off x="1876425" y="1446212"/>
            <a:ext cx="8210550" cy="4524375"/>
          </a:xfrm>
          <a:prstGeom prst="rect">
            <a:avLst/>
          </a:prstGeom>
        </p:spPr>
      </p:pic>
    </p:spTree>
    <p:extLst>
      <p:ext uri="{BB962C8B-B14F-4D97-AF65-F5344CB8AC3E}">
        <p14:creationId xmlns:p14="http://schemas.microsoft.com/office/powerpoint/2010/main" val="3800663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43ED-A90E-0B54-6C0E-5E758EA45E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65DD8E-BD0D-9EC5-D670-1F23BA8A5BAA}"/>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Variables II</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8726EED0-35DF-2BB4-32BC-F94450C8C3EE}"/>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2820332-12C0-F6AA-A0EC-E27F78C189A7}"/>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3 / 12</a:t>
            </a:r>
          </a:p>
        </p:txBody>
      </p:sp>
      <p:pic>
        <p:nvPicPr>
          <p:cNvPr id="6" name="Resim 5">
            <a:extLst>
              <a:ext uri="{FF2B5EF4-FFF2-40B4-BE49-F238E27FC236}">
                <a16:creationId xmlns:a16="http://schemas.microsoft.com/office/drawing/2014/main" id="{C1F110BC-9C16-42E5-07FF-49550BEF63FE}"/>
              </a:ext>
            </a:extLst>
          </p:cNvPr>
          <p:cNvPicPr>
            <a:picLocks noChangeAspect="1"/>
          </p:cNvPicPr>
          <p:nvPr/>
        </p:nvPicPr>
        <p:blipFill>
          <a:blip r:embed="rId3"/>
          <a:stretch>
            <a:fillRect/>
          </a:stretch>
        </p:blipFill>
        <p:spPr>
          <a:xfrm>
            <a:off x="1943100" y="1565910"/>
            <a:ext cx="8305800" cy="4457700"/>
          </a:xfrm>
          <a:prstGeom prst="rect">
            <a:avLst/>
          </a:prstGeom>
        </p:spPr>
      </p:pic>
    </p:spTree>
    <p:extLst>
      <p:ext uri="{BB962C8B-B14F-4D97-AF65-F5344CB8AC3E}">
        <p14:creationId xmlns:p14="http://schemas.microsoft.com/office/powerpoint/2010/main" val="2391301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85E0D-91DC-E1E4-37FF-B43F3BABE5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9985D4-1C9C-0B4A-3661-EC75777DF8BD}"/>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Variables III /Contention Model: u and a</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3C42E04B-FFE4-C4A8-0F56-65759807B0B3}"/>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8E8D7C3-8C51-896D-096F-197B008B7136}"/>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3 / 12</a:t>
            </a:r>
          </a:p>
        </p:txBody>
      </p:sp>
      <p:pic>
        <p:nvPicPr>
          <p:cNvPr id="11" name="Resim 10">
            <a:extLst>
              <a:ext uri="{FF2B5EF4-FFF2-40B4-BE49-F238E27FC236}">
                <a16:creationId xmlns:a16="http://schemas.microsoft.com/office/drawing/2014/main" id="{21B05000-53FA-D449-3DBD-67B68B2E3B0B}"/>
              </a:ext>
            </a:extLst>
          </p:cNvPr>
          <p:cNvPicPr>
            <a:picLocks noChangeAspect="1"/>
          </p:cNvPicPr>
          <p:nvPr/>
        </p:nvPicPr>
        <p:blipFill>
          <a:blip r:embed="rId3"/>
          <a:stretch>
            <a:fillRect/>
          </a:stretch>
        </p:blipFill>
        <p:spPr>
          <a:xfrm>
            <a:off x="1509712" y="1327784"/>
            <a:ext cx="8258175" cy="2466975"/>
          </a:xfrm>
          <a:prstGeom prst="rect">
            <a:avLst/>
          </a:prstGeom>
        </p:spPr>
      </p:pic>
      <p:pic>
        <p:nvPicPr>
          <p:cNvPr id="13" name="Resim 12">
            <a:extLst>
              <a:ext uri="{FF2B5EF4-FFF2-40B4-BE49-F238E27FC236}">
                <a16:creationId xmlns:a16="http://schemas.microsoft.com/office/drawing/2014/main" id="{D0C6602C-6AA9-F832-A0AD-DEC47A0C6BA5}"/>
              </a:ext>
            </a:extLst>
          </p:cNvPr>
          <p:cNvPicPr>
            <a:picLocks noChangeAspect="1"/>
          </p:cNvPicPr>
          <p:nvPr/>
        </p:nvPicPr>
        <p:blipFill>
          <a:blip r:embed="rId4"/>
          <a:stretch>
            <a:fillRect/>
          </a:stretch>
        </p:blipFill>
        <p:spPr>
          <a:xfrm>
            <a:off x="1509711" y="3887152"/>
            <a:ext cx="8258175" cy="2676525"/>
          </a:xfrm>
          <a:prstGeom prst="rect">
            <a:avLst/>
          </a:prstGeom>
        </p:spPr>
      </p:pic>
    </p:spTree>
    <p:extLst>
      <p:ext uri="{BB962C8B-B14F-4D97-AF65-F5344CB8AC3E}">
        <p14:creationId xmlns:p14="http://schemas.microsoft.com/office/powerpoint/2010/main" val="1392732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65B4C-616F-AAE6-15FC-CFDBC786E3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70CE7B-E39C-A381-650D-788D6DF2B06E}"/>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Variables IV /Scheduling Decision Variables</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35121A2C-132C-04B4-5E82-C09A1442D6C6}"/>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AB28DB9-D582-2BC2-DF6E-5239F7053C66}"/>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3 / 12</a:t>
            </a:r>
          </a:p>
        </p:txBody>
      </p:sp>
      <p:pic>
        <p:nvPicPr>
          <p:cNvPr id="6" name="Resim 5">
            <a:extLst>
              <a:ext uri="{FF2B5EF4-FFF2-40B4-BE49-F238E27FC236}">
                <a16:creationId xmlns:a16="http://schemas.microsoft.com/office/drawing/2014/main" id="{7D09F468-9E17-BB3E-1B09-8190FAE999AA}"/>
              </a:ext>
            </a:extLst>
          </p:cNvPr>
          <p:cNvPicPr>
            <a:picLocks noChangeAspect="1"/>
          </p:cNvPicPr>
          <p:nvPr/>
        </p:nvPicPr>
        <p:blipFill>
          <a:blip r:embed="rId3"/>
          <a:stretch>
            <a:fillRect/>
          </a:stretch>
        </p:blipFill>
        <p:spPr>
          <a:xfrm>
            <a:off x="1619250" y="1285875"/>
            <a:ext cx="8267700" cy="2143125"/>
          </a:xfrm>
          <a:prstGeom prst="rect">
            <a:avLst/>
          </a:prstGeom>
        </p:spPr>
      </p:pic>
      <p:pic>
        <p:nvPicPr>
          <p:cNvPr id="8" name="Resim 7">
            <a:extLst>
              <a:ext uri="{FF2B5EF4-FFF2-40B4-BE49-F238E27FC236}">
                <a16:creationId xmlns:a16="http://schemas.microsoft.com/office/drawing/2014/main" id="{35E258FD-E670-AD47-79A3-E14D69F56AF5}"/>
              </a:ext>
            </a:extLst>
          </p:cNvPr>
          <p:cNvPicPr>
            <a:picLocks noChangeAspect="1"/>
          </p:cNvPicPr>
          <p:nvPr/>
        </p:nvPicPr>
        <p:blipFill>
          <a:blip r:embed="rId4"/>
          <a:stretch>
            <a:fillRect/>
          </a:stretch>
        </p:blipFill>
        <p:spPr>
          <a:xfrm>
            <a:off x="1662112" y="3165475"/>
            <a:ext cx="8181975" cy="3057525"/>
          </a:xfrm>
          <a:prstGeom prst="rect">
            <a:avLst/>
          </a:prstGeom>
        </p:spPr>
      </p:pic>
    </p:spTree>
    <p:extLst>
      <p:ext uri="{BB962C8B-B14F-4D97-AF65-F5344CB8AC3E}">
        <p14:creationId xmlns:p14="http://schemas.microsoft.com/office/powerpoint/2010/main" val="2090158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4C10-EAC3-52E8-6BE9-7C6B9CFD17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CC97922-27DB-BA66-5CD8-5D0BA9F39827}"/>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CA-D Algorithm</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9BAFA97A-8214-3F79-06FC-B472810141C6}"/>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BD7F7C6-D93C-3A2E-5385-FEA2951947B2}"/>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3 / 12</a:t>
            </a:r>
          </a:p>
        </p:txBody>
      </p:sp>
      <p:grpSp>
        <p:nvGrpSpPr>
          <p:cNvPr id="12" name="Grup 11">
            <a:extLst>
              <a:ext uri="{FF2B5EF4-FFF2-40B4-BE49-F238E27FC236}">
                <a16:creationId xmlns:a16="http://schemas.microsoft.com/office/drawing/2014/main" id="{F132409B-F5D1-ADA1-E972-3C7221C475B2}"/>
              </a:ext>
            </a:extLst>
          </p:cNvPr>
          <p:cNvGrpSpPr/>
          <p:nvPr/>
        </p:nvGrpSpPr>
        <p:grpSpPr>
          <a:xfrm>
            <a:off x="2146300" y="1127098"/>
            <a:ext cx="7469034" cy="5591202"/>
            <a:chOff x="2146300" y="1127098"/>
            <a:chExt cx="7469034" cy="5591202"/>
          </a:xfrm>
        </p:grpSpPr>
        <p:grpSp>
          <p:nvGrpSpPr>
            <p:cNvPr id="10" name="Grup 9">
              <a:extLst>
                <a:ext uri="{FF2B5EF4-FFF2-40B4-BE49-F238E27FC236}">
                  <a16:creationId xmlns:a16="http://schemas.microsoft.com/office/drawing/2014/main" id="{97301C47-54AD-79E2-A3BF-80151080BB7B}"/>
                </a:ext>
              </a:extLst>
            </p:cNvPr>
            <p:cNvGrpSpPr/>
            <p:nvPr/>
          </p:nvGrpSpPr>
          <p:grpSpPr>
            <a:xfrm>
              <a:off x="2146300" y="1127098"/>
              <a:ext cx="7469034" cy="5591202"/>
              <a:chOff x="2146300" y="1127098"/>
              <a:chExt cx="7469034" cy="5591202"/>
            </a:xfrm>
          </p:grpSpPr>
          <p:pic>
            <p:nvPicPr>
              <p:cNvPr id="7" name="Resim 6">
                <a:extLst>
                  <a:ext uri="{FF2B5EF4-FFF2-40B4-BE49-F238E27FC236}">
                    <a16:creationId xmlns:a16="http://schemas.microsoft.com/office/drawing/2014/main" id="{9EA49A57-A1E8-31C5-39CF-39B796D672DA}"/>
                  </a:ext>
                </a:extLst>
              </p:cNvPr>
              <p:cNvPicPr>
                <a:picLocks noChangeAspect="1"/>
              </p:cNvPicPr>
              <p:nvPr/>
            </p:nvPicPr>
            <p:blipFill>
              <a:blip r:embed="rId3"/>
              <a:stretch>
                <a:fillRect/>
              </a:stretch>
            </p:blipFill>
            <p:spPr>
              <a:xfrm>
                <a:off x="2146300" y="1127098"/>
                <a:ext cx="7469034" cy="5591202"/>
              </a:xfrm>
              <a:prstGeom prst="rect">
                <a:avLst/>
              </a:prstGeom>
            </p:spPr>
          </p:pic>
          <p:pic>
            <p:nvPicPr>
              <p:cNvPr id="9" name="Resim 8">
                <a:extLst>
                  <a:ext uri="{FF2B5EF4-FFF2-40B4-BE49-F238E27FC236}">
                    <a16:creationId xmlns:a16="http://schemas.microsoft.com/office/drawing/2014/main" id="{D5825315-C3D4-32E1-3A82-5998D0F15DB5}"/>
                  </a:ext>
                </a:extLst>
              </p:cNvPr>
              <p:cNvPicPr>
                <a:picLocks noChangeAspect="1"/>
              </p:cNvPicPr>
              <p:nvPr/>
            </p:nvPicPr>
            <p:blipFill>
              <a:blip r:embed="rId3"/>
              <a:srcRect l="53731" t="51073" r="42698" b="44611"/>
              <a:stretch>
                <a:fillRect/>
              </a:stretch>
            </p:blipFill>
            <p:spPr>
              <a:xfrm>
                <a:off x="2327275" y="3962400"/>
                <a:ext cx="815975" cy="241300"/>
              </a:xfrm>
              <a:prstGeom prst="rect">
                <a:avLst/>
              </a:prstGeom>
            </p:spPr>
          </p:pic>
        </p:grpSp>
        <p:pic>
          <p:nvPicPr>
            <p:cNvPr id="11" name="Resim 10">
              <a:extLst>
                <a:ext uri="{FF2B5EF4-FFF2-40B4-BE49-F238E27FC236}">
                  <a16:creationId xmlns:a16="http://schemas.microsoft.com/office/drawing/2014/main" id="{7E546D67-0117-2D4B-6D7B-C8E211351C10}"/>
                </a:ext>
              </a:extLst>
            </p:cNvPr>
            <p:cNvPicPr>
              <a:picLocks noChangeAspect="1"/>
            </p:cNvPicPr>
            <p:nvPr/>
          </p:nvPicPr>
          <p:blipFill>
            <a:blip r:embed="rId3"/>
            <a:srcRect l="43698" t="43903" r="33517" b="53707"/>
            <a:stretch>
              <a:fillRect/>
            </a:stretch>
          </p:blipFill>
          <p:spPr>
            <a:xfrm>
              <a:off x="2292349" y="3565652"/>
              <a:ext cx="2828925" cy="222092"/>
            </a:xfrm>
            <a:prstGeom prst="rect">
              <a:avLst/>
            </a:prstGeom>
          </p:spPr>
        </p:pic>
      </p:grpSp>
    </p:spTree>
    <p:extLst>
      <p:ext uri="{BB962C8B-B14F-4D97-AF65-F5344CB8AC3E}">
        <p14:creationId xmlns:p14="http://schemas.microsoft.com/office/powerpoint/2010/main" val="333933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DB615-7D37-641D-A2E4-1AAB0719CD0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451D09-26C0-7E98-CACA-6B49CD7F09A9}"/>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Fair Replay Methodology: Why and How</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6C604C15-1EC0-08B8-D4AB-A43584BD1AEB}"/>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85B2BE6-32AF-9C55-F9C1-F0F3D42789F5}"/>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7 / 12</a:t>
            </a:r>
          </a:p>
        </p:txBody>
      </p:sp>
      <p:pic>
        <p:nvPicPr>
          <p:cNvPr id="10" name="Resim 9">
            <a:extLst>
              <a:ext uri="{FF2B5EF4-FFF2-40B4-BE49-F238E27FC236}">
                <a16:creationId xmlns:a16="http://schemas.microsoft.com/office/drawing/2014/main" id="{204BB8DF-6FAA-92A7-CA66-54B73593FAE4}"/>
              </a:ext>
            </a:extLst>
          </p:cNvPr>
          <p:cNvPicPr>
            <a:picLocks noChangeAspect="1"/>
          </p:cNvPicPr>
          <p:nvPr/>
        </p:nvPicPr>
        <p:blipFill>
          <a:blip r:embed="rId3"/>
          <a:stretch>
            <a:fillRect/>
          </a:stretch>
        </p:blipFill>
        <p:spPr>
          <a:xfrm>
            <a:off x="1614153" y="1395412"/>
            <a:ext cx="8963694" cy="4329748"/>
          </a:xfrm>
          <a:prstGeom prst="rect">
            <a:avLst/>
          </a:prstGeom>
        </p:spPr>
      </p:pic>
    </p:spTree>
    <p:extLst>
      <p:ext uri="{BB962C8B-B14F-4D97-AF65-F5344CB8AC3E}">
        <p14:creationId xmlns:p14="http://schemas.microsoft.com/office/powerpoint/2010/main" val="70037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0DD2-F20C-1A10-3DD4-FD8B09BAFF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90038DB-34B3-6751-9D97-B20DBFEDD1B0}"/>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Evaluation Metrics</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C1E5BE63-6BBF-29A9-E484-881110D653F9}"/>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DDB8071-B92A-5059-E159-BFAEFDFE2778}"/>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7 / 12</a:t>
            </a:r>
          </a:p>
        </p:txBody>
      </p:sp>
      <p:grpSp>
        <p:nvGrpSpPr>
          <p:cNvPr id="10" name="Grup 9">
            <a:extLst>
              <a:ext uri="{FF2B5EF4-FFF2-40B4-BE49-F238E27FC236}">
                <a16:creationId xmlns:a16="http://schemas.microsoft.com/office/drawing/2014/main" id="{BF327C6F-96D1-ACE3-235E-3A6117F8319D}"/>
              </a:ext>
            </a:extLst>
          </p:cNvPr>
          <p:cNvGrpSpPr/>
          <p:nvPr/>
        </p:nvGrpSpPr>
        <p:grpSpPr>
          <a:xfrm>
            <a:off x="0" y="1208038"/>
            <a:ext cx="12192000" cy="4949924"/>
            <a:chOff x="0" y="1208038"/>
            <a:chExt cx="12192000" cy="4949924"/>
          </a:xfrm>
        </p:grpSpPr>
        <p:pic>
          <p:nvPicPr>
            <p:cNvPr id="8" name="Resim 7">
              <a:extLst>
                <a:ext uri="{FF2B5EF4-FFF2-40B4-BE49-F238E27FC236}">
                  <a16:creationId xmlns:a16="http://schemas.microsoft.com/office/drawing/2014/main" id="{14BE0146-0347-AA11-2678-4306FC385C53}"/>
                </a:ext>
              </a:extLst>
            </p:cNvPr>
            <p:cNvPicPr>
              <a:picLocks noChangeAspect="1"/>
            </p:cNvPicPr>
            <p:nvPr/>
          </p:nvPicPr>
          <p:blipFill>
            <a:blip r:embed="rId3"/>
            <a:stretch>
              <a:fillRect/>
            </a:stretch>
          </p:blipFill>
          <p:spPr>
            <a:xfrm>
              <a:off x="0" y="1208038"/>
              <a:ext cx="12192000" cy="4949924"/>
            </a:xfrm>
            <a:prstGeom prst="rect">
              <a:avLst/>
            </a:prstGeom>
          </p:spPr>
        </p:pic>
        <p:pic>
          <p:nvPicPr>
            <p:cNvPr id="9" name="Resim 8">
              <a:extLst>
                <a:ext uri="{FF2B5EF4-FFF2-40B4-BE49-F238E27FC236}">
                  <a16:creationId xmlns:a16="http://schemas.microsoft.com/office/drawing/2014/main" id="{5D6B4713-5B4E-5B4E-D544-A25E161A3A6E}"/>
                </a:ext>
              </a:extLst>
            </p:cNvPr>
            <p:cNvPicPr>
              <a:picLocks noChangeAspect="1"/>
            </p:cNvPicPr>
            <p:nvPr/>
          </p:nvPicPr>
          <p:blipFill>
            <a:blip r:embed="rId3"/>
            <a:srcRect t="70648" b="26221"/>
            <a:stretch>
              <a:fillRect/>
            </a:stretch>
          </p:blipFill>
          <p:spPr>
            <a:xfrm>
              <a:off x="0" y="4857496"/>
              <a:ext cx="12192000" cy="895604"/>
            </a:xfrm>
            <a:prstGeom prst="rect">
              <a:avLst/>
            </a:prstGeom>
          </p:spPr>
        </p:pic>
      </p:grpSp>
    </p:spTree>
    <p:extLst>
      <p:ext uri="{BB962C8B-B14F-4D97-AF65-F5344CB8AC3E}">
        <p14:creationId xmlns:p14="http://schemas.microsoft.com/office/powerpoint/2010/main" val="4137058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DAG Families Used for Evaluation</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8 / 12</a:t>
            </a:r>
          </a:p>
        </p:txBody>
      </p:sp>
      <p:sp>
        <p:nvSpPr>
          <p:cNvPr id="5" name="Rectangle 4"/>
          <p:cNvSpPr/>
          <p:nvPr/>
        </p:nvSpPr>
        <p:spPr>
          <a:xfrm>
            <a:off x="347472" y="1152144"/>
            <a:ext cx="2764459" cy="365760"/>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Chain</a:t>
            </a:r>
          </a:p>
        </p:txBody>
      </p:sp>
      <p:sp>
        <p:nvSpPr>
          <p:cNvPr id="6" name="TextBox 5"/>
          <p:cNvSpPr txBox="1"/>
          <p:nvPr/>
        </p:nvSpPr>
        <p:spPr>
          <a:xfrm>
            <a:off x="347472" y="1554480"/>
            <a:ext cx="2764459" cy="685800"/>
          </a:xfrm>
          <a:prstGeom prst="rect">
            <a:avLst/>
          </a:prstGeom>
          <a:noFill/>
        </p:spPr>
        <p:txBody>
          <a:bodyPr wrap="square" lIns="0" tIns="0">
            <a:spAutoFit/>
          </a:bodyPr>
          <a:lstStyle/>
          <a:p>
            <a:pPr algn="l"/>
            <a:r>
              <a:rPr sz="1200" b="0" i="0">
                <a:solidFill>
                  <a:srgbClr val="555555"/>
                </a:solidFill>
                <a:latin typeface="Calibri"/>
              </a:rPr>
              <a:t>Linear dependency chain.
Negative control: no parallelism.</a:t>
            </a:r>
          </a:p>
        </p:txBody>
      </p:sp>
      <p:sp>
        <p:nvSpPr>
          <p:cNvPr id="7" name="Rectangle 6"/>
          <p:cNvSpPr/>
          <p:nvPr/>
        </p:nvSpPr>
        <p:spPr>
          <a:xfrm>
            <a:off x="3258235" y="1152144"/>
            <a:ext cx="2764459" cy="365760"/>
          </a:xfrm>
          <a:prstGeom prst="rect">
            <a:avLst/>
          </a:prstGeom>
          <a:solidFill>
            <a:srgbClr val="D6604D"/>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Fork</a:t>
            </a:r>
          </a:p>
        </p:txBody>
      </p:sp>
      <p:sp>
        <p:nvSpPr>
          <p:cNvPr id="8" name="TextBox 7"/>
          <p:cNvSpPr txBox="1"/>
          <p:nvPr/>
        </p:nvSpPr>
        <p:spPr>
          <a:xfrm>
            <a:off x="3258235" y="1554480"/>
            <a:ext cx="2764459" cy="685800"/>
          </a:xfrm>
          <a:prstGeom prst="rect">
            <a:avLst/>
          </a:prstGeom>
          <a:noFill/>
        </p:spPr>
        <p:txBody>
          <a:bodyPr wrap="square" lIns="0" tIns="0">
            <a:spAutoFit/>
          </a:bodyPr>
          <a:lstStyle/>
          <a:p>
            <a:pPr algn="l"/>
            <a:r>
              <a:rPr sz="1200" b="0" i="0">
                <a:solidFill>
                  <a:srgbClr val="555555"/>
                </a:solidFill>
                <a:latin typeface="Calibri"/>
              </a:rPr>
              <a:t>Root → 8 leaves.
Parent dup eliminates all remote comm.</a:t>
            </a:r>
          </a:p>
        </p:txBody>
      </p:sp>
      <p:sp>
        <p:nvSpPr>
          <p:cNvPr id="9" name="Rectangle 8"/>
          <p:cNvSpPr/>
          <p:nvPr/>
        </p:nvSpPr>
        <p:spPr>
          <a:xfrm>
            <a:off x="6168999" y="1152144"/>
            <a:ext cx="2764459" cy="365760"/>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Out-tree</a:t>
            </a:r>
          </a:p>
        </p:txBody>
      </p:sp>
      <p:sp>
        <p:nvSpPr>
          <p:cNvPr id="10" name="TextBox 9"/>
          <p:cNvSpPr txBox="1"/>
          <p:nvPr/>
        </p:nvSpPr>
        <p:spPr>
          <a:xfrm>
            <a:off x="6168999" y="1554480"/>
            <a:ext cx="2764459" cy="685800"/>
          </a:xfrm>
          <a:prstGeom prst="rect">
            <a:avLst/>
          </a:prstGeom>
          <a:noFill/>
        </p:spPr>
        <p:txBody>
          <a:bodyPr wrap="square" lIns="0" tIns="0">
            <a:spAutoFit/>
          </a:bodyPr>
          <a:lstStyle/>
          <a:p>
            <a:pPr algn="l"/>
            <a:r>
              <a:rPr sz="1200" b="0" i="0">
                <a:solidFill>
                  <a:srgbClr val="555555"/>
                </a:solidFill>
                <a:latin typeface="Calibri"/>
              </a:rPr>
              <a:t>Depth=2, branching=2.
Recursive dup provides additional benefit.</a:t>
            </a:r>
          </a:p>
        </p:txBody>
      </p:sp>
      <p:sp>
        <p:nvSpPr>
          <p:cNvPr id="11" name="Rectangle 10"/>
          <p:cNvSpPr/>
          <p:nvPr/>
        </p:nvSpPr>
        <p:spPr>
          <a:xfrm>
            <a:off x="9079763" y="1152144"/>
            <a:ext cx="2764459" cy="365760"/>
          </a:xfrm>
          <a:prstGeom prst="rect">
            <a:avLst/>
          </a:prstGeom>
          <a:solidFill>
            <a:srgbClr val="CCBB4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Fork-join</a:t>
            </a:r>
          </a:p>
        </p:txBody>
      </p:sp>
      <p:sp>
        <p:nvSpPr>
          <p:cNvPr id="12" name="TextBox 11"/>
          <p:cNvSpPr txBox="1"/>
          <p:nvPr/>
        </p:nvSpPr>
        <p:spPr>
          <a:xfrm>
            <a:off x="9079763" y="1554480"/>
            <a:ext cx="2764459" cy="685800"/>
          </a:xfrm>
          <a:prstGeom prst="rect">
            <a:avLst/>
          </a:prstGeom>
          <a:noFill/>
        </p:spPr>
        <p:txBody>
          <a:bodyPr wrap="square" lIns="0" tIns="0">
            <a:spAutoFit/>
          </a:bodyPr>
          <a:lstStyle/>
          <a:p>
            <a:pPr algn="l"/>
            <a:r>
              <a:rPr sz="1200" b="0" i="0">
                <a:solidFill>
                  <a:srgbClr val="555555"/>
                </a:solidFill>
                <a:latin typeface="Calibri"/>
              </a:rPr>
              <a:t>4 branches, each length 3.
Most sensitive to contention effects.</a:t>
            </a:r>
          </a:p>
        </p:txBody>
      </p:sp>
      <p:pic>
        <p:nvPicPr>
          <p:cNvPr id="13" name="Picture 12" descr="fig1_dag_family_topologies.png"/>
          <p:cNvPicPr>
            <a:picLocks noChangeAspect="1"/>
          </p:cNvPicPr>
          <p:nvPr/>
        </p:nvPicPr>
        <p:blipFill>
          <a:blip r:embed="rId3"/>
          <a:stretch>
            <a:fillRect/>
          </a:stretch>
        </p:blipFill>
        <p:spPr>
          <a:xfrm>
            <a:off x="347472" y="2313432"/>
            <a:ext cx="11496751" cy="30287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Schedule Examples: Out-tree Gantt Charts</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9 / 12</a:t>
            </a:r>
          </a:p>
        </p:txBody>
      </p:sp>
      <p:sp>
        <p:nvSpPr>
          <p:cNvPr id="5" name="TextBox 4"/>
          <p:cNvSpPr txBox="1"/>
          <p:nvPr/>
        </p:nvSpPr>
        <p:spPr>
          <a:xfrm>
            <a:off x="347472" y="1133856"/>
            <a:ext cx="11496751" cy="728405"/>
          </a:xfrm>
          <a:prstGeom prst="rect">
            <a:avLst/>
          </a:prstGeom>
          <a:noFill/>
        </p:spPr>
        <p:txBody>
          <a:bodyPr wrap="square" lIns="0" tIns="0">
            <a:spAutoFit/>
          </a:bodyPr>
          <a:lstStyle/>
          <a:p>
            <a:pPr algn="l">
              <a:spcBef>
                <a:spcPts val="500"/>
              </a:spcBef>
              <a:spcAft>
                <a:spcPts val="0"/>
              </a:spcAft>
            </a:pPr>
            <a:r>
              <a:rPr sz="1200" b="0" dirty="0">
                <a:solidFill>
                  <a:srgbClr val="000000"/>
                </a:solidFill>
                <a:latin typeface="Calibri"/>
              </a:rPr>
              <a:t>• Out-tree (depth=2, branching=2): shows recursive duplication benefit clearly</a:t>
            </a:r>
          </a:p>
          <a:p>
            <a:pPr algn="l">
              <a:spcBef>
                <a:spcPts val="500"/>
              </a:spcBef>
              <a:spcAft>
                <a:spcPts val="0"/>
              </a:spcAft>
            </a:pPr>
            <a:r>
              <a:rPr sz="1200" b="0" dirty="0">
                <a:solidFill>
                  <a:srgbClr val="555555"/>
                </a:solidFill>
                <a:latin typeface="Calibri"/>
              </a:rPr>
              <a:t>• Each row = one processor.  Solid bars = primary tasks.  Hatched bars = duplicate tasks.</a:t>
            </a:r>
          </a:p>
          <a:p>
            <a:pPr algn="l">
              <a:spcBef>
                <a:spcPts val="500"/>
              </a:spcBef>
              <a:spcAft>
                <a:spcPts val="0"/>
              </a:spcAft>
            </a:pPr>
            <a:r>
              <a:rPr sz="1200" b="0" dirty="0">
                <a:solidFill>
                  <a:srgbClr val="000000"/>
                </a:solidFill>
                <a:latin typeface="Calibri"/>
              </a:rPr>
              <a:t>• CCR=1.0 (low): schedulers differ in placement.   CCR=10.0 (high): CA-D eliminates remote comm.</a:t>
            </a:r>
          </a:p>
        </p:txBody>
      </p:sp>
      <p:pic>
        <p:nvPicPr>
          <p:cNvPr id="6" name="Picture 5" descr="fig4b_out_tree_gantt.png"/>
          <p:cNvPicPr>
            <a:picLocks noChangeAspect="1"/>
          </p:cNvPicPr>
          <p:nvPr/>
        </p:nvPicPr>
        <p:blipFill>
          <a:blip r:embed="rId3"/>
          <a:stretch>
            <a:fillRect/>
          </a:stretch>
        </p:blipFill>
        <p:spPr>
          <a:xfrm>
            <a:off x="1277072" y="1829419"/>
            <a:ext cx="9637855" cy="498286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Results: Replayed Speedup and Replay Overhead vs CCR</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10 / 12</a:t>
            </a:r>
          </a:p>
        </p:txBody>
      </p:sp>
      <p:sp>
        <p:nvSpPr>
          <p:cNvPr id="5" name="TextBox 4"/>
          <p:cNvSpPr txBox="1"/>
          <p:nvPr/>
        </p:nvSpPr>
        <p:spPr>
          <a:xfrm>
            <a:off x="338635" y="1124712"/>
            <a:ext cx="11496751" cy="713232"/>
          </a:xfrm>
          <a:prstGeom prst="rect">
            <a:avLst/>
          </a:prstGeom>
          <a:noFill/>
        </p:spPr>
        <p:txBody>
          <a:bodyPr wrap="square" lIns="0" tIns="0">
            <a:spAutoFit/>
          </a:bodyPr>
          <a:lstStyle/>
          <a:p>
            <a:pPr algn="l">
              <a:spcBef>
                <a:spcPts val="500"/>
              </a:spcBef>
              <a:spcAft>
                <a:spcPts val="0"/>
              </a:spcAft>
            </a:pPr>
            <a:r>
              <a:rPr sz="1500" b="0" dirty="0">
                <a:solidFill>
                  <a:srgbClr val="000000"/>
                </a:solidFill>
                <a:latin typeface="Calibri"/>
              </a:rPr>
              <a:t>• Replayed speedup vs HEFT  =  </a:t>
            </a:r>
            <a:r>
              <a:rPr sz="1500" b="0" dirty="0" err="1">
                <a:solidFill>
                  <a:srgbClr val="000000"/>
                </a:solidFill>
                <a:latin typeface="Calibri"/>
              </a:rPr>
              <a:t>HEFT_replayed</a:t>
            </a:r>
            <a:r>
              <a:rPr sz="1500" b="0" dirty="0">
                <a:solidFill>
                  <a:srgbClr val="000000"/>
                </a:solidFill>
                <a:latin typeface="Calibri"/>
              </a:rPr>
              <a:t> / </a:t>
            </a:r>
            <a:r>
              <a:rPr sz="1500" b="0" dirty="0" err="1">
                <a:solidFill>
                  <a:srgbClr val="000000"/>
                </a:solidFill>
                <a:latin typeface="Calibri"/>
              </a:rPr>
              <a:t>scheduler_replayed</a:t>
            </a:r>
            <a:r>
              <a:rPr sz="1500" b="0" dirty="0">
                <a:solidFill>
                  <a:srgbClr val="000000"/>
                </a:solidFill>
                <a:latin typeface="Calibri"/>
              </a:rPr>
              <a:t>  (higher is better)</a:t>
            </a:r>
          </a:p>
          <a:p>
            <a:pPr algn="l">
              <a:spcBef>
                <a:spcPts val="500"/>
              </a:spcBef>
              <a:spcAft>
                <a:spcPts val="0"/>
              </a:spcAft>
            </a:pPr>
            <a:r>
              <a:rPr sz="1500" b="0" dirty="0">
                <a:solidFill>
                  <a:srgbClr val="000000"/>
                </a:solidFill>
                <a:latin typeface="Calibri"/>
              </a:rPr>
              <a:t>• Replay overhead ratio  =  replayed / native  (1.0 = model was accurate)</a:t>
            </a:r>
          </a:p>
          <a:p>
            <a:pPr algn="l">
              <a:spcBef>
                <a:spcPts val="500"/>
              </a:spcBef>
              <a:spcAft>
                <a:spcPts val="0"/>
              </a:spcAft>
            </a:pPr>
            <a:r>
              <a:rPr sz="1500" b="0" dirty="0">
                <a:solidFill>
                  <a:srgbClr val="555555"/>
                </a:solidFill>
                <a:latin typeface="Calibri"/>
              </a:rPr>
              <a:t>• CCR: Communication-to-Computation Ratio  —  higher CCR = communication-dominated</a:t>
            </a:r>
          </a:p>
        </p:txBody>
      </p:sp>
      <p:pic>
        <p:nvPicPr>
          <p:cNvPr id="6" name="Picture 5" descr="fig5_ccr_sweep_replayed_speedup.png"/>
          <p:cNvPicPr>
            <a:picLocks noChangeAspect="1"/>
          </p:cNvPicPr>
          <p:nvPr/>
        </p:nvPicPr>
        <p:blipFill>
          <a:blip r:embed="rId3"/>
          <a:stretch>
            <a:fillRect/>
          </a:stretch>
        </p:blipFill>
        <p:spPr>
          <a:xfrm>
            <a:off x="338635" y="1984248"/>
            <a:ext cx="5638647" cy="4046008"/>
          </a:xfrm>
          <a:prstGeom prst="rect">
            <a:avLst/>
          </a:prstGeom>
        </p:spPr>
      </p:pic>
      <p:pic>
        <p:nvPicPr>
          <p:cNvPr id="7" name="Picture 6" descr="fig6_replay_overhead_ratio.png"/>
          <p:cNvPicPr>
            <a:picLocks noChangeAspect="1"/>
          </p:cNvPicPr>
          <p:nvPr/>
        </p:nvPicPr>
        <p:blipFill>
          <a:blip r:embed="rId4"/>
          <a:stretch>
            <a:fillRect/>
          </a:stretch>
        </p:blipFill>
        <p:spPr>
          <a:xfrm>
            <a:off x="6205576" y="1984248"/>
            <a:ext cx="5638647" cy="4046008"/>
          </a:xfrm>
          <a:prstGeom prst="rect">
            <a:avLst/>
          </a:prstGeom>
        </p:spPr>
      </p:pic>
      <p:sp>
        <p:nvSpPr>
          <p:cNvPr id="8" name="TextBox 7"/>
          <p:cNvSpPr txBox="1"/>
          <p:nvPr/>
        </p:nvSpPr>
        <p:spPr>
          <a:xfrm>
            <a:off x="347472" y="6473952"/>
            <a:ext cx="11496751" cy="320040"/>
          </a:xfrm>
          <a:prstGeom prst="rect">
            <a:avLst/>
          </a:prstGeom>
          <a:noFill/>
        </p:spPr>
        <p:txBody>
          <a:bodyPr wrap="square" lIns="0" tIns="0">
            <a:spAutoFit/>
          </a:bodyPr>
          <a:lstStyle/>
          <a:p>
            <a:pPr algn="l"/>
            <a:r>
              <a:rPr sz="1100" b="0" i="1">
                <a:solidFill>
                  <a:srgbClr val="555555"/>
                </a:solidFill>
                <a:latin typeface="Calibri"/>
              </a:rPr>
              <a:t>Left: Speedup of CD-LS and CA-D vs HEFT.  Right: Replay overhead ratio. Chain: all equal.  Fork: CD-LS = CA-D.  Out-tree/Fork-join: CA-D outperforms CD-LS.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Duplication Cost and Remote Communication Reduction</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11 / 12</a:t>
            </a:r>
          </a:p>
        </p:txBody>
      </p:sp>
      <p:sp>
        <p:nvSpPr>
          <p:cNvPr id="5" name="TextBox 4"/>
          <p:cNvSpPr txBox="1"/>
          <p:nvPr/>
        </p:nvSpPr>
        <p:spPr>
          <a:xfrm>
            <a:off x="347472" y="1124712"/>
            <a:ext cx="11496751" cy="797654"/>
          </a:xfrm>
          <a:prstGeom prst="rect">
            <a:avLst/>
          </a:prstGeom>
          <a:noFill/>
        </p:spPr>
        <p:txBody>
          <a:bodyPr wrap="square" lIns="0" tIns="0">
            <a:spAutoFit/>
          </a:bodyPr>
          <a:lstStyle/>
          <a:p>
            <a:pPr algn="l">
              <a:spcBef>
                <a:spcPts val="500"/>
              </a:spcBef>
              <a:spcAft>
                <a:spcPts val="0"/>
              </a:spcAft>
            </a:pPr>
            <a:r>
              <a:rPr sz="1500" b="0" dirty="0">
                <a:solidFill>
                  <a:srgbClr val="000000"/>
                </a:solidFill>
                <a:latin typeface="Calibri"/>
              </a:rPr>
              <a:t>• Task Instance Ratio (TIR)  =  total instances / original task count</a:t>
            </a:r>
          </a:p>
          <a:p>
            <a:pPr algn="l">
              <a:spcBef>
                <a:spcPts val="200"/>
              </a:spcBef>
              <a:spcAft>
                <a:spcPts val="0"/>
              </a:spcAft>
            </a:pPr>
            <a:r>
              <a:rPr sz="1300" b="0" dirty="0">
                <a:solidFill>
                  <a:srgbClr val="555555"/>
                </a:solidFill>
                <a:latin typeface="Calibri"/>
              </a:rPr>
              <a:t>   – TIR = 1.0 means no duplication.  Higher TIR = more computation overhead.</a:t>
            </a:r>
          </a:p>
          <a:p>
            <a:pPr algn="l">
              <a:spcBef>
                <a:spcPts val="500"/>
              </a:spcBef>
              <a:spcAft>
                <a:spcPts val="0"/>
              </a:spcAft>
            </a:pPr>
            <a:r>
              <a:rPr sz="1500" b="0" dirty="0">
                <a:solidFill>
                  <a:srgbClr val="1F3864"/>
                </a:solidFill>
                <a:latin typeface="Calibri"/>
              </a:rPr>
              <a:t>• Trade-off: higher TIR should produce lower RCVR and lower replayed </a:t>
            </a:r>
            <a:r>
              <a:rPr sz="1500" b="0" dirty="0" err="1">
                <a:solidFill>
                  <a:srgbClr val="1F3864"/>
                </a:solidFill>
                <a:latin typeface="Calibri"/>
              </a:rPr>
              <a:t>makespan</a:t>
            </a:r>
            <a:endParaRPr sz="1500" b="0" dirty="0">
              <a:solidFill>
                <a:srgbClr val="1F3864"/>
              </a:solidFill>
              <a:latin typeface="Calibri"/>
            </a:endParaRPr>
          </a:p>
        </p:txBody>
      </p:sp>
      <p:pic>
        <p:nvPicPr>
          <p:cNvPr id="6" name="Picture 5" descr="fig7_task_instance_ratio.png"/>
          <p:cNvPicPr>
            <a:picLocks noChangeAspect="1"/>
          </p:cNvPicPr>
          <p:nvPr/>
        </p:nvPicPr>
        <p:blipFill>
          <a:blip r:embed="rId3"/>
          <a:stretch>
            <a:fillRect/>
          </a:stretch>
        </p:blipFill>
        <p:spPr>
          <a:xfrm>
            <a:off x="2267404" y="1880912"/>
            <a:ext cx="7656885" cy="4634495"/>
          </a:xfrm>
          <a:prstGeom prst="rect">
            <a:avLst/>
          </a:prstGeom>
        </p:spPr>
      </p:pic>
      <p:sp>
        <p:nvSpPr>
          <p:cNvPr id="8" name="TextBox 7"/>
          <p:cNvSpPr txBox="1"/>
          <p:nvPr/>
        </p:nvSpPr>
        <p:spPr>
          <a:xfrm>
            <a:off x="347472" y="6473952"/>
            <a:ext cx="11496751" cy="320040"/>
          </a:xfrm>
          <a:prstGeom prst="rect">
            <a:avLst/>
          </a:prstGeom>
          <a:noFill/>
        </p:spPr>
        <p:txBody>
          <a:bodyPr wrap="square" lIns="0" tIns="0">
            <a:spAutoFit/>
          </a:bodyPr>
          <a:lstStyle/>
          <a:p>
            <a:pPr algn="l"/>
            <a:r>
              <a:rPr sz="1100" b="0" i="1">
                <a:solidFill>
                  <a:srgbClr val="555555"/>
                </a:solidFill>
                <a:latin typeface="Calibri"/>
              </a:rPr>
              <a:t>Left: TIR vs CCR per DAG family.  Right: RCVR vs CCR. CA-D achieves lower RCVR than CD-LS on out-tree and fork-join.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0C647-2B47-CC4C-3EFA-00A474A8E23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EF4FDB-263B-1097-18A0-A251A8AA69A2}"/>
              </a:ext>
            </a:extLst>
          </p:cNvPr>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lang="en-US" sz="2600" b="1" dirty="0">
                <a:solidFill>
                  <a:srgbClr val="FFFFFF"/>
                </a:solidFill>
                <a:latin typeface="Calibri"/>
              </a:rPr>
              <a:t>Scheduler Runtime Comparison</a:t>
            </a:r>
            <a:endParaRPr sz="2600" b="1" dirty="0">
              <a:solidFill>
                <a:srgbClr val="FFFFFF"/>
              </a:solidFill>
              <a:latin typeface="Calibri"/>
            </a:endParaRPr>
          </a:p>
        </p:txBody>
      </p:sp>
      <p:sp>
        <p:nvSpPr>
          <p:cNvPr id="3" name="Rectangle 2">
            <a:extLst>
              <a:ext uri="{FF2B5EF4-FFF2-40B4-BE49-F238E27FC236}">
                <a16:creationId xmlns:a16="http://schemas.microsoft.com/office/drawing/2014/main" id="{3E65B182-6E69-A57C-C54F-82FF2228E744}"/>
              </a:ext>
            </a:extLst>
          </p:cNvPr>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FBB294D-7386-B1F5-23DD-677C25EB3BB8}"/>
              </a:ext>
            </a:extLst>
          </p:cNvPr>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11 / 12</a:t>
            </a:r>
          </a:p>
        </p:txBody>
      </p:sp>
      <p:pic>
        <p:nvPicPr>
          <p:cNvPr id="13" name="Resim 12">
            <a:extLst>
              <a:ext uri="{FF2B5EF4-FFF2-40B4-BE49-F238E27FC236}">
                <a16:creationId xmlns:a16="http://schemas.microsoft.com/office/drawing/2014/main" id="{665A6BF1-F1BC-299E-CB84-3A8E1E0DDED1}"/>
              </a:ext>
            </a:extLst>
          </p:cNvPr>
          <p:cNvPicPr>
            <a:picLocks noChangeAspect="1"/>
          </p:cNvPicPr>
          <p:nvPr/>
        </p:nvPicPr>
        <p:blipFill>
          <a:blip r:embed="rId3"/>
          <a:stretch>
            <a:fillRect/>
          </a:stretch>
        </p:blipFill>
        <p:spPr>
          <a:xfrm>
            <a:off x="729026" y="1272728"/>
            <a:ext cx="9989844" cy="4934336"/>
          </a:xfrm>
          <a:prstGeom prst="rect">
            <a:avLst/>
          </a:prstGeom>
        </p:spPr>
      </p:pic>
    </p:spTree>
    <p:extLst>
      <p:ext uri="{BB962C8B-B14F-4D97-AF65-F5344CB8AC3E}">
        <p14:creationId xmlns:p14="http://schemas.microsoft.com/office/powerpoint/2010/main" val="2394438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Discussion, Limitations, and Future Work</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12 / 12</a:t>
            </a:r>
          </a:p>
        </p:txBody>
      </p:sp>
      <p:sp>
        <p:nvSpPr>
          <p:cNvPr id="5" name="Rectangle 4"/>
          <p:cNvSpPr/>
          <p:nvPr/>
        </p:nvSpPr>
        <p:spPr>
          <a:xfrm>
            <a:off x="347472" y="1124712"/>
            <a:ext cx="3695090" cy="384048"/>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Achievements</a:t>
            </a:r>
          </a:p>
        </p:txBody>
      </p:sp>
      <p:sp>
        <p:nvSpPr>
          <p:cNvPr id="6" name="Rectangle 5"/>
          <p:cNvSpPr/>
          <p:nvPr/>
        </p:nvSpPr>
        <p:spPr>
          <a:xfrm>
            <a:off x="4243730" y="1124712"/>
            <a:ext cx="3695090" cy="384048"/>
          </a:xfrm>
          <a:prstGeom prst="rect">
            <a:avLst/>
          </a:prstGeom>
          <a:solidFill>
            <a:srgbClr val="D6604D"/>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Limitations</a:t>
            </a:r>
          </a:p>
        </p:txBody>
      </p:sp>
      <p:sp>
        <p:nvSpPr>
          <p:cNvPr id="7" name="Rectangle 6"/>
          <p:cNvSpPr/>
          <p:nvPr/>
        </p:nvSpPr>
        <p:spPr>
          <a:xfrm>
            <a:off x="8139988" y="1124712"/>
            <a:ext cx="3695090" cy="38404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Future Work</a:t>
            </a:r>
          </a:p>
        </p:txBody>
      </p:sp>
      <p:sp>
        <p:nvSpPr>
          <p:cNvPr id="8" name="TextBox 7"/>
          <p:cNvSpPr txBox="1"/>
          <p:nvPr/>
        </p:nvSpPr>
        <p:spPr>
          <a:xfrm>
            <a:off x="347472" y="1581912"/>
            <a:ext cx="3695090" cy="1379865"/>
          </a:xfrm>
          <a:prstGeom prst="rect">
            <a:avLst/>
          </a:prstGeom>
          <a:noFill/>
        </p:spPr>
        <p:txBody>
          <a:bodyPr wrap="square" lIns="0" tIns="0">
            <a:spAutoFit/>
          </a:bodyPr>
          <a:lstStyle/>
          <a:p>
            <a:pPr algn="l">
              <a:spcBef>
                <a:spcPts val="500"/>
              </a:spcBef>
              <a:spcAft>
                <a:spcPts val="0"/>
              </a:spcAft>
            </a:pPr>
            <a:r>
              <a:rPr sz="1400" b="0" dirty="0">
                <a:solidFill>
                  <a:srgbClr val="000000"/>
                </a:solidFill>
                <a:latin typeface="Calibri"/>
              </a:rPr>
              <a:t>• Full DAG/NoC scheduling framework</a:t>
            </a:r>
          </a:p>
          <a:p>
            <a:pPr algn="l">
              <a:spcBef>
                <a:spcPts val="500"/>
              </a:spcBef>
              <a:spcAft>
                <a:spcPts val="0"/>
              </a:spcAft>
            </a:pPr>
            <a:r>
              <a:rPr sz="1400" b="0" dirty="0">
                <a:solidFill>
                  <a:srgbClr val="000000"/>
                </a:solidFill>
                <a:latin typeface="Calibri"/>
              </a:rPr>
              <a:t>• HEFT, CD-LS, CA-D implemented</a:t>
            </a:r>
          </a:p>
          <a:p>
            <a:pPr algn="l">
              <a:spcBef>
                <a:spcPts val="500"/>
              </a:spcBef>
              <a:spcAft>
                <a:spcPts val="0"/>
              </a:spcAft>
            </a:pPr>
            <a:r>
              <a:rPr sz="1400" b="0" dirty="0">
                <a:solidFill>
                  <a:srgbClr val="000000"/>
                </a:solidFill>
                <a:latin typeface="Calibri"/>
              </a:rPr>
              <a:t>• Explicit link-level contention model</a:t>
            </a:r>
          </a:p>
          <a:p>
            <a:pPr algn="l">
              <a:spcBef>
                <a:spcPts val="500"/>
              </a:spcBef>
              <a:spcAft>
                <a:spcPts val="0"/>
              </a:spcAft>
            </a:pPr>
            <a:r>
              <a:rPr sz="1400" b="0" dirty="0">
                <a:solidFill>
                  <a:srgbClr val="000000"/>
                </a:solidFill>
                <a:latin typeface="Calibri"/>
              </a:rPr>
              <a:t>• Fair replay evaluator</a:t>
            </a:r>
          </a:p>
          <a:p>
            <a:pPr algn="l">
              <a:spcBef>
                <a:spcPts val="500"/>
              </a:spcBef>
              <a:spcAft>
                <a:spcPts val="0"/>
              </a:spcAft>
            </a:pPr>
            <a:r>
              <a:rPr sz="1400" b="0" dirty="0">
                <a:solidFill>
                  <a:srgbClr val="000000"/>
                </a:solidFill>
                <a:latin typeface="Calibri"/>
              </a:rPr>
              <a:t>• 4 DAG families × 4 CCR </a:t>
            </a:r>
          </a:p>
        </p:txBody>
      </p:sp>
      <p:sp>
        <p:nvSpPr>
          <p:cNvPr id="9" name="TextBox 8"/>
          <p:cNvSpPr txBox="1"/>
          <p:nvPr/>
        </p:nvSpPr>
        <p:spPr>
          <a:xfrm>
            <a:off x="4243730" y="1581912"/>
            <a:ext cx="3695090" cy="1659429"/>
          </a:xfrm>
          <a:prstGeom prst="rect">
            <a:avLst/>
          </a:prstGeom>
          <a:noFill/>
        </p:spPr>
        <p:txBody>
          <a:bodyPr wrap="square" lIns="0" tIns="0">
            <a:spAutoFit/>
          </a:bodyPr>
          <a:lstStyle/>
          <a:p>
            <a:pPr algn="l">
              <a:spcBef>
                <a:spcPts val="500"/>
              </a:spcBef>
              <a:spcAft>
                <a:spcPts val="0"/>
              </a:spcAft>
            </a:pPr>
            <a:r>
              <a:rPr sz="1400" b="0" dirty="0">
                <a:solidFill>
                  <a:srgbClr val="000000"/>
                </a:solidFill>
                <a:latin typeface="Calibri"/>
              </a:rPr>
              <a:t>• Synthetic DAGs only</a:t>
            </a:r>
          </a:p>
          <a:p>
            <a:pPr algn="l">
              <a:spcBef>
                <a:spcPts val="500"/>
              </a:spcBef>
              <a:spcAft>
                <a:spcPts val="0"/>
              </a:spcAft>
            </a:pPr>
            <a:r>
              <a:rPr sz="1400" b="0" dirty="0">
                <a:solidFill>
                  <a:srgbClr val="000000"/>
                </a:solidFill>
                <a:latin typeface="Calibri"/>
              </a:rPr>
              <a:t>• CA-D is greedy, not optimal</a:t>
            </a:r>
          </a:p>
          <a:p>
            <a:pPr algn="l">
              <a:spcBef>
                <a:spcPts val="500"/>
              </a:spcBef>
              <a:spcAft>
                <a:spcPts val="0"/>
              </a:spcAft>
            </a:pPr>
            <a:r>
              <a:rPr sz="1400" b="0" dirty="0">
                <a:solidFill>
                  <a:srgbClr val="D6604D"/>
                </a:solidFill>
                <a:latin typeface="Calibri"/>
              </a:rPr>
              <a:t>• Not full Sinnen critical-parent</a:t>
            </a:r>
          </a:p>
          <a:p>
            <a:pPr algn="l">
              <a:spcBef>
                <a:spcPts val="500"/>
              </a:spcBef>
              <a:spcAft>
                <a:spcPts val="0"/>
              </a:spcAft>
            </a:pPr>
            <a:r>
              <a:rPr sz="1400" b="0" dirty="0">
                <a:solidFill>
                  <a:srgbClr val="000000"/>
                </a:solidFill>
                <a:latin typeface="Calibri"/>
              </a:rPr>
              <a:t>• No cycle-accurate NoC simulation</a:t>
            </a:r>
          </a:p>
          <a:p>
            <a:pPr algn="l">
              <a:spcBef>
                <a:spcPts val="500"/>
              </a:spcBef>
              <a:spcAft>
                <a:spcPts val="0"/>
              </a:spcAft>
            </a:pPr>
            <a:r>
              <a:rPr sz="1400" b="0" dirty="0">
                <a:solidFill>
                  <a:srgbClr val="000000"/>
                </a:solidFill>
                <a:latin typeface="Calibri"/>
              </a:rPr>
              <a:t>• Single NoC topology tested</a:t>
            </a:r>
          </a:p>
          <a:p>
            <a:pPr algn="l">
              <a:spcBef>
                <a:spcPts val="500"/>
              </a:spcBef>
              <a:spcAft>
                <a:spcPts val="0"/>
              </a:spcAft>
            </a:pPr>
            <a:r>
              <a:rPr sz="1400" b="0" dirty="0">
                <a:solidFill>
                  <a:srgbClr val="000000"/>
                </a:solidFill>
                <a:latin typeface="Calibri"/>
              </a:rPr>
              <a:t>• Runtime grows for deep graphs</a:t>
            </a:r>
          </a:p>
        </p:txBody>
      </p:sp>
      <p:sp>
        <p:nvSpPr>
          <p:cNvPr id="10" name="TextBox 9"/>
          <p:cNvSpPr txBox="1"/>
          <p:nvPr/>
        </p:nvSpPr>
        <p:spPr>
          <a:xfrm>
            <a:off x="8139988" y="1581912"/>
            <a:ext cx="3695090" cy="1379865"/>
          </a:xfrm>
          <a:prstGeom prst="rect">
            <a:avLst/>
          </a:prstGeom>
          <a:noFill/>
        </p:spPr>
        <p:txBody>
          <a:bodyPr wrap="square" lIns="0" tIns="0">
            <a:spAutoFit/>
          </a:bodyPr>
          <a:lstStyle/>
          <a:p>
            <a:pPr algn="l">
              <a:spcBef>
                <a:spcPts val="500"/>
              </a:spcBef>
              <a:spcAft>
                <a:spcPts val="0"/>
              </a:spcAft>
            </a:pPr>
            <a:r>
              <a:rPr sz="1400" b="0" dirty="0">
                <a:solidFill>
                  <a:srgbClr val="000000"/>
                </a:solidFill>
                <a:latin typeface="Calibri"/>
              </a:rPr>
              <a:t>• Real application DAGs </a:t>
            </a:r>
            <a:endParaRPr lang="en-US" sz="1400" b="0" dirty="0">
              <a:solidFill>
                <a:srgbClr val="000000"/>
              </a:solidFill>
              <a:latin typeface="Calibri"/>
            </a:endParaRPr>
          </a:p>
          <a:p>
            <a:pPr algn="l">
              <a:spcBef>
                <a:spcPts val="500"/>
              </a:spcBef>
              <a:spcAft>
                <a:spcPts val="0"/>
              </a:spcAft>
            </a:pPr>
            <a:r>
              <a:rPr sz="1400" b="0" dirty="0">
                <a:solidFill>
                  <a:srgbClr val="000000"/>
                </a:solidFill>
                <a:latin typeface="Calibri"/>
              </a:rPr>
              <a:t>• Energy-aware duplication cost</a:t>
            </a:r>
          </a:p>
          <a:p>
            <a:pPr algn="l">
              <a:spcBef>
                <a:spcPts val="500"/>
              </a:spcBef>
              <a:spcAft>
                <a:spcPts val="0"/>
              </a:spcAft>
            </a:pPr>
            <a:r>
              <a:rPr sz="1400" b="0" dirty="0">
                <a:solidFill>
                  <a:srgbClr val="000000"/>
                </a:solidFill>
                <a:latin typeface="Calibri"/>
              </a:rPr>
              <a:t>• Larger NoC topologies</a:t>
            </a:r>
          </a:p>
          <a:p>
            <a:pPr algn="l">
              <a:spcBef>
                <a:spcPts val="500"/>
              </a:spcBef>
              <a:spcAft>
                <a:spcPts val="0"/>
              </a:spcAft>
            </a:pPr>
            <a:r>
              <a:rPr sz="1400" b="0" dirty="0">
                <a:solidFill>
                  <a:srgbClr val="000000"/>
                </a:solidFill>
                <a:latin typeface="Calibri"/>
              </a:rPr>
              <a:t>• Runtime optimization of CA-D</a:t>
            </a:r>
          </a:p>
          <a:p>
            <a:pPr algn="l">
              <a:spcBef>
                <a:spcPts val="500"/>
              </a:spcBef>
              <a:spcAft>
                <a:spcPts val="0"/>
              </a:spcAft>
            </a:pPr>
            <a:r>
              <a:rPr sz="1400" b="0" dirty="0">
                <a:solidFill>
                  <a:srgbClr val="000000"/>
                </a:solidFill>
                <a:latin typeface="Calibri"/>
              </a:rPr>
              <a:t>• Comparison with more algorithms</a:t>
            </a:r>
          </a:p>
        </p:txBody>
      </p:sp>
      <p:sp>
        <p:nvSpPr>
          <p:cNvPr id="11" name="Rectangle 10"/>
          <p:cNvSpPr/>
          <p:nvPr/>
        </p:nvSpPr>
        <p:spPr>
          <a:xfrm>
            <a:off x="347472" y="6291072"/>
            <a:ext cx="11496751" cy="429768"/>
          </a:xfrm>
          <a:prstGeom prst="rect">
            <a:avLst/>
          </a:prstGeom>
          <a:solidFill>
            <a:srgbClr val="EEF2F7"/>
          </a:solidFill>
          <a:ln w="9525">
            <a:solidFill>
              <a:srgbClr val="1F3864"/>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1F3864"/>
                </a:solidFill>
                <a:latin typeface="Calibri"/>
              </a:rPr>
              <a:t>Main finding: CA-D produces accurate and stable replayed makespans. Contention-aware scheduling matters most on multi-level, reconverging DAGs at high CCR.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2861</TotalTime>
  <Words>3043</Words>
  <Application>Microsoft Office PowerPoint</Application>
  <PresentationFormat>Geniş ekran</PresentationFormat>
  <Paragraphs>165</Paragraphs>
  <Slides>20</Slides>
  <Notes>20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20</vt:i4>
      </vt:variant>
    </vt:vector>
  </HeadingPairs>
  <TitlesOfParts>
    <vt:vector size="23" baseType="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Baris Buyukyilmaz</dc:creator>
  <cp:keywords/>
  <dc:description>generated using python-pptx</dc:description>
  <cp:lastModifiedBy>BARIŞ BÜYÜKYILMAZ</cp:lastModifiedBy>
  <cp:revision>37</cp:revision>
  <dcterms:created xsi:type="dcterms:W3CDTF">2013-01-27T09:14:16Z</dcterms:created>
  <dcterms:modified xsi:type="dcterms:W3CDTF">2026-05-29T06:40:15Z</dcterms:modified>
  <cp:category/>
</cp:coreProperties>
</file>