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8" r:id="rId5"/>
    <p:sldId id="260" r:id="rId6"/>
    <p:sldId id="259" r:id="rId7"/>
    <p:sldId id="269" r:id="rId8"/>
    <p:sldId id="261" r:id="rId9"/>
    <p:sldId id="262" r:id="rId10"/>
    <p:sldId id="263" r:id="rId11"/>
    <p:sldId id="264" r:id="rId12"/>
    <p:sldId id="265" r:id="rId13"/>
    <p:sldId id="266" r:id="rId14"/>
    <p:sldId id="267"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6" d="100"/>
          <a:sy n="116" d="100"/>
        </p:scale>
        <p:origin x="677"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78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My name is Baris Buyukyilmaz. This is my progress presentation for CMP720 Embedded System Design. The project is about scheduling tasks on a multicore system that uses a Network-on-Chip for communication. I will explain what the problem is, what I implemented, and what results I have so far. The presentation is about 12 minutes. Let me begin.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explain the problem. Modern applications can be described as Directed Acyclic Graphs. Each node is a task, and each edge is a data dependency. We schedule these tasks on multicore processors that communicate through a Network-on-Chip. The NoC is a 2D mesh in this project. The key problem is link contention. If two tasks send data at the same time and both paths share a NoC link, one of them must wait. Classical schedulers like HEFT do not model this. They use a formula for communication cost but do not reserve links. Task duplication is one strategy to reduce remote communication. But it adds computation cost. The question is: can we make better duplication decisions if we know about link contention?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I describe what I actually built, let me briefly remind you of the proposal. The idea was to compare three schedulers. First, HEFT, which is the standard baseline. It schedules tasks using an estimated communication cost but does not reserve NoC links. Second, CD-LS, which adds parent duplication on top of HEFT. Third, our proposed CA-D, which evaluates duplication using actual link occupancy. The communication model uses two parameters: alpha for hop cost and beta for volume cost. In our main experiments, alpha is zero, so duration equals volume. To evaluate fairly, we use a replay mechanism that recomputes timing with real link reservations. This gives us a fair comparison across all schedulers. Let me now describe what was actually built.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This shows the communication model in detail.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organises the methodology into three columns: what was kept from the proposal, what changed during implementation, and why. The most important items are in the middle column. First: the original proposal described a scalar contention penalty. The implementation uses explicit per-link interval lists instead. Each directed link on the NoC has its own sorted list of occupied intervals. When a communication is placed, earliest_route_slot finds the first gap that is free on every link along the XY route simultaneously. Second: probe_communication_arrival is a read-only version of this check. CA-D uses it while evaluating candidate processors without committing anything. Third: the original idea was to follow Sinnen's critical-parent selection. The implementation instead evaluates all direct predecessors independently. This is simpler and deterministic, and captures more duplication benefit. Finally, a conservative pruning pass was added as a safety net, but it never triggered on our structured DAG families.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full framework that was implemented. At the top, we have two inputs: the DAG generator that creates structured test graphs, and the MeshNoC model that defines the 4 by 4 processor mesh with XY routing. All three schedulers take both inputs and produce a ScheduleState object. The ScheduleState stores two things: processor intervals, which are the task reservations, and link intervals, which are the communication reservations. After scheduling, we pass the result to the replay evaluator. This re-runs the timing with full link-level contention modelling. Finally, we compute metrics and generate figures. Everything is implemented in Python using modular source files under the src directory.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Simplified pseudo-code for the CA-D algorithm.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figure illustrates the conceptual difference between the three schedulers. I am using a simple chain with three tasks: T0, T1, and T2, each on a different processor. In panel A, HEFT places each task on the best processor based on estimated finish time. It does not model link sharing, so two remote communications can appear to overlap. In panel B, CD-LS duplicates the direct parent. So T1 is duplicated near T2. This eliminates one communication. But T0 to T2 is still remote. In panel C, CA-D also duplicates T0. Both ancestors are now local to T2. All communication on P2 is eliminated. The key difference of CA-D is that it checks whether this duplication actually helps under the contention model before committing 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why we need the replay step. When HEFT or CD-LS builds a schedule, they compute timing analytically. They do not model what happens when two communications share a link. The replay mechanism takes the task-to-processor assignments from any scheduler and recomputes all timing under the contention-aware model. In the figure, you can see two communications that both start at time zero in the native model. They use the same link. Under replay, the second one must wait until the first finishes. So the actual makespan doubles compared to the prediction. The replay overhead ratio tells us how optimistic the native model was. If CA-D's ratio is close to 1.0, it means the scheduler correctly predicted the real behavior. This is the key evaluation metric we use to compare schedulers fairly.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test the schedulers on four structured DAG families. Each family stresses a different scheduler behavior. The chain is the simplest case. It has no useful parallelism. We use it as a negative control: all schedulers should produce the same result. The fork DAG has one root and eight leaves. Here, parent duplication is sufficient. CA-D and CD-LS behave the same because there is only one ancestor level. The out-tree has two levels of hierarchy. This is where recursive ancestor duplication helps CA-D beyond CD-LS. CA-D can duplicate the root task onto the leaf processors, eliminating all ancestor communication. The fork-join is the most interesting case. It has four branches that all reconverge at a join task. Here, contention between branches becomes very significant, and contention-blind schedulers may produce worse results under replay.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Gantt charts for the out-tree DAG. Each row is a processor. Each colored bar is a task. Hatched bars are duplicate task instances. Solid bars are primary instances. There are two rows of panels: CCR=1.0 at the top and CCR=10.0 at the bottom. Each row has three panels: HEFT, CD-LS, and CA-D. At CCR=1.0, the differences are moderate. At CCR=10.0, you can see a clear change. HEFT places most tasks on one processor because remote communication becomes very expensive. CD-LS duplicates direct parents, using a few processors. CA-D duplicates both the parent and grandparent tasks near the leaves. This allows all leaf tasks to start immediately with local data. The makespan difference between HEFT and CA-D is visible on the x-axis. CA-D achieves a significantly shorter makespan at high CCR.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main result slide. The left figure shows replayed speedup versus HEFT across CCR values for all four DAG families. On chain, all schedulers are equal. This confirms the negative control. On fork, CD-LS and CA-D both achieve around 2.8 times speedup at high CCR. They are equivalent because the fork has only one ancestor level. On out-tree, CA-D outperforms CD-LS because recursive ancestor duplication adds the root onto each leaf processor. On fork-join, CD-LS can drop below 1.0 at CCR=10, meaning it becomes worse than HEFT when evaluated fairly. CA-D stays above 1.0 consistently. The right figure shows replay overhead. CA-D maintains 1.0 overhead on all topologies. CD-LS shows 1.26 times overhead on fork-join, revealing that its native prediction was too optimistic. This confirms that contention-aware scheduling is necessary for accurate makespan prediction.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two metrics that explain the duplication behavior. The left figure shows the Task Instance Ratio, or TIR. This measures how many total task instances exist compared to the original task count. On chain, TIR is 1.0 for all schedulers because duplication does not help there. On fork and out-tree, CA-D and CD-LS show TIR above 1.0, meaning duplicates were created. On fork-join, CA-D creates more duplicates than CD-LS, but with better results. The right figure shows the Remote Communication Volume Ratio. This is a new metric I introduced. It tells us what fraction of total DAG communication remains as remote transfers in the native schedule. Lower is better. CA-D consistently achieves lower RCVR than CD-LS on out-tree and fork-join. This means CA-D eliminates more remote communication by placing more ancestor copies locally. The combination of TIR and RCVR explains why CA-D achieves lower replayed makespan even though it uses more task instances.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conclude. On the achievements side, I have a working framework that includes all three schedulers, a contention-aware replay evaluator, and results across four DAG families and four CCR values. I also introduced a new metric, the Remote Communication Volume Ratio, which quantifies how much communication remains remote after duplication. On the limitations side, the most important is that these are synthetic DAGs. Results may differ on real application graphs. Also, CA-D is a greedy heuristic, not an optimal algorithm. It is not a full implementation of the Sinnen critical-parent algorithm. The conservative pruning step was implemented but did not trigger in any test case. For future work, the immediate next step is to finalize the report. Beyond the course, interesting directions include real application DAGs, energy-aware scheduling, and larger NoC topologies. The main finding is that contention-aware scheduling produces stable and accurate results, especially on topologies where multiple branches share NoC paths. Thank you. I am ready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Formal definitions of all metrics used in the evaluation.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560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029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472" y="320040"/>
            <a:ext cx="11496751" cy="2011680"/>
          </a:xfrm>
          <a:prstGeom prst="rect">
            <a:avLst/>
          </a:prstGeom>
          <a:noFill/>
        </p:spPr>
        <p:txBody>
          <a:bodyPr wrap="square" lIns="0" tIns="0">
            <a:spAutoFit/>
          </a:bodyPr>
          <a:lstStyle/>
          <a:p>
            <a:pPr algn="l"/>
            <a:r>
              <a:rPr sz="2800" b="1" i="0">
                <a:solidFill>
                  <a:srgbClr val="FFFFFF"/>
                </a:solidFill>
                <a:latin typeface="Calibri"/>
              </a:rPr>
              <a:t>Contention-Aware Recursive Task Duplication
for DAG Scheduling on NoC-Based Multicore Systems</a:t>
            </a:r>
          </a:p>
        </p:txBody>
      </p:sp>
      <p:sp>
        <p:nvSpPr>
          <p:cNvPr id="5" name="TextBox 4"/>
          <p:cNvSpPr txBox="1"/>
          <p:nvPr/>
        </p:nvSpPr>
        <p:spPr>
          <a:xfrm>
            <a:off x="347472" y="45720"/>
            <a:ext cx="11496751" cy="320040"/>
          </a:xfrm>
          <a:prstGeom prst="rect">
            <a:avLst/>
          </a:prstGeom>
          <a:noFill/>
        </p:spPr>
        <p:txBody>
          <a:bodyPr wrap="square" lIns="0" tIns="0">
            <a:spAutoFit/>
          </a:bodyPr>
          <a:lstStyle/>
          <a:p>
            <a:pPr algn="l"/>
            <a:r>
              <a:rPr sz="1200" b="0" i="0">
                <a:solidFill>
                  <a:srgbClr val="B0C8E8"/>
                </a:solidFill>
                <a:latin typeface="Calibri"/>
              </a:rPr>
              <a:t>CMP720 — Embedded System Design  |  Progress Presentation</a:t>
            </a:r>
          </a:p>
        </p:txBody>
      </p:sp>
      <p:sp>
        <p:nvSpPr>
          <p:cNvPr id="6" name="TextBox 5"/>
          <p:cNvSpPr txBox="1"/>
          <p:nvPr/>
        </p:nvSpPr>
        <p:spPr>
          <a:xfrm>
            <a:off x="347624" y="2834640"/>
            <a:ext cx="11496751" cy="353943"/>
          </a:xfrm>
          <a:prstGeom prst="rect">
            <a:avLst/>
          </a:prstGeom>
          <a:noFill/>
        </p:spPr>
        <p:txBody>
          <a:bodyPr wrap="square" lIns="0" tIns="0">
            <a:spAutoFit/>
          </a:bodyPr>
          <a:lstStyle/>
          <a:p>
            <a:pPr algn="l"/>
            <a:r>
              <a:rPr sz="2000" b="1" i="0" dirty="0">
                <a:solidFill>
                  <a:srgbClr val="1F3864"/>
                </a:solidFill>
                <a:latin typeface="Calibri"/>
              </a:rPr>
              <a:t>Bar</a:t>
            </a:r>
            <a:r>
              <a:rPr lang="en-US" sz="2000" b="1" i="0" dirty="0">
                <a:solidFill>
                  <a:srgbClr val="1F3864"/>
                </a:solidFill>
                <a:latin typeface="Calibri"/>
              </a:rPr>
              <a:t>ı</a:t>
            </a:r>
            <a:r>
              <a:rPr lang="en-US" sz="2000" b="1" dirty="0">
                <a:solidFill>
                  <a:srgbClr val="1F3864"/>
                </a:solidFill>
                <a:latin typeface="Calibri"/>
              </a:rPr>
              <a:t>ş</a:t>
            </a:r>
            <a:r>
              <a:rPr sz="2000" b="1" i="0" dirty="0">
                <a:solidFill>
                  <a:srgbClr val="1F3864"/>
                </a:solidFill>
                <a:latin typeface="Calibri"/>
              </a:rPr>
              <a:t> </a:t>
            </a:r>
            <a:r>
              <a:rPr sz="2000" b="1" i="0" dirty="0" err="1">
                <a:solidFill>
                  <a:srgbClr val="1F3864"/>
                </a:solidFill>
                <a:latin typeface="Calibri"/>
              </a:rPr>
              <a:t>B</a:t>
            </a:r>
            <a:r>
              <a:rPr lang="en-US" sz="2000" b="1" i="0" dirty="0" err="1">
                <a:solidFill>
                  <a:srgbClr val="1F3864"/>
                </a:solidFill>
                <a:latin typeface="Calibri"/>
              </a:rPr>
              <a:t>ü</a:t>
            </a:r>
            <a:r>
              <a:rPr sz="2000" b="1" i="0" dirty="0" err="1">
                <a:solidFill>
                  <a:srgbClr val="1F3864"/>
                </a:solidFill>
                <a:latin typeface="Calibri"/>
              </a:rPr>
              <a:t>y</a:t>
            </a:r>
            <a:r>
              <a:rPr lang="en-US" sz="2000" b="1" i="0" dirty="0" err="1">
                <a:solidFill>
                  <a:srgbClr val="1F3864"/>
                </a:solidFill>
                <a:latin typeface="Calibri"/>
              </a:rPr>
              <a:t>ü</a:t>
            </a:r>
            <a:r>
              <a:rPr sz="2000" b="1" i="0" dirty="0" err="1">
                <a:solidFill>
                  <a:srgbClr val="1F3864"/>
                </a:solidFill>
                <a:latin typeface="Calibri"/>
              </a:rPr>
              <a:t>ky</a:t>
            </a:r>
            <a:r>
              <a:rPr lang="en-US" sz="2000" b="1" i="0" dirty="0" err="1">
                <a:solidFill>
                  <a:srgbClr val="1F3864"/>
                </a:solidFill>
                <a:latin typeface="Calibri"/>
              </a:rPr>
              <a:t>ı</a:t>
            </a:r>
            <a:r>
              <a:rPr sz="2000" b="1" i="0" dirty="0" err="1">
                <a:solidFill>
                  <a:srgbClr val="1F3864"/>
                </a:solidFill>
                <a:latin typeface="Calibri"/>
              </a:rPr>
              <a:t>lmaz</a:t>
            </a:r>
            <a:r>
              <a:rPr lang="en-US" sz="2000" b="1" dirty="0">
                <a:solidFill>
                  <a:srgbClr val="1F3864"/>
                </a:solidFill>
                <a:latin typeface="Calibri"/>
              </a:rPr>
              <a:t>, </a:t>
            </a:r>
            <a:r>
              <a:rPr lang="en-US" sz="2000" b="1" i="0" dirty="0">
                <a:solidFill>
                  <a:srgbClr val="1F3864"/>
                </a:solidFill>
                <a:latin typeface="Calibri"/>
              </a:rPr>
              <a:t>Oğulcan </a:t>
            </a:r>
            <a:r>
              <a:rPr lang="en-US" sz="2000" b="1" i="0" dirty="0" err="1">
                <a:solidFill>
                  <a:srgbClr val="1F3864"/>
                </a:solidFill>
                <a:latin typeface="Calibri"/>
              </a:rPr>
              <a:t>Uğuroğlu</a:t>
            </a:r>
            <a:endParaRPr sz="2000" b="1" i="0" dirty="0">
              <a:solidFill>
                <a:srgbClr val="1F3864"/>
              </a:solidFill>
              <a:latin typeface="Calibri"/>
            </a:endParaRPr>
          </a:p>
        </p:txBody>
      </p:sp>
      <p:sp>
        <p:nvSpPr>
          <p:cNvPr id="7" name="TextBox 6"/>
          <p:cNvSpPr txBox="1"/>
          <p:nvPr/>
        </p:nvSpPr>
        <p:spPr>
          <a:xfrm>
            <a:off x="347472" y="3337560"/>
            <a:ext cx="11496751" cy="502920"/>
          </a:xfrm>
          <a:prstGeom prst="rect">
            <a:avLst/>
          </a:prstGeom>
          <a:noFill/>
        </p:spPr>
        <p:txBody>
          <a:bodyPr wrap="square" lIns="0" tIns="0">
            <a:spAutoFit/>
          </a:bodyPr>
          <a:lstStyle/>
          <a:p>
            <a:pPr algn="l"/>
            <a:r>
              <a:rPr sz="1500" b="0" i="0">
                <a:solidFill>
                  <a:srgbClr val="000000"/>
                </a:solidFill>
                <a:latin typeface="Calibri"/>
              </a:rPr>
              <a:t>Hacettepe University, Department of Computer Engineering</a:t>
            </a:r>
          </a:p>
        </p:txBody>
      </p:sp>
      <p:pic>
        <p:nvPicPr>
          <p:cNvPr id="12" name="Resim 11">
            <a:extLst>
              <a:ext uri="{FF2B5EF4-FFF2-40B4-BE49-F238E27FC236}">
                <a16:creationId xmlns:a16="http://schemas.microsoft.com/office/drawing/2014/main" id="{E74EE522-80CE-7ECD-85CC-AD8A9AFA4882}"/>
              </a:ext>
            </a:extLst>
          </p:cNvPr>
          <p:cNvPicPr>
            <a:picLocks noChangeAspect="1"/>
          </p:cNvPicPr>
          <p:nvPr/>
        </p:nvPicPr>
        <p:blipFill>
          <a:blip r:embed="rId3"/>
          <a:stretch>
            <a:fillRect/>
          </a:stretch>
        </p:blipFill>
        <p:spPr>
          <a:xfrm>
            <a:off x="5043160" y="2683337"/>
            <a:ext cx="714884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1. PROBLEM  —  </a:t>
            </a:r>
            <a:r>
              <a:rPr sz="2600" b="1">
                <a:solidFill>
                  <a:srgbClr val="FFFFFF"/>
                </a:solidFill>
                <a:latin typeface="Calibri"/>
              </a:rPr>
              <a:t>Problem Definition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2 / 12</a:t>
            </a:r>
          </a:p>
        </p:txBody>
      </p:sp>
      <p:sp>
        <p:nvSpPr>
          <p:cNvPr id="5" name="TextBox 4"/>
          <p:cNvSpPr txBox="1"/>
          <p:nvPr/>
        </p:nvSpPr>
        <p:spPr>
          <a:xfrm>
            <a:off x="347472" y="1170432"/>
            <a:ext cx="6858000" cy="5577840"/>
          </a:xfrm>
          <a:prstGeom prst="rect">
            <a:avLst/>
          </a:prstGeom>
          <a:noFill/>
        </p:spPr>
        <p:txBody>
          <a:bodyPr wrap="square" lIns="0" tIns="0">
            <a:spAutoFit/>
          </a:bodyPr>
          <a:lstStyle/>
          <a:p>
            <a:pPr algn="l">
              <a:spcBef>
                <a:spcPts val="500"/>
              </a:spcBef>
              <a:spcAft>
                <a:spcPts val="0"/>
              </a:spcAft>
            </a:pPr>
            <a:r>
              <a:rPr sz="1600" b="0">
                <a:solidFill>
                  <a:srgbClr val="000000"/>
                </a:solidFill>
                <a:latin typeface="Calibri"/>
              </a:rPr>
              <a:t>• Applications can be modelled as DAGs (Directed Acyclic Graphs)</a:t>
            </a:r>
          </a:p>
          <a:p>
            <a:pPr algn="l">
              <a:spcBef>
                <a:spcPts val="200"/>
              </a:spcBef>
              <a:spcAft>
                <a:spcPts val="0"/>
              </a:spcAft>
            </a:pPr>
            <a:r>
              <a:rPr sz="1400" b="0">
                <a:solidFill>
                  <a:srgbClr val="555555"/>
                </a:solidFill>
                <a:latin typeface="Calibri"/>
              </a:rPr>
              <a:t>   – Nodes = tasks with computation cost</a:t>
            </a:r>
          </a:p>
          <a:p>
            <a:pPr algn="l">
              <a:spcBef>
                <a:spcPts val="200"/>
              </a:spcBef>
              <a:spcAft>
                <a:spcPts val="0"/>
              </a:spcAft>
            </a:pPr>
            <a:r>
              <a:rPr sz="1400" b="0">
                <a:solidFill>
                  <a:srgbClr val="555555"/>
                </a:solidFill>
                <a:latin typeface="Calibri"/>
              </a:rPr>
              <a:t>   – Edges = data dependencies with communication volume</a:t>
            </a:r>
          </a:p>
          <a:p>
            <a:pPr algn="l">
              <a:spcBef>
                <a:spcPts val="500"/>
              </a:spcBef>
              <a:spcAft>
                <a:spcPts val="0"/>
              </a:spcAft>
            </a:pPr>
            <a:r>
              <a:rPr sz="1600" b="0">
                <a:solidFill>
                  <a:srgbClr val="000000"/>
                </a:solidFill>
                <a:latin typeface="Calibri"/>
              </a:rPr>
              <a:t>• Multicore processors are connected via a Network-on-Chip (NoC)</a:t>
            </a:r>
          </a:p>
          <a:p>
            <a:pPr algn="l">
              <a:spcBef>
                <a:spcPts val="200"/>
              </a:spcBef>
              <a:spcAft>
                <a:spcPts val="0"/>
              </a:spcAft>
            </a:pPr>
            <a:r>
              <a:rPr sz="1400" b="0">
                <a:solidFill>
                  <a:srgbClr val="555555"/>
                </a:solidFill>
                <a:latin typeface="Calibri"/>
              </a:rPr>
              <a:t>   – 2D mesh topology with XY routing in this project</a:t>
            </a:r>
          </a:p>
          <a:p>
            <a:pPr algn="l">
              <a:spcBef>
                <a:spcPts val="500"/>
              </a:spcBef>
              <a:spcAft>
                <a:spcPts val="0"/>
              </a:spcAft>
            </a:pPr>
            <a:r>
              <a:rPr sz="1600" b="0">
                <a:solidFill>
                  <a:srgbClr val="000000"/>
                </a:solidFill>
                <a:latin typeface="Calibri"/>
              </a:rPr>
              <a:t>• Remote communication occupies physical NoC links</a:t>
            </a:r>
          </a:p>
          <a:p>
            <a:pPr algn="l">
              <a:spcBef>
                <a:spcPts val="500"/>
              </a:spcBef>
              <a:spcAft>
                <a:spcPts val="0"/>
              </a:spcAft>
            </a:pPr>
            <a:r>
              <a:rPr sz="1600" b="0">
                <a:solidFill>
                  <a:srgbClr val="000000"/>
                </a:solidFill>
                <a:latin typeface="Calibri"/>
              </a:rPr>
              <a:t>• Multiple transfers sharing a link cannot overlap</a:t>
            </a:r>
          </a:p>
          <a:p>
            <a:pPr algn="l">
              <a:spcBef>
                <a:spcPts val="200"/>
              </a:spcBef>
              <a:spcAft>
                <a:spcPts val="0"/>
              </a:spcAft>
            </a:pPr>
            <a:r>
              <a:rPr sz="1400" b="0">
                <a:solidFill>
                  <a:srgbClr val="D6604D"/>
                </a:solidFill>
                <a:latin typeface="Calibri"/>
              </a:rPr>
              <a:t>   – The second transfer must wait → contention delay</a:t>
            </a:r>
          </a:p>
          <a:p>
            <a:pPr algn="l">
              <a:spcBef>
                <a:spcPts val="500"/>
              </a:spcBef>
              <a:spcAft>
                <a:spcPts val="0"/>
              </a:spcAft>
            </a:pPr>
            <a:r>
              <a:rPr sz="1600" b="0">
                <a:solidFill>
                  <a:srgbClr val="000000"/>
                </a:solidFill>
                <a:latin typeface="Calibri"/>
              </a:rPr>
              <a:t>• Classical schedulers estimate communication cost analytically</a:t>
            </a:r>
          </a:p>
          <a:p>
            <a:pPr algn="l">
              <a:spcBef>
                <a:spcPts val="200"/>
              </a:spcBef>
              <a:spcAft>
                <a:spcPts val="0"/>
              </a:spcAft>
            </a:pPr>
            <a:r>
              <a:rPr sz="1400" b="0">
                <a:solidFill>
                  <a:srgbClr val="555555"/>
                </a:solidFill>
                <a:latin typeface="Calibri"/>
              </a:rPr>
              <a:t>   – They do not model link sharing or reservation</a:t>
            </a:r>
          </a:p>
          <a:p>
            <a:pPr algn="l">
              <a:spcBef>
                <a:spcPts val="500"/>
              </a:spcBef>
              <a:spcAft>
                <a:spcPts val="0"/>
              </a:spcAft>
            </a:pPr>
            <a:r>
              <a:rPr sz="1600" b="0">
                <a:solidFill>
                  <a:srgbClr val="000000"/>
                </a:solidFill>
                <a:latin typeface="Calibri"/>
              </a:rPr>
              <a:t>• Task duplication can reduce remote data transfers</a:t>
            </a:r>
          </a:p>
          <a:p>
            <a:pPr algn="l">
              <a:spcBef>
                <a:spcPts val="200"/>
              </a:spcBef>
              <a:spcAft>
                <a:spcPts val="0"/>
              </a:spcAft>
            </a:pPr>
            <a:r>
              <a:rPr sz="1400" b="0">
                <a:solidFill>
                  <a:srgbClr val="555555"/>
                </a:solidFill>
                <a:latin typeface="Calibri"/>
              </a:rPr>
              <a:t>   – But it increases total computation work (TIR &gt; 1.0)</a:t>
            </a:r>
          </a:p>
        </p:txBody>
      </p:sp>
      <p:sp>
        <p:nvSpPr>
          <p:cNvPr id="6" name="Rectangle 5"/>
          <p:cNvSpPr/>
          <p:nvPr/>
        </p:nvSpPr>
        <p:spPr>
          <a:xfrm>
            <a:off x="7484266" y="3646563"/>
            <a:ext cx="4206240" cy="12344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dirty="0">
                <a:solidFill>
                  <a:srgbClr val="FFFFFF"/>
                </a:solidFill>
                <a:latin typeface="Calibri"/>
              </a:rPr>
              <a:t>Research Question</a:t>
            </a:r>
            <a:r>
              <a:rPr lang="en-US" sz="1400" b="1" dirty="0">
                <a:solidFill>
                  <a:srgbClr val="FFFFFF"/>
                </a:solidFill>
                <a:latin typeface="Calibri"/>
              </a:rPr>
              <a:t>:</a:t>
            </a:r>
            <a:br>
              <a:rPr lang="en-US" sz="1400" b="1" dirty="0">
                <a:solidFill>
                  <a:srgbClr val="FFFFFF"/>
                </a:solidFill>
                <a:latin typeface="Calibri"/>
              </a:rPr>
            </a:br>
            <a:r>
              <a:rPr lang="en-US" sz="1400" b="1" dirty="0">
                <a:solidFill>
                  <a:srgbClr val="FFFFFF"/>
                </a:solidFill>
                <a:latin typeface="Calibri"/>
              </a:rPr>
              <a:t>Can task duplication reduce </a:t>
            </a:r>
            <a:r>
              <a:rPr lang="en-US" sz="1400" b="1" dirty="0" err="1">
                <a:solidFill>
                  <a:srgbClr val="FFFFFF"/>
                </a:solidFill>
                <a:latin typeface="Calibri"/>
              </a:rPr>
              <a:t>makespanwhen</a:t>
            </a:r>
            <a:r>
              <a:rPr lang="en-US" sz="1400" b="1" dirty="0">
                <a:solidFill>
                  <a:srgbClr val="FFFFFF"/>
                </a:solidFill>
                <a:latin typeface="Calibri"/>
              </a:rPr>
              <a:t> scheduling on a </a:t>
            </a:r>
            <a:r>
              <a:rPr lang="en-US" sz="1400" b="1" dirty="0" err="1">
                <a:solidFill>
                  <a:srgbClr val="FFFFFF"/>
                </a:solidFill>
                <a:latin typeface="Calibri"/>
              </a:rPr>
              <a:t>NoC,if</a:t>
            </a:r>
            <a:r>
              <a:rPr lang="en-US" sz="1400" b="1" dirty="0">
                <a:solidFill>
                  <a:srgbClr val="FFFFFF"/>
                </a:solidFill>
                <a:latin typeface="Calibri"/>
              </a:rPr>
              <a:t> contention is accounted </a:t>
            </a:r>
            <a:r>
              <a:rPr lang="en-US" sz="1400" b="1" dirty="0" err="1">
                <a:solidFill>
                  <a:srgbClr val="FFFFFF"/>
                </a:solidFill>
                <a:latin typeface="Calibri"/>
              </a:rPr>
              <a:t>forduring</a:t>
            </a:r>
            <a:r>
              <a:rPr lang="en-US" sz="1400" b="1" dirty="0">
                <a:solidFill>
                  <a:srgbClr val="FFFFFF"/>
                </a:solidFill>
                <a:latin typeface="Calibri"/>
              </a:rPr>
              <a:t> the scheduling decision itself?</a:t>
            </a:r>
          </a:p>
          <a:p>
            <a:pPr algn="ctr"/>
            <a:endParaRPr sz="1400" b="1" dirty="0">
              <a:solidFill>
                <a:srgbClr val="FFFFFF"/>
              </a:solidFill>
              <a:latin typeface="Calibri"/>
            </a:endParaRPr>
          </a:p>
        </p:txBody>
      </p:sp>
      <p:sp>
        <p:nvSpPr>
          <p:cNvPr id="8" name="Rectangle 7"/>
          <p:cNvSpPr/>
          <p:nvPr/>
        </p:nvSpPr>
        <p:spPr>
          <a:xfrm>
            <a:off x="1322218" y="5230368"/>
            <a:ext cx="9547257" cy="731520"/>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dirty="0">
                <a:solidFill>
                  <a:srgbClr val="1F3864"/>
                </a:solidFill>
                <a:latin typeface="Calibri"/>
              </a:rPr>
              <a:t>Main message: Scheduling must model both
computation and link-level contention.</a:t>
            </a:r>
          </a:p>
        </p:txBody>
      </p:sp>
      <p:pic>
        <p:nvPicPr>
          <p:cNvPr id="10" name="Resim 9">
            <a:extLst>
              <a:ext uri="{FF2B5EF4-FFF2-40B4-BE49-F238E27FC236}">
                <a16:creationId xmlns:a16="http://schemas.microsoft.com/office/drawing/2014/main" id="{3938158A-E7D3-E33C-DFBA-CCAD277B33E2}"/>
              </a:ext>
            </a:extLst>
          </p:cNvPr>
          <p:cNvPicPr>
            <a:picLocks noChangeAspect="1"/>
          </p:cNvPicPr>
          <p:nvPr/>
        </p:nvPicPr>
        <p:blipFill>
          <a:blip r:embed="rId3"/>
          <a:stretch>
            <a:fillRect/>
          </a:stretch>
        </p:blipFill>
        <p:spPr>
          <a:xfrm>
            <a:off x="8223712" y="1170432"/>
            <a:ext cx="2056071" cy="23452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2. PROPOSAL SUMMARY  —  </a:t>
            </a:r>
            <a:r>
              <a:rPr sz="2600" b="1">
                <a:solidFill>
                  <a:srgbClr val="FFFFFF"/>
                </a:solidFill>
                <a:latin typeface="Calibri"/>
              </a:rPr>
              <a:t>Reminder: Proposed Methodology</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3 / 12</a:t>
            </a:r>
          </a:p>
        </p:txBody>
      </p:sp>
      <p:sp>
        <p:nvSpPr>
          <p:cNvPr id="5" name="TextBox 4"/>
          <p:cNvSpPr txBox="1"/>
          <p:nvPr/>
        </p:nvSpPr>
        <p:spPr>
          <a:xfrm>
            <a:off x="347472" y="1170432"/>
            <a:ext cx="6858000" cy="3840480"/>
          </a:xfrm>
          <a:prstGeom prst="rect">
            <a:avLst/>
          </a:prstGeom>
          <a:noFill/>
        </p:spPr>
        <p:txBody>
          <a:bodyPr wrap="square" lIns="0" tIns="0">
            <a:spAutoFit/>
          </a:bodyPr>
          <a:lstStyle/>
          <a:p>
            <a:pPr algn="l">
              <a:spcBef>
                <a:spcPts val="500"/>
              </a:spcBef>
              <a:spcAft>
                <a:spcPts val="0"/>
              </a:spcAft>
            </a:pPr>
            <a:r>
              <a:rPr sz="1600" b="1">
                <a:solidFill>
                  <a:srgbClr val="2166AC"/>
                </a:solidFill>
                <a:latin typeface="Calibri"/>
              </a:rPr>
              <a:t>• HEFT baseline: list scheduler, upward-rank priority</a:t>
            </a:r>
          </a:p>
          <a:p>
            <a:pPr algn="l">
              <a:spcBef>
                <a:spcPts val="200"/>
              </a:spcBef>
              <a:spcAft>
                <a:spcPts val="0"/>
              </a:spcAft>
            </a:pPr>
            <a:r>
              <a:rPr sz="1400" b="0">
                <a:solidFill>
                  <a:srgbClr val="555555"/>
                </a:solidFill>
                <a:latin typeface="Calibri"/>
              </a:rPr>
              <a:t>   – Estimates communication, no link reservations</a:t>
            </a:r>
          </a:p>
          <a:p>
            <a:pPr algn="l">
              <a:spcBef>
                <a:spcPts val="500"/>
              </a:spcBef>
              <a:spcAft>
                <a:spcPts val="0"/>
              </a:spcAft>
            </a:pPr>
            <a:r>
              <a:rPr sz="1600" b="1">
                <a:solidFill>
                  <a:srgbClr val="D6604D"/>
                </a:solidFill>
                <a:latin typeface="Calibri"/>
              </a:rPr>
              <a:t>• CD-LS extension: add direct parent duplication</a:t>
            </a:r>
          </a:p>
          <a:p>
            <a:pPr algn="l">
              <a:spcBef>
                <a:spcPts val="200"/>
              </a:spcBef>
              <a:spcAft>
                <a:spcPts val="0"/>
              </a:spcAft>
            </a:pPr>
            <a:r>
              <a:rPr sz="1400" b="0">
                <a:solidFill>
                  <a:srgbClr val="555555"/>
                </a:solidFill>
                <a:latin typeface="Calibri"/>
              </a:rPr>
              <a:t>   – Duplicate the immediate predecessor onto the target processor</a:t>
            </a:r>
          </a:p>
          <a:p>
            <a:pPr algn="l">
              <a:spcBef>
                <a:spcPts val="200"/>
              </a:spcBef>
              <a:spcAft>
                <a:spcPts val="0"/>
              </a:spcAft>
            </a:pPr>
            <a:r>
              <a:rPr sz="1400" b="0">
                <a:solidFill>
                  <a:srgbClr val="555555"/>
                </a:solidFill>
                <a:latin typeface="Calibri"/>
              </a:rPr>
              <a:t>   – Still uses analytic communication model (no link awareness)</a:t>
            </a:r>
          </a:p>
          <a:p>
            <a:pPr algn="l">
              <a:spcBef>
                <a:spcPts val="500"/>
              </a:spcBef>
              <a:spcAft>
                <a:spcPts val="0"/>
              </a:spcAft>
            </a:pPr>
            <a:r>
              <a:rPr sz="1600" b="1">
                <a:solidFill>
                  <a:srgbClr val="1A9850"/>
                </a:solidFill>
                <a:latin typeface="Calibri"/>
              </a:rPr>
              <a:t>• CA-D proposal: contention-aware recursive duplication</a:t>
            </a:r>
          </a:p>
          <a:p>
            <a:pPr algn="l">
              <a:spcBef>
                <a:spcPts val="200"/>
              </a:spcBef>
              <a:spcAft>
                <a:spcPts val="0"/>
              </a:spcAft>
            </a:pPr>
            <a:r>
              <a:rPr sz="1400" b="0">
                <a:solidFill>
                  <a:srgbClr val="555555"/>
                </a:solidFill>
                <a:latin typeface="Calibri"/>
              </a:rPr>
              <a:t>   – Evaluate duplication using actual link occupancy</a:t>
            </a:r>
          </a:p>
          <a:p>
            <a:pPr algn="l">
              <a:spcBef>
                <a:spcPts val="200"/>
              </a:spcBef>
              <a:spcAft>
                <a:spcPts val="0"/>
              </a:spcAft>
            </a:pPr>
            <a:r>
              <a:rPr sz="1400" b="0">
                <a:solidFill>
                  <a:srgbClr val="555555"/>
                </a:solidFill>
                <a:latin typeface="Calibri"/>
              </a:rPr>
              <a:t>   – Recursively consider ancestor tasks, not just direct parents</a:t>
            </a:r>
          </a:p>
          <a:p>
            <a:pPr algn="l">
              <a:spcBef>
                <a:spcPts val="200"/>
              </a:spcBef>
              <a:spcAft>
                <a:spcPts val="0"/>
              </a:spcAft>
            </a:pPr>
            <a:r>
              <a:rPr sz="1400" b="0">
                <a:solidFill>
                  <a:srgbClr val="555555"/>
                </a:solidFill>
                <a:latin typeface="Calibri"/>
              </a:rPr>
              <a:t>   – Accept duplication only if it reduces EFT under contention</a:t>
            </a:r>
          </a:p>
        </p:txBody>
      </p:sp>
      <p:sp>
        <p:nvSpPr>
          <p:cNvPr id="6" name="Rectangle 5"/>
          <p:cNvSpPr/>
          <p:nvPr/>
        </p:nvSpPr>
        <p:spPr>
          <a:xfrm>
            <a:off x="347472" y="5239512"/>
            <a:ext cx="5303520" cy="1234440"/>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1F3864"/>
                </a:solidFill>
                <a:latin typeface="Calibri"/>
              </a:rPr>
              <a:t>Communication model:   duration = α × hop_count + β × volume
Main experiments:  α = 0,  β = 1  →  duration = volume
NoC: 4×4 homogeneous 2D mesh  |  XY routing  |  16 processors</a:t>
            </a:r>
          </a:p>
        </p:txBody>
      </p:sp>
      <p:sp>
        <p:nvSpPr>
          <p:cNvPr id="7" name="Rectangle 6"/>
          <p:cNvSpPr/>
          <p:nvPr/>
        </p:nvSpPr>
        <p:spPr>
          <a:xfrm>
            <a:off x="6035040" y="5239512"/>
            <a:ext cx="5806440" cy="1234440"/>
          </a:xfrm>
          <a:prstGeom prst="rect">
            <a:avLst/>
          </a:prstGeom>
          <a:solidFill>
            <a:srgbClr val="EEF2F7"/>
          </a:solidFill>
          <a:ln w="9525">
            <a:solidFill>
              <a:srgbClr val="1A9850"/>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1F3864"/>
                </a:solidFill>
                <a:latin typeface="Calibri"/>
              </a:rPr>
              <a:t>Evaluation: replay_under_contention()
Preserves task placement → recomputes timing with link reservations
Metric: replayed makespan vs HEFT replayed makespan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Communication Model Details</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472" y="1170432"/>
            <a:ext cx="11496751" cy="347472"/>
          </a:xfrm>
          <a:prstGeom prst="rect">
            <a:avLst/>
          </a:prstGeom>
          <a:noFill/>
        </p:spPr>
        <p:txBody>
          <a:bodyPr wrap="square" lIns="0" tIns="0">
            <a:spAutoFit/>
          </a:bodyPr>
          <a:lstStyle/>
          <a:p>
            <a:pPr algn="l"/>
            <a:r>
              <a:rPr sz="1600" b="1" i="0">
                <a:solidFill>
                  <a:srgbClr val="1F3864"/>
                </a:solidFill>
                <a:latin typeface="Calibri"/>
              </a:rPr>
              <a:t>Communication duration formula:</a:t>
            </a:r>
          </a:p>
        </p:txBody>
      </p:sp>
      <p:sp>
        <p:nvSpPr>
          <p:cNvPr id="5" name="TextBox 4"/>
          <p:cNvSpPr txBox="1"/>
          <p:nvPr/>
        </p:nvSpPr>
        <p:spPr>
          <a:xfrm>
            <a:off x="347472" y="1581912"/>
            <a:ext cx="11496751" cy="457200"/>
          </a:xfrm>
          <a:prstGeom prst="rect">
            <a:avLst/>
          </a:prstGeom>
          <a:noFill/>
        </p:spPr>
        <p:txBody>
          <a:bodyPr wrap="square" lIns="0" tIns="0">
            <a:spAutoFit/>
          </a:bodyPr>
          <a:lstStyle/>
          <a:p>
            <a:pPr algn="ctr"/>
            <a:r>
              <a:rPr sz="1800" b="1" i="0">
                <a:solidFill>
                  <a:srgbClr val="2166AC"/>
                </a:solidFill>
                <a:latin typeface="Calibri"/>
              </a:rPr>
              <a:t>duration  =  α × hop_count(src, dst)  +  β × communication_volume</a:t>
            </a:r>
          </a:p>
        </p:txBody>
      </p:sp>
      <p:sp>
        <p:nvSpPr>
          <p:cNvPr id="6" name="Rectangle 5"/>
          <p:cNvSpPr/>
          <p:nvPr/>
        </p:nvSpPr>
        <p:spPr>
          <a:xfrm>
            <a:off x="347472" y="2130552"/>
            <a:ext cx="2560320" cy="457200"/>
          </a:xfrm>
          <a:prstGeom prst="rect">
            <a:avLst/>
          </a:prstGeom>
          <a:solidFill>
            <a:srgbClr val="1F386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Parameter</a:t>
            </a:r>
          </a:p>
        </p:txBody>
      </p:sp>
      <p:sp>
        <p:nvSpPr>
          <p:cNvPr id="7" name="Rectangle 6"/>
          <p:cNvSpPr/>
          <p:nvPr/>
        </p:nvSpPr>
        <p:spPr>
          <a:xfrm>
            <a:off x="2907792" y="2130552"/>
            <a:ext cx="2560320" cy="457200"/>
          </a:xfrm>
          <a:prstGeom prst="rect">
            <a:avLst/>
          </a:prstGeom>
          <a:solidFill>
            <a:srgbClr val="1F386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Value (main)</a:t>
            </a:r>
          </a:p>
        </p:txBody>
      </p:sp>
      <p:sp>
        <p:nvSpPr>
          <p:cNvPr id="8" name="Rectangle 7"/>
          <p:cNvSpPr/>
          <p:nvPr/>
        </p:nvSpPr>
        <p:spPr>
          <a:xfrm>
            <a:off x="5468112" y="2130552"/>
            <a:ext cx="5943600" cy="457200"/>
          </a:xfrm>
          <a:prstGeom prst="rect">
            <a:avLst/>
          </a:prstGeom>
          <a:solidFill>
            <a:srgbClr val="1F386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Role</a:t>
            </a:r>
          </a:p>
        </p:txBody>
      </p:sp>
      <p:sp>
        <p:nvSpPr>
          <p:cNvPr id="9" name="Rectangle 8"/>
          <p:cNvSpPr/>
          <p:nvPr/>
        </p:nvSpPr>
        <p:spPr>
          <a:xfrm>
            <a:off x="347472" y="25877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α (alpha)</a:t>
            </a:r>
          </a:p>
        </p:txBody>
      </p:sp>
      <p:sp>
        <p:nvSpPr>
          <p:cNvPr id="10" name="Rectangle 9"/>
          <p:cNvSpPr/>
          <p:nvPr/>
        </p:nvSpPr>
        <p:spPr>
          <a:xfrm>
            <a:off x="2907792" y="25877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0.0</a:t>
            </a:r>
          </a:p>
        </p:txBody>
      </p:sp>
      <p:sp>
        <p:nvSpPr>
          <p:cNvPr id="11" name="Rectangle 10"/>
          <p:cNvSpPr/>
          <p:nvPr/>
        </p:nvSpPr>
        <p:spPr>
          <a:xfrm>
            <a:off x="5468112" y="2587752"/>
            <a:ext cx="594360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Per-hop latency coefficient</a:t>
            </a:r>
          </a:p>
        </p:txBody>
      </p:sp>
      <p:sp>
        <p:nvSpPr>
          <p:cNvPr id="12" name="Rectangle 11"/>
          <p:cNvSpPr/>
          <p:nvPr/>
        </p:nvSpPr>
        <p:spPr>
          <a:xfrm>
            <a:off x="347472" y="30449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β (beta)</a:t>
            </a:r>
          </a:p>
        </p:txBody>
      </p:sp>
      <p:sp>
        <p:nvSpPr>
          <p:cNvPr id="13" name="Rectangle 12"/>
          <p:cNvSpPr/>
          <p:nvPr/>
        </p:nvSpPr>
        <p:spPr>
          <a:xfrm>
            <a:off x="2907792" y="30449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1.0</a:t>
            </a:r>
          </a:p>
        </p:txBody>
      </p:sp>
      <p:sp>
        <p:nvSpPr>
          <p:cNvPr id="14" name="Rectangle 13"/>
          <p:cNvSpPr/>
          <p:nvPr/>
        </p:nvSpPr>
        <p:spPr>
          <a:xfrm>
            <a:off x="5468112" y="3044952"/>
            <a:ext cx="594360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Bandwidth coefficient (volume penalty)</a:t>
            </a:r>
          </a:p>
        </p:txBody>
      </p:sp>
      <p:sp>
        <p:nvSpPr>
          <p:cNvPr id="15" name="Rectangle 14"/>
          <p:cNvSpPr/>
          <p:nvPr/>
        </p:nvSpPr>
        <p:spPr>
          <a:xfrm>
            <a:off x="347472" y="35021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hop_count</a:t>
            </a:r>
          </a:p>
        </p:txBody>
      </p:sp>
      <p:sp>
        <p:nvSpPr>
          <p:cNvPr id="16" name="Rectangle 15"/>
          <p:cNvSpPr/>
          <p:nvPr/>
        </p:nvSpPr>
        <p:spPr>
          <a:xfrm>
            <a:off x="2907792" y="35021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XY Manhattan distance</a:t>
            </a:r>
          </a:p>
        </p:txBody>
      </p:sp>
      <p:sp>
        <p:nvSpPr>
          <p:cNvPr id="17" name="Rectangle 16"/>
          <p:cNvSpPr/>
          <p:nvPr/>
        </p:nvSpPr>
        <p:spPr>
          <a:xfrm>
            <a:off x="5468112" y="3502152"/>
            <a:ext cx="594360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Computed from 4x4 mesh coordinates</a:t>
            </a:r>
          </a:p>
        </p:txBody>
      </p:sp>
      <p:sp>
        <p:nvSpPr>
          <p:cNvPr id="18" name="Rectangle 17"/>
          <p:cNvSpPr/>
          <p:nvPr/>
        </p:nvSpPr>
        <p:spPr>
          <a:xfrm>
            <a:off x="347472" y="39593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volume</a:t>
            </a:r>
          </a:p>
        </p:txBody>
      </p:sp>
      <p:sp>
        <p:nvSpPr>
          <p:cNvPr id="19" name="Rectangle 18"/>
          <p:cNvSpPr/>
          <p:nvPr/>
        </p:nvSpPr>
        <p:spPr>
          <a:xfrm>
            <a:off x="2907792" y="3959352"/>
            <a:ext cx="256032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Edge attribute in DAG</a:t>
            </a:r>
          </a:p>
        </p:txBody>
      </p:sp>
      <p:sp>
        <p:nvSpPr>
          <p:cNvPr id="20" name="Rectangle 19"/>
          <p:cNvSpPr/>
          <p:nvPr/>
        </p:nvSpPr>
        <p:spPr>
          <a:xfrm>
            <a:off x="5468112" y="3959352"/>
            <a:ext cx="5943600" cy="457200"/>
          </a:xfrm>
          <a:prstGeom prst="rect">
            <a:avLst/>
          </a:prstGeom>
          <a:solidFill>
            <a:srgbClr val="EEF2F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000000"/>
                </a:solidFill>
                <a:latin typeface="Calibri"/>
              </a:rPr>
              <a:t>Data transferred across the edge</a:t>
            </a:r>
          </a:p>
        </p:txBody>
      </p:sp>
      <p:sp>
        <p:nvSpPr>
          <p:cNvPr id="21" name="TextBox 20"/>
          <p:cNvSpPr txBox="1"/>
          <p:nvPr/>
        </p:nvSpPr>
        <p:spPr>
          <a:xfrm>
            <a:off x="347472" y="4553712"/>
            <a:ext cx="11496751" cy="365760"/>
          </a:xfrm>
          <a:prstGeom prst="rect">
            <a:avLst/>
          </a:prstGeom>
          <a:noFill/>
        </p:spPr>
        <p:txBody>
          <a:bodyPr wrap="square" lIns="0" tIns="0">
            <a:spAutoFit/>
          </a:bodyPr>
          <a:lstStyle/>
          <a:p>
            <a:pPr algn="l"/>
            <a:r>
              <a:rPr sz="1300" b="0" i="1">
                <a:solidFill>
                  <a:srgbClr val="555555"/>
                </a:solidFill>
                <a:latin typeface="Calibri"/>
              </a:rPr>
              <a:t>Local communication (same processor): duration = 0. No CommunicationInstance created.</a:t>
            </a:r>
          </a:p>
        </p:txBody>
      </p:sp>
      <p:sp>
        <p:nvSpPr>
          <p:cNvPr id="22" name="TextBox 21"/>
          <p:cNvSpPr txBox="1"/>
          <p:nvPr/>
        </p:nvSpPr>
        <p:spPr>
          <a:xfrm>
            <a:off x="347472" y="5010912"/>
            <a:ext cx="11496751" cy="1097280"/>
          </a:xfrm>
          <a:prstGeom prst="rect">
            <a:avLst/>
          </a:prstGeom>
          <a:noFill/>
        </p:spPr>
        <p:txBody>
          <a:bodyPr wrap="square" lIns="0" tIns="0">
            <a:spAutoFit/>
          </a:bodyPr>
          <a:lstStyle/>
          <a:p>
            <a:pPr algn="l">
              <a:spcBef>
                <a:spcPts val="500"/>
              </a:spcBef>
              <a:spcAft>
                <a:spcPts val="0"/>
              </a:spcAft>
            </a:pPr>
            <a:r>
              <a:rPr sz="1400" b="0">
                <a:solidFill>
                  <a:srgbClr val="000000"/>
                </a:solidFill>
                <a:latin typeface="Calibri"/>
              </a:rPr>
              <a:t>• With α=0: duration = volume only. Hop distance does not affect timing.</a:t>
            </a:r>
          </a:p>
          <a:p>
            <a:pPr algn="l">
              <a:spcBef>
                <a:spcPts val="500"/>
              </a:spcBef>
              <a:spcAft>
                <a:spcPts val="0"/>
              </a:spcAft>
            </a:pPr>
            <a:r>
              <a:rPr sz="1400" b="0">
                <a:solidFill>
                  <a:srgbClr val="000000"/>
                </a:solidFill>
                <a:latin typeface="Calibri"/>
              </a:rPr>
              <a:t>• This isolates bandwidth-driven contention from routing distance effects.</a:t>
            </a:r>
          </a:p>
          <a:p>
            <a:pPr algn="l">
              <a:spcBef>
                <a:spcPts val="500"/>
              </a:spcBef>
              <a:spcAft>
                <a:spcPts val="0"/>
              </a:spcAft>
            </a:pPr>
            <a:r>
              <a:rPr sz="1400" b="0">
                <a:solidFill>
                  <a:srgbClr val="555555"/>
                </a:solidFill>
                <a:latin typeface="Calibri"/>
              </a:rPr>
              <a:t>• Alpha sensitivity tested separately: α ∈ {0.0, 1.0, 5.0} (Phase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3. IMPLEMENTATION  —  </a:t>
            </a:r>
            <a:r>
              <a:rPr sz="2400" b="1">
                <a:solidFill>
                  <a:srgbClr val="FFFFFF"/>
                </a:solidFill>
                <a:latin typeface="Calibri"/>
              </a:rPr>
              <a:t>Methodology Updates: What Was Applied, What Changed, and Why?</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5 / 12</a:t>
            </a:r>
          </a:p>
        </p:txBody>
      </p:sp>
      <p:sp>
        <p:nvSpPr>
          <p:cNvPr id="5" name="Rectangle 4"/>
          <p:cNvSpPr/>
          <p:nvPr/>
        </p:nvSpPr>
        <p:spPr>
          <a:xfrm>
            <a:off x="347472" y="1078992"/>
            <a:ext cx="3722522" cy="402336"/>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Applied from Proposal</a:t>
            </a:r>
          </a:p>
        </p:txBody>
      </p:sp>
      <p:sp>
        <p:nvSpPr>
          <p:cNvPr id="6" name="TextBox 5"/>
          <p:cNvSpPr txBox="1"/>
          <p:nvPr/>
        </p:nvSpPr>
        <p:spPr>
          <a:xfrm>
            <a:off x="347472" y="1554480"/>
            <a:ext cx="3722522" cy="4645152"/>
          </a:xfrm>
          <a:prstGeom prst="rect">
            <a:avLst/>
          </a:prstGeom>
          <a:noFill/>
        </p:spPr>
        <p:txBody>
          <a:bodyPr wrap="square" lIns="0" tIns="0">
            <a:spAutoFit/>
          </a:bodyPr>
          <a:lstStyle/>
          <a:p>
            <a:pPr algn="l">
              <a:spcBef>
                <a:spcPts val="500"/>
              </a:spcBef>
              <a:spcAft>
                <a:spcPts val="0"/>
              </a:spcAft>
            </a:pPr>
            <a:r>
              <a:rPr sz="1300" b="0">
                <a:solidFill>
                  <a:srgbClr val="000000"/>
                </a:solidFill>
                <a:latin typeface="Calibri"/>
              </a:rPr>
              <a:t>• Upward-rank priority (HEFT formula)</a:t>
            </a:r>
          </a:p>
          <a:p>
            <a:pPr algn="l">
              <a:spcBef>
                <a:spcPts val="200"/>
              </a:spcBef>
              <a:spcAft>
                <a:spcPts val="0"/>
              </a:spcAft>
            </a:pPr>
            <a:r>
              <a:rPr sz="1100" b="0">
                <a:solidFill>
                  <a:srgbClr val="555555"/>
                </a:solidFill>
                <a:latin typeface="Calibri"/>
              </a:rPr>
              <a:t>   – Identical ordering across all three schedulers</a:t>
            </a:r>
          </a:p>
          <a:p>
            <a:pPr algn="l">
              <a:spcBef>
                <a:spcPts val="500"/>
              </a:spcBef>
              <a:spcAft>
                <a:spcPts val="0"/>
              </a:spcAft>
            </a:pPr>
            <a:r>
              <a:rPr sz="1300" b="0">
                <a:solidFill>
                  <a:srgbClr val="000000"/>
                </a:solidFill>
                <a:latin typeface="Calibri"/>
              </a:rPr>
              <a:t>• List scheduling: tasks in rank order</a:t>
            </a:r>
          </a:p>
          <a:p>
            <a:pPr algn="l">
              <a:spcBef>
                <a:spcPts val="200"/>
              </a:spcBef>
              <a:spcAft>
                <a:spcPts val="0"/>
              </a:spcAft>
            </a:pPr>
            <a:r>
              <a:rPr sz="1100" b="0">
                <a:solidFill>
                  <a:srgbClr val="555555"/>
                </a:solidFill>
                <a:latin typeface="Calibri"/>
              </a:rPr>
              <a:t>   – Ready = all parents scheduled</a:t>
            </a:r>
          </a:p>
          <a:p>
            <a:pPr algn="l">
              <a:spcBef>
                <a:spcPts val="500"/>
              </a:spcBef>
              <a:spcAft>
                <a:spcPts val="0"/>
              </a:spcAft>
            </a:pPr>
            <a:r>
              <a:rPr sz="1300" b="0">
                <a:solidFill>
                  <a:srgbClr val="000000"/>
                </a:solidFill>
                <a:latin typeface="Calibri"/>
              </a:rPr>
              <a:t>• Task duplication to reduce comm wait</a:t>
            </a:r>
          </a:p>
          <a:p>
            <a:pPr algn="l">
              <a:spcBef>
                <a:spcPts val="200"/>
              </a:spcBef>
              <a:spcAft>
                <a:spcPts val="0"/>
              </a:spcAft>
            </a:pPr>
            <a:r>
              <a:rPr sz="1100" b="0">
                <a:solidFill>
                  <a:srgbClr val="555555"/>
                </a:solidFill>
                <a:latin typeface="Calibri"/>
              </a:rPr>
              <a:t>   – Extended from CD-LS to recursive ancestors</a:t>
            </a:r>
          </a:p>
          <a:p>
            <a:pPr algn="l">
              <a:spcBef>
                <a:spcPts val="500"/>
              </a:spcBef>
              <a:spcAft>
                <a:spcPts val="0"/>
              </a:spcAft>
            </a:pPr>
            <a:r>
              <a:rPr sz="1300" b="0">
                <a:solidFill>
                  <a:srgbClr val="000000"/>
                </a:solidFill>
                <a:latin typeface="Calibri"/>
              </a:rPr>
              <a:t>• 4x4 mesh NoC, XY routing</a:t>
            </a:r>
          </a:p>
          <a:p>
            <a:pPr algn="l">
              <a:spcBef>
                <a:spcPts val="500"/>
              </a:spcBef>
              <a:spcAft>
                <a:spcPts val="0"/>
              </a:spcAft>
            </a:pPr>
            <a:r>
              <a:rPr sz="1300" b="0">
                <a:solidFill>
                  <a:srgbClr val="000000"/>
                </a:solidFill>
                <a:latin typeface="Calibri"/>
              </a:rPr>
              <a:t>• comm_cost = alpha x hop + beta x vol</a:t>
            </a:r>
          </a:p>
          <a:p>
            <a:pPr algn="l">
              <a:spcBef>
                <a:spcPts val="200"/>
              </a:spcBef>
              <a:spcAft>
                <a:spcPts val="0"/>
              </a:spcAft>
            </a:pPr>
            <a:r>
              <a:rPr sz="1100" b="0">
                <a:solidFill>
                  <a:srgbClr val="555555"/>
                </a:solidFill>
                <a:latin typeface="Calibri"/>
              </a:rPr>
              <a:t>   – alpha=0 isolates bandwidth contention</a:t>
            </a:r>
          </a:p>
        </p:txBody>
      </p:sp>
      <p:sp>
        <p:nvSpPr>
          <p:cNvPr id="7" name="Rectangle 6"/>
          <p:cNvSpPr/>
          <p:nvPr/>
        </p:nvSpPr>
        <p:spPr>
          <a:xfrm>
            <a:off x="4234586" y="1078992"/>
            <a:ext cx="3722522" cy="402336"/>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What Changed</a:t>
            </a:r>
          </a:p>
        </p:txBody>
      </p:sp>
      <p:sp>
        <p:nvSpPr>
          <p:cNvPr id="8" name="TextBox 7"/>
          <p:cNvSpPr txBox="1"/>
          <p:nvPr/>
        </p:nvSpPr>
        <p:spPr>
          <a:xfrm>
            <a:off x="4234586" y="1554480"/>
            <a:ext cx="3722522" cy="4645152"/>
          </a:xfrm>
          <a:prstGeom prst="rect">
            <a:avLst/>
          </a:prstGeom>
          <a:noFill/>
        </p:spPr>
        <p:txBody>
          <a:bodyPr wrap="square" lIns="0" tIns="0">
            <a:spAutoFit/>
          </a:bodyPr>
          <a:lstStyle/>
          <a:p>
            <a:pPr algn="l">
              <a:spcBef>
                <a:spcPts val="500"/>
              </a:spcBef>
              <a:spcAft>
                <a:spcPts val="0"/>
              </a:spcAft>
            </a:pPr>
            <a:r>
              <a:rPr sz="1300" b="1">
                <a:solidFill>
                  <a:srgbClr val="D6604D"/>
                </a:solidFill>
                <a:latin typeface="Calibri"/>
              </a:rPr>
              <a:t>• Scalar penalty  -&gt;  per-link reservation</a:t>
            </a:r>
          </a:p>
          <a:p>
            <a:pPr algn="l">
              <a:spcBef>
                <a:spcPts val="200"/>
              </a:spcBef>
              <a:spcAft>
                <a:spcPts val="0"/>
              </a:spcAft>
            </a:pPr>
            <a:r>
              <a:rPr sz="1100" b="0">
                <a:solidFill>
                  <a:srgbClr val="555555"/>
                </a:solidFill>
                <a:latin typeface="Calibri"/>
              </a:rPr>
              <a:t>   – link_intervals: sorted list per directed link</a:t>
            </a:r>
          </a:p>
          <a:p>
            <a:pPr algn="l">
              <a:spcBef>
                <a:spcPts val="200"/>
              </a:spcBef>
              <a:spcAft>
                <a:spcPts val="0"/>
              </a:spcAft>
            </a:pPr>
            <a:r>
              <a:rPr sz="1100" b="0">
                <a:solidFill>
                  <a:srgbClr val="555555"/>
                </a:solidFill>
                <a:latin typeface="Calibri"/>
              </a:rPr>
              <a:t>   – earliest_route_slot(): first jointly-free slot</a:t>
            </a:r>
          </a:p>
          <a:p>
            <a:pPr algn="l">
              <a:spcBef>
                <a:spcPts val="500"/>
              </a:spcBef>
              <a:spcAft>
                <a:spcPts val="0"/>
              </a:spcAft>
            </a:pPr>
            <a:r>
              <a:rPr sz="1300" b="1">
                <a:solidFill>
                  <a:srgbClr val="D6604D"/>
                </a:solidFill>
                <a:latin typeface="Calibri"/>
              </a:rPr>
              <a:t>• probe_communication_arrival() added</a:t>
            </a:r>
          </a:p>
          <a:p>
            <a:pPr algn="l">
              <a:spcBef>
                <a:spcPts val="200"/>
              </a:spcBef>
              <a:spcAft>
                <a:spcPts val="0"/>
              </a:spcAft>
            </a:pPr>
            <a:r>
              <a:rPr sz="1100" b="0">
                <a:solidFill>
                  <a:srgbClr val="555555"/>
                </a:solidFill>
                <a:latin typeface="Calibri"/>
              </a:rPr>
              <a:t>   – Read-only contention check — no link committed</a:t>
            </a:r>
          </a:p>
          <a:p>
            <a:pPr algn="l">
              <a:spcBef>
                <a:spcPts val="500"/>
              </a:spcBef>
              <a:spcAft>
                <a:spcPts val="0"/>
              </a:spcAft>
            </a:pPr>
            <a:r>
              <a:rPr sz="1300" b="1">
                <a:solidFill>
                  <a:srgbClr val="D6604D"/>
                </a:solidFill>
                <a:latin typeface="Calibri"/>
              </a:rPr>
              <a:t>• Single critical-parent  -&gt;  all predecessors</a:t>
            </a:r>
          </a:p>
          <a:p>
            <a:pPr algn="l">
              <a:spcBef>
                <a:spcPts val="200"/>
              </a:spcBef>
              <a:spcAft>
                <a:spcPts val="0"/>
              </a:spcAft>
            </a:pPr>
            <a:r>
              <a:rPr sz="1100" b="0">
                <a:solidFill>
                  <a:srgbClr val="555555"/>
                </a:solidFill>
                <a:latin typeface="Calibri"/>
              </a:rPr>
              <a:t>   – Every direct parent evaluated independently</a:t>
            </a:r>
          </a:p>
          <a:p>
            <a:pPr algn="l">
              <a:spcBef>
                <a:spcPts val="200"/>
              </a:spcBef>
              <a:spcAft>
                <a:spcPts val="0"/>
              </a:spcAft>
            </a:pPr>
            <a:r>
              <a:rPr sz="1100" b="0">
                <a:solidFill>
                  <a:srgbClr val="555555"/>
                </a:solidFill>
                <a:latin typeface="Calibri"/>
              </a:rPr>
              <a:t>   – Greedy recursive: commit if delta-EFT &gt; eps</a:t>
            </a:r>
          </a:p>
          <a:p>
            <a:pPr algn="l">
              <a:spcBef>
                <a:spcPts val="500"/>
              </a:spcBef>
              <a:spcAft>
                <a:spcPts val="0"/>
              </a:spcAft>
            </a:pPr>
            <a:r>
              <a:rPr sz="1300" b="0">
                <a:solidFill>
                  <a:srgbClr val="000000"/>
                </a:solidFill>
                <a:latin typeface="Calibri"/>
              </a:rPr>
              <a:t>• Conservative pruning pass added</a:t>
            </a:r>
          </a:p>
          <a:p>
            <a:pPr algn="l">
              <a:spcBef>
                <a:spcPts val="200"/>
              </a:spcBef>
              <a:spcAft>
                <a:spcPts val="0"/>
              </a:spcAft>
            </a:pPr>
            <a:r>
              <a:rPr sz="1100" b="0">
                <a:solidFill>
                  <a:srgbClr val="555555"/>
                </a:solidFill>
                <a:latin typeface="Calibri"/>
              </a:rPr>
              <a:t>   – 4 safety conditions must all hold for removal</a:t>
            </a:r>
          </a:p>
        </p:txBody>
      </p:sp>
      <p:sp>
        <p:nvSpPr>
          <p:cNvPr id="9" name="Rectangle 8"/>
          <p:cNvSpPr/>
          <p:nvPr/>
        </p:nvSpPr>
        <p:spPr>
          <a:xfrm>
            <a:off x="8121700" y="1078992"/>
            <a:ext cx="3722522" cy="402336"/>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Why</a:t>
            </a:r>
          </a:p>
        </p:txBody>
      </p:sp>
      <p:sp>
        <p:nvSpPr>
          <p:cNvPr id="10" name="TextBox 9"/>
          <p:cNvSpPr txBox="1"/>
          <p:nvPr/>
        </p:nvSpPr>
        <p:spPr>
          <a:xfrm>
            <a:off x="8121700" y="1554480"/>
            <a:ext cx="3722522" cy="4645152"/>
          </a:xfrm>
          <a:prstGeom prst="rect">
            <a:avLst/>
          </a:prstGeom>
          <a:noFill/>
        </p:spPr>
        <p:txBody>
          <a:bodyPr wrap="square" lIns="0" tIns="0">
            <a:spAutoFit/>
          </a:bodyPr>
          <a:lstStyle/>
          <a:p>
            <a:pPr algn="l">
              <a:spcBef>
                <a:spcPts val="500"/>
              </a:spcBef>
              <a:spcAft>
                <a:spcPts val="0"/>
              </a:spcAft>
            </a:pPr>
            <a:r>
              <a:rPr sz="1300" b="0">
                <a:solidFill>
                  <a:srgbClr val="000000"/>
                </a:solidFill>
                <a:latin typeface="Calibri"/>
              </a:rPr>
              <a:t>• Per-link reservation: accurate timing</a:t>
            </a:r>
          </a:p>
          <a:p>
            <a:pPr algn="l">
              <a:spcBef>
                <a:spcPts val="200"/>
              </a:spcBef>
              <a:spcAft>
                <a:spcPts val="0"/>
              </a:spcAft>
            </a:pPr>
            <a:r>
              <a:rPr sz="1100" b="0">
                <a:solidFill>
                  <a:srgbClr val="555555"/>
                </a:solidFill>
                <a:latin typeface="Calibri"/>
              </a:rPr>
              <a:t>   – Scalar estimate misses link-level congestion</a:t>
            </a:r>
          </a:p>
          <a:p>
            <a:pPr algn="l">
              <a:spcBef>
                <a:spcPts val="200"/>
              </a:spcBef>
              <a:spcAft>
                <a:spcPts val="0"/>
              </a:spcAft>
            </a:pPr>
            <a:r>
              <a:rPr sz="1100" b="0">
                <a:solidFill>
                  <a:srgbClr val="555555"/>
                </a:solidFill>
                <a:latin typeface="Calibri"/>
              </a:rPr>
              <a:t>   – Each link independently tracks occupancy</a:t>
            </a:r>
          </a:p>
          <a:p>
            <a:pPr algn="l">
              <a:spcBef>
                <a:spcPts val="500"/>
              </a:spcBef>
              <a:spcAft>
                <a:spcPts val="0"/>
              </a:spcAft>
            </a:pPr>
            <a:r>
              <a:rPr sz="1300" b="0">
                <a:solidFill>
                  <a:srgbClr val="000000"/>
                </a:solidFill>
                <a:latin typeface="Calibri"/>
              </a:rPr>
              <a:t>• probe(): side-effect-free evaluation</a:t>
            </a:r>
          </a:p>
          <a:p>
            <a:pPr algn="l">
              <a:spcBef>
                <a:spcPts val="200"/>
              </a:spcBef>
              <a:spcAft>
                <a:spcPts val="0"/>
              </a:spcAft>
            </a:pPr>
            <a:r>
              <a:rPr sz="1100" b="0">
                <a:solidFill>
                  <a:srgbClr val="555555"/>
                </a:solidFill>
                <a:latin typeface="Calibri"/>
              </a:rPr>
              <a:t>   – Candidate processor loop clones state</a:t>
            </a:r>
          </a:p>
          <a:p>
            <a:pPr algn="l">
              <a:spcBef>
                <a:spcPts val="200"/>
              </a:spcBef>
              <a:spcAft>
                <a:spcPts val="0"/>
              </a:spcAft>
            </a:pPr>
            <a:r>
              <a:rPr sz="1100" b="0">
                <a:solidFill>
                  <a:srgbClr val="555555"/>
                </a:solidFill>
                <a:latin typeface="Calibri"/>
              </a:rPr>
              <a:t>   – Rejected clones are discarded cleanly</a:t>
            </a:r>
          </a:p>
          <a:p>
            <a:pPr algn="l">
              <a:spcBef>
                <a:spcPts val="500"/>
              </a:spcBef>
              <a:spcAft>
                <a:spcPts val="0"/>
              </a:spcAft>
            </a:pPr>
            <a:r>
              <a:rPr sz="1300" b="0">
                <a:solidFill>
                  <a:srgbClr val="000000"/>
                </a:solidFill>
                <a:latin typeface="Calibri"/>
              </a:rPr>
              <a:t>• All-predecessor eval: simpler + deterministic</a:t>
            </a:r>
          </a:p>
          <a:p>
            <a:pPr algn="l">
              <a:spcBef>
                <a:spcPts val="200"/>
              </a:spcBef>
              <a:spcAft>
                <a:spcPts val="0"/>
              </a:spcAft>
            </a:pPr>
            <a:r>
              <a:rPr sz="1100" b="0">
                <a:solidFill>
                  <a:srgbClr val="555555"/>
                </a:solidFill>
                <a:latin typeface="Calibri"/>
              </a:rPr>
              <a:t>   – Critical-path choice ambiguous under contention</a:t>
            </a:r>
          </a:p>
          <a:p>
            <a:pPr algn="l">
              <a:spcBef>
                <a:spcPts val="200"/>
              </a:spcBef>
              <a:spcAft>
                <a:spcPts val="0"/>
              </a:spcAft>
            </a:pPr>
            <a:r>
              <a:rPr sz="1100" b="0">
                <a:solidFill>
                  <a:srgbClr val="555555"/>
                </a:solidFill>
                <a:latin typeface="Calibri"/>
              </a:rPr>
              <a:t>   – All-pred captures more duplication benefit</a:t>
            </a:r>
          </a:p>
          <a:p>
            <a:pPr algn="l">
              <a:spcBef>
                <a:spcPts val="500"/>
              </a:spcBef>
              <a:spcAft>
                <a:spcPts val="0"/>
              </a:spcAft>
            </a:pPr>
            <a:r>
              <a:rPr sz="1300" b="0">
                <a:solidFill>
                  <a:srgbClr val="000000"/>
                </a:solidFill>
                <a:latin typeface="Calibri"/>
              </a:rPr>
              <a:t>• Pruning: correctness safety net</a:t>
            </a:r>
          </a:p>
          <a:p>
            <a:pPr algn="l">
              <a:spcBef>
                <a:spcPts val="200"/>
              </a:spcBef>
              <a:spcAft>
                <a:spcPts val="0"/>
              </a:spcAft>
            </a:pPr>
            <a:r>
              <a:rPr sz="1100" b="0">
                <a:solidFill>
                  <a:srgbClr val="555555"/>
                </a:solidFill>
                <a:latin typeface="Calibri"/>
              </a:rPr>
              <a:t>   – Rarely triggered; benefit from dup itself</a:t>
            </a:r>
          </a:p>
        </p:txBody>
      </p:sp>
      <p:sp>
        <p:nvSpPr>
          <p:cNvPr id="11" name="Rectangle 10"/>
          <p:cNvSpPr/>
          <p:nvPr/>
        </p:nvSpPr>
        <p:spPr>
          <a:xfrm>
            <a:off x="347472" y="6113981"/>
            <a:ext cx="11496751" cy="438912"/>
          </a:xfrm>
          <a:prstGeom prst="rect">
            <a:avLst/>
          </a:prstGeom>
          <a:solidFill>
            <a:srgbClr val="EEF2F7"/>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0">
                <a:solidFill>
                  <a:srgbClr val="1F3864"/>
                </a:solidFill>
                <a:latin typeface="Calibri"/>
              </a:rPr>
              <a:t>Key shift: from a scalar contention estimate to per-link interval reservation — enabling CA-D to make duplication decisions under realistic link occupancy.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3. IMPLEMENTATION  —  </a:t>
            </a:r>
            <a:r>
              <a:rPr sz="2600" b="1">
                <a:solidFill>
                  <a:srgbClr val="FFFFFF"/>
                </a:solidFill>
                <a:latin typeface="Calibri"/>
              </a:rPr>
              <a:t>Implemented System Architecture</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4 / 12</a:t>
            </a:r>
          </a:p>
        </p:txBody>
      </p:sp>
      <p:sp>
        <p:nvSpPr>
          <p:cNvPr id="5" name="Rectangle 4"/>
          <p:cNvSpPr/>
          <p:nvPr/>
        </p:nvSpPr>
        <p:spPr>
          <a:xfrm>
            <a:off x="2255367" y="1170432"/>
            <a:ext cx="338328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DAG Generator
4 families: Chain, Fork, Out-tree, Fork-join</a:t>
            </a:r>
          </a:p>
        </p:txBody>
      </p:sp>
      <p:sp>
        <p:nvSpPr>
          <p:cNvPr id="6" name="Rectangle 5"/>
          <p:cNvSpPr/>
          <p:nvPr/>
        </p:nvSpPr>
        <p:spPr>
          <a:xfrm>
            <a:off x="6553047" y="1170432"/>
            <a:ext cx="338328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MeshNoC Model
4×4 mesh, XY routing, α=0, β=1</a:t>
            </a:r>
          </a:p>
        </p:txBody>
      </p:sp>
      <p:sp>
        <p:nvSpPr>
          <p:cNvPr id="7" name="TextBox 6"/>
          <p:cNvSpPr txBox="1"/>
          <p:nvPr/>
        </p:nvSpPr>
        <p:spPr>
          <a:xfrm>
            <a:off x="3764127" y="1737360"/>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8" name="TextBox 7"/>
          <p:cNvSpPr txBox="1"/>
          <p:nvPr/>
        </p:nvSpPr>
        <p:spPr>
          <a:xfrm>
            <a:off x="8061807" y="1737360"/>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9" name="Rectangle 8"/>
          <p:cNvSpPr/>
          <p:nvPr/>
        </p:nvSpPr>
        <p:spPr>
          <a:xfrm>
            <a:off x="347472" y="2029968"/>
            <a:ext cx="3337560" cy="56692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HEFT
Analytic comm, no duplication</a:t>
            </a:r>
          </a:p>
        </p:txBody>
      </p:sp>
      <p:sp>
        <p:nvSpPr>
          <p:cNvPr id="10" name="Rectangle 9"/>
          <p:cNvSpPr/>
          <p:nvPr/>
        </p:nvSpPr>
        <p:spPr>
          <a:xfrm>
            <a:off x="3913632" y="2029968"/>
            <a:ext cx="3337560" cy="566928"/>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CD-LS
Parent dup, analytic comm</a:t>
            </a:r>
          </a:p>
        </p:txBody>
      </p:sp>
      <p:sp>
        <p:nvSpPr>
          <p:cNvPr id="11" name="Rectangle 10"/>
          <p:cNvSpPr/>
          <p:nvPr/>
        </p:nvSpPr>
        <p:spPr>
          <a:xfrm>
            <a:off x="7479792" y="2029968"/>
            <a:ext cx="3337560" cy="566928"/>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CA-D
Recursive ancestor dup, contention-aware</a:t>
            </a:r>
          </a:p>
        </p:txBody>
      </p:sp>
      <p:sp>
        <p:nvSpPr>
          <p:cNvPr id="12" name="TextBox 11"/>
          <p:cNvSpPr txBox="1"/>
          <p:nvPr/>
        </p:nvSpPr>
        <p:spPr>
          <a:xfrm>
            <a:off x="5912967" y="2596896"/>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3" name="Rectangle 12"/>
          <p:cNvSpPr/>
          <p:nvPr/>
        </p:nvSpPr>
        <p:spPr>
          <a:xfrm>
            <a:off x="347472" y="2889504"/>
            <a:ext cx="11496751"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ScheduleState  —  processor_intervals + link_intervals</a:t>
            </a:r>
          </a:p>
        </p:txBody>
      </p:sp>
      <p:sp>
        <p:nvSpPr>
          <p:cNvPr id="14" name="TextBox 13"/>
          <p:cNvSpPr txBox="1"/>
          <p:nvPr/>
        </p:nvSpPr>
        <p:spPr>
          <a:xfrm>
            <a:off x="5912967" y="3456432"/>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5" name="Rectangle 14"/>
          <p:cNvSpPr/>
          <p:nvPr/>
        </p:nvSpPr>
        <p:spPr>
          <a:xfrm>
            <a:off x="347472" y="3749040"/>
            <a:ext cx="11496751" cy="566928"/>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1F3864"/>
                </a:solidFill>
                <a:latin typeface="Calibri"/>
              </a:rPr>
              <a:t>replay_under_contention()  —  re-run timing with link reservations</a:t>
            </a:r>
          </a:p>
        </p:txBody>
      </p:sp>
      <p:sp>
        <p:nvSpPr>
          <p:cNvPr id="16" name="TextBox 15"/>
          <p:cNvSpPr txBox="1"/>
          <p:nvPr/>
        </p:nvSpPr>
        <p:spPr>
          <a:xfrm>
            <a:off x="5912967" y="4315968"/>
            <a:ext cx="365760" cy="292608"/>
          </a:xfrm>
          <a:prstGeom prst="rect">
            <a:avLst/>
          </a:prstGeom>
          <a:noFill/>
        </p:spPr>
        <p:txBody>
          <a:bodyPr wrap="square" lIns="0" tIns="0">
            <a:spAutoFit/>
          </a:bodyPr>
          <a:lstStyle/>
          <a:p>
            <a:pPr algn="ctr"/>
            <a:r>
              <a:rPr sz="1100" b="0" i="0">
                <a:solidFill>
                  <a:srgbClr val="1F3864"/>
                </a:solidFill>
                <a:latin typeface="Calibri"/>
              </a:rPr>
              <a:t>▼</a:t>
            </a:r>
          </a:p>
        </p:txBody>
      </p:sp>
      <p:sp>
        <p:nvSpPr>
          <p:cNvPr id="17" name="Rectangle 16"/>
          <p:cNvSpPr/>
          <p:nvPr/>
        </p:nvSpPr>
        <p:spPr>
          <a:xfrm>
            <a:off x="347472" y="4608576"/>
            <a:ext cx="5656935" cy="566928"/>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1F3864"/>
                </a:solidFill>
                <a:latin typeface="Calibri"/>
              </a:rPr>
              <a:t>Metrics
Speedup, Overhead, TIR, RCVR</a:t>
            </a:r>
          </a:p>
        </p:txBody>
      </p:sp>
      <p:sp>
        <p:nvSpPr>
          <p:cNvPr id="18" name="Rectangle 17"/>
          <p:cNvSpPr/>
          <p:nvPr/>
        </p:nvSpPr>
        <p:spPr>
          <a:xfrm>
            <a:off x="6187287" y="4608576"/>
            <a:ext cx="5656935" cy="566928"/>
          </a:xfrm>
          <a:prstGeom prst="rect">
            <a:avLst/>
          </a:prstGeom>
          <a:solidFill>
            <a:srgbClr val="EEF2F7"/>
          </a:solidFill>
          <a:ln w="9525">
            <a:solidFill>
              <a:srgbClr val="2166AC"/>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1F3864"/>
                </a:solidFill>
                <a:latin typeface="Calibri"/>
              </a:rPr>
              <a:t>Figures
10 PNG+PDF per experiment phase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dirty="0">
                <a:solidFill>
                  <a:srgbClr val="FFFFFF"/>
                </a:solidFill>
                <a:latin typeface="Calibri"/>
              </a:rPr>
              <a:t>CA-D Scheduling Logic (Simplified)</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472" y="1124712"/>
            <a:ext cx="6323213" cy="274320"/>
          </a:xfrm>
          <a:prstGeom prst="rect">
            <a:avLst/>
          </a:prstGeom>
          <a:noFill/>
        </p:spPr>
        <p:txBody>
          <a:bodyPr wrap="square" lIns="0" tIns="0">
            <a:spAutoFit/>
          </a:bodyPr>
          <a:lstStyle/>
          <a:p>
            <a:pPr algn="l"/>
            <a:r>
              <a:rPr sz="1400" b="1" i="0">
                <a:solidFill>
                  <a:srgbClr val="1F3864"/>
                </a:solidFill>
                <a:latin typeface="Calibri"/>
              </a:rPr>
              <a:t>CA-D scheduling loop:</a:t>
            </a:r>
          </a:p>
        </p:txBody>
      </p:sp>
      <p:sp>
        <p:nvSpPr>
          <p:cNvPr id="5" name="TextBox 4"/>
          <p:cNvSpPr txBox="1"/>
          <p:nvPr/>
        </p:nvSpPr>
        <p:spPr>
          <a:xfrm>
            <a:off x="347472" y="1444752"/>
            <a:ext cx="11496751" cy="5276088"/>
          </a:xfrm>
          <a:prstGeom prst="rect">
            <a:avLst/>
          </a:prstGeom>
          <a:noFill/>
        </p:spPr>
        <p:txBody>
          <a:bodyPr wrap="none">
            <a:spAutoFit/>
          </a:bodyPr>
          <a:lstStyle/>
          <a:p>
            <a:pPr>
              <a:spcBef>
                <a:spcPts val="100"/>
              </a:spcBef>
            </a:pPr>
            <a:r>
              <a:rPr sz="1200" b="1">
                <a:solidFill>
                  <a:srgbClr val="1F3864"/>
                </a:solidFill>
                <a:latin typeface="Courier New"/>
              </a:rPr>
              <a:t>for each task T in upward-rank order:</a:t>
            </a:r>
          </a:p>
          <a:p>
            <a:pPr>
              <a:spcBef>
                <a:spcPts val="100"/>
              </a:spcBef>
            </a:pPr>
            <a:r>
              <a:rPr sz="1200">
                <a:solidFill>
                  <a:srgbClr val="000000"/>
                </a:solidFill>
                <a:latin typeface="Courier New"/>
              </a:rPr>
              <a:t>   for each candidate processor P:</a:t>
            </a:r>
          </a:p>
          <a:p>
            <a:pPr>
              <a:spcBef>
                <a:spcPts val="100"/>
              </a:spcBef>
            </a:pPr>
            <a:r>
              <a:rPr sz="1200">
                <a:solidFill>
                  <a:srgbClr val="000000"/>
                </a:solidFill>
                <a:latin typeface="Courier New"/>
              </a:rPr>
              <a:t>      state_copy = clone current ScheduleState</a:t>
            </a:r>
          </a:p>
          <a:p>
            <a:pPr>
              <a:spcBef>
                <a:spcPts val="100"/>
              </a:spcBef>
            </a:pPr>
            <a:r>
              <a:rPr sz="1200">
                <a:solidFill>
                  <a:srgbClr val="000000"/>
                </a:solidFill>
                <a:latin typeface="Courier New"/>
              </a:rPr>
              <a:t>      for each direct predecessor pred of T (ascending task_id):</a:t>
            </a:r>
          </a:p>
          <a:p>
            <a:pPr>
              <a:spcBef>
                <a:spcPts val="100"/>
              </a:spcBef>
            </a:pPr>
            <a:r>
              <a:rPr sz="1200">
                <a:solidFill>
                  <a:srgbClr val="000000"/>
                </a:solidFill>
                <a:latin typeface="Courier New"/>
              </a:rPr>
              <a:t>         if pred not already on P:</a:t>
            </a:r>
          </a:p>
          <a:p>
            <a:pPr>
              <a:spcBef>
                <a:spcPts val="100"/>
              </a:spcBef>
            </a:pPr>
            <a:r>
              <a:rPr sz="1200">
                <a:solidFill>
                  <a:srgbClr val="D6604D"/>
                </a:solidFill>
                <a:latin typeface="Courier New"/>
              </a:rPr>
              <a:t>            EFT_no_dup = contention_EFT(T, P, state_copy)</a:t>
            </a:r>
          </a:p>
          <a:p>
            <a:pPr>
              <a:spcBef>
                <a:spcPts val="100"/>
              </a:spcBef>
            </a:pPr>
            <a:r>
              <a:rPr sz="1200" b="1">
                <a:solidFill>
                  <a:srgbClr val="1F3864"/>
                </a:solidFill>
                <a:latin typeface="Courier New"/>
              </a:rPr>
              <a:t>            _place_recursive_duplicate(pred, P, state_copy)</a:t>
            </a:r>
          </a:p>
          <a:p>
            <a:pPr>
              <a:spcBef>
                <a:spcPts val="100"/>
              </a:spcBef>
            </a:pPr>
            <a:r>
              <a:rPr sz="1200">
                <a:solidFill>
                  <a:srgbClr val="D6604D"/>
                </a:solidFill>
                <a:latin typeface="Courier New"/>
              </a:rPr>
              <a:t>            EFT_dup    = contention_EFT(T, P, state_copy)</a:t>
            </a:r>
          </a:p>
          <a:p>
            <a:pPr>
              <a:spcBef>
                <a:spcPts val="100"/>
              </a:spcBef>
            </a:pPr>
            <a:r>
              <a:rPr sz="1200">
                <a:solidFill>
                  <a:srgbClr val="D6604D"/>
                </a:solidFill>
                <a:latin typeface="Courier New"/>
              </a:rPr>
              <a:t>            if EFT_no_dup - EFT_dup &lt;= eps:</a:t>
            </a:r>
          </a:p>
          <a:p>
            <a:pPr>
              <a:spcBef>
                <a:spcPts val="100"/>
              </a:spcBef>
            </a:pPr>
            <a:r>
              <a:rPr sz="1200">
                <a:solidFill>
                  <a:srgbClr val="D6604D"/>
                </a:solidFill>
                <a:latin typeface="Courier New"/>
              </a:rPr>
              <a:t>               rollback(state_copy)   # no benefit -&gt; reject dup</a:t>
            </a:r>
          </a:p>
          <a:p>
            <a:pPr>
              <a:spcBef>
                <a:spcPts val="100"/>
              </a:spcBef>
            </a:pPr>
            <a:r>
              <a:rPr sz="1200">
                <a:solidFill>
                  <a:srgbClr val="000000"/>
                </a:solidFill>
                <a:latin typeface="Courier New"/>
              </a:rPr>
              <a:t>      candidate_EFT[P] = contention_EFT(T, P, state_copy)</a:t>
            </a:r>
          </a:p>
          <a:p>
            <a:pPr>
              <a:spcBef>
                <a:spcPts val="100"/>
              </a:spcBef>
            </a:pPr>
            <a:r>
              <a:rPr sz="1200">
                <a:solidFill>
                  <a:srgbClr val="000000"/>
                </a:solidFill>
                <a:latin typeface="Courier New"/>
              </a:rPr>
              <a:t>   best_P = argmin(candidate_EFT)</a:t>
            </a:r>
          </a:p>
          <a:p>
            <a:pPr>
              <a:spcBef>
                <a:spcPts val="100"/>
              </a:spcBef>
            </a:pPr>
            <a:r>
              <a:rPr sz="1200">
                <a:solidFill>
                  <a:srgbClr val="000000"/>
                </a:solidFill>
                <a:latin typeface="Courier New"/>
              </a:rPr>
              <a:t>   commit schedule of T on best_P</a:t>
            </a:r>
          </a:p>
          <a:p>
            <a:pPr>
              <a:spcBef>
                <a:spcPts val="100"/>
              </a:spcBef>
            </a:pPr>
            <a:endParaRPr sz="1200">
              <a:solidFill>
                <a:srgbClr val="000000"/>
              </a:solidFill>
              <a:latin typeface="Courier New"/>
            </a:endParaRPr>
          </a:p>
          <a:p>
            <a:pPr>
              <a:spcBef>
                <a:spcPts val="100"/>
              </a:spcBef>
            </a:pPr>
            <a:r>
              <a:rPr sz="1200" b="1">
                <a:solidFill>
                  <a:srgbClr val="1F3864"/>
                </a:solidFill>
                <a:latin typeface="Courier New"/>
              </a:rPr>
              <a:t>_place_recursive_duplicate(pred, P, state):</a:t>
            </a:r>
          </a:p>
          <a:p>
            <a:pPr>
              <a:spcBef>
                <a:spcPts val="100"/>
              </a:spcBef>
            </a:pPr>
            <a:r>
              <a:rPr sz="1200">
                <a:solidFill>
                  <a:srgbClr val="000000"/>
                </a:solidFill>
                <a:latin typeface="Courier New"/>
              </a:rPr>
              <a:t>   if pred already on P: return</a:t>
            </a:r>
          </a:p>
          <a:p>
            <a:pPr>
              <a:spcBef>
                <a:spcPts val="100"/>
              </a:spcBef>
            </a:pPr>
            <a:r>
              <a:rPr sz="1200">
                <a:solidFill>
                  <a:srgbClr val="1A9850"/>
                </a:solidFill>
                <a:latin typeface="Courier New"/>
              </a:rPr>
              <a:t>   for each grandparent gp of pred:</a:t>
            </a:r>
          </a:p>
          <a:p>
            <a:pPr>
              <a:spcBef>
                <a:spcPts val="100"/>
              </a:spcBef>
            </a:pPr>
            <a:r>
              <a:rPr sz="1200">
                <a:solidFill>
                  <a:srgbClr val="1A9850"/>
                </a:solidFill>
                <a:latin typeface="Courier New"/>
              </a:rPr>
              <a:t>      EFT_no_gp = EFT of pred on P without gp</a:t>
            </a:r>
          </a:p>
          <a:p>
            <a:pPr>
              <a:spcBef>
                <a:spcPts val="100"/>
              </a:spcBef>
            </a:pPr>
            <a:r>
              <a:rPr sz="1200">
                <a:solidFill>
                  <a:srgbClr val="1A9850"/>
                </a:solidFill>
                <a:latin typeface="Courier New"/>
              </a:rPr>
              <a:t>      place gp tentatively on P</a:t>
            </a:r>
          </a:p>
          <a:p>
            <a:pPr>
              <a:spcBef>
                <a:spcPts val="100"/>
              </a:spcBef>
            </a:pPr>
            <a:r>
              <a:rPr sz="1200">
                <a:solidFill>
                  <a:srgbClr val="1A9850"/>
                </a:solidFill>
                <a:latin typeface="Courier New"/>
              </a:rPr>
              <a:t>      EFT_gp    = EFT of pred on P with gp</a:t>
            </a:r>
          </a:p>
          <a:p>
            <a:pPr>
              <a:spcBef>
                <a:spcPts val="100"/>
              </a:spcBef>
            </a:pPr>
            <a:r>
              <a:rPr sz="1200">
                <a:solidFill>
                  <a:srgbClr val="D6604D"/>
                </a:solidFill>
                <a:latin typeface="Courier New"/>
              </a:rPr>
              <a:t>      if EFT_no_gp - EFT_gp &lt;= eps: rollback gp</a:t>
            </a:r>
          </a:p>
          <a:p>
            <a:pPr>
              <a:spcBef>
                <a:spcPts val="100"/>
              </a:spcBef>
            </a:pPr>
            <a:r>
              <a:rPr sz="1200">
                <a:solidFill>
                  <a:srgbClr val="1A9850"/>
                </a:solidFill>
                <a:latin typeface="Courier New"/>
              </a:rPr>
              <a:t>      else: commit gp (recursively)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3. IMPLEMENTATION  —  </a:t>
            </a:r>
            <a:r>
              <a:rPr sz="2600" b="1">
                <a:solidFill>
                  <a:srgbClr val="FFFFFF"/>
                </a:solidFill>
                <a:latin typeface="Calibri"/>
              </a:rPr>
              <a:t>Scheduler Comparison: HEFT, CD-LS, CA-D</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6 / 12</a:t>
            </a:r>
          </a:p>
        </p:txBody>
      </p:sp>
      <p:sp>
        <p:nvSpPr>
          <p:cNvPr id="5" name="TextBox 4"/>
          <p:cNvSpPr txBox="1"/>
          <p:nvPr/>
        </p:nvSpPr>
        <p:spPr>
          <a:xfrm>
            <a:off x="347472" y="1152144"/>
            <a:ext cx="11496751" cy="777240"/>
          </a:xfrm>
          <a:prstGeom prst="rect">
            <a:avLst/>
          </a:prstGeom>
          <a:noFill/>
        </p:spPr>
        <p:txBody>
          <a:bodyPr wrap="square" lIns="0" tIns="0">
            <a:spAutoFit/>
          </a:bodyPr>
          <a:lstStyle/>
          <a:p>
            <a:pPr algn="l">
              <a:spcBef>
                <a:spcPts val="500"/>
              </a:spcBef>
              <a:spcAft>
                <a:spcPts val="0"/>
              </a:spcAft>
            </a:pPr>
            <a:r>
              <a:rPr sz="1500" b="0">
                <a:solidFill>
                  <a:srgbClr val="2166AC"/>
                </a:solidFill>
                <a:latin typeface="Calibri"/>
              </a:rPr>
              <a:t>• HEFT: no duplication, analytic communication, no link reservations</a:t>
            </a:r>
          </a:p>
          <a:p>
            <a:pPr algn="l">
              <a:spcBef>
                <a:spcPts val="500"/>
              </a:spcBef>
              <a:spcAft>
                <a:spcPts val="0"/>
              </a:spcAft>
            </a:pPr>
            <a:r>
              <a:rPr sz="1500" b="0">
                <a:solidFill>
                  <a:srgbClr val="D6604D"/>
                </a:solidFill>
                <a:latin typeface="Calibri"/>
              </a:rPr>
              <a:t>• CD-LS: duplicate direct parent only, still analytic, still contention-blind</a:t>
            </a:r>
          </a:p>
          <a:p>
            <a:pPr algn="l">
              <a:spcBef>
                <a:spcPts val="500"/>
              </a:spcBef>
              <a:spcAft>
                <a:spcPts val="0"/>
              </a:spcAft>
            </a:pPr>
            <a:r>
              <a:rPr sz="1500" b="0">
                <a:solidFill>
                  <a:srgbClr val="1A9850"/>
                </a:solidFill>
                <a:latin typeface="Calibri"/>
              </a:rPr>
              <a:t>• CA-D: recursive ancestor duplication evaluated under actual link occupancy</a:t>
            </a:r>
          </a:p>
        </p:txBody>
      </p:sp>
      <p:pic>
        <p:nvPicPr>
          <p:cNvPr id="6" name="Picture 5" descr="fig2_scheduler_concept.png"/>
          <p:cNvPicPr>
            <a:picLocks noChangeAspect="1"/>
          </p:cNvPicPr>
          <p:nvPr/>
        </p:nvPicPr>
        <p:blipFill>
          <a:blip r:embed="rId3"/>
          <a:stretch>
            <a:fillRect/>
          </a:stretch>
        </p:blipFill>
        <p:spPr>
          <a:xfrm>
            <a:off x="347472" y="1993392"/>
            <a:ext cx="11496751" cy="43645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3. IMPLEMENTATION  —  </a:t>
            </a:r>
            <a:r>
              <a:rPr sz="2600" b="1">
                <a:solidFill>
                  <a:srgbClr val="FFFFFF"/>
                </a:solidFill>
                <a:latin typeface="Calibri"/>
              </a:rPr>
              <a:t>Why Replay Is Needed: Exposing Hidden Contention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7 / 12</a:t>
            </a:r>
          </a:p>
        </p:txBody>
      </p:sp>
      <p:sp>
        <p:nvSpPr>
          <p:cNvPr id="5" name="TextBox 4"/>
          <p:cNvSpPr txBox="1"/>
          <p:nvPr/>
        </p:nvSpPr>
        <p:spPr>
          <a:xfrm>
            <a:off x="347472" y="1152144"/>
            <a:ext cx="11496751" cy="1600200"/>
          </a:xfrm>
          <a:prstGeom prst="rect">
            <a:avLst/>
          </a:prstGeom>
          <a:noFill/>
        </p:spPr>
        <p:txBody>
          <a:bodyPr wrap="square" lIns="0" tIns="0">
            <a:spAutoFit/>
          </a:bodyPr>
          <a:lstStyle/>
          <a:p>
            <a:pPr algn="l">
              <a:spcBef>
                <a:spcPts val="500"/>
              </a:spcBef>
              <a:spcAft>
                <a:spcPts val="0"/>
              </a:spcAft>
            </a:pPr>
            <a:r>
              <a:rPr sz="1600" b="0">
                <a:solidFill>
                  <a:srgbClr val="000000"/>
                </a:solidFill>
                <a:latin typeface="Calibri"/>
              </a:rPr>
              <a:t>• Native schedule: timing computed without link reservations</a:t>
            </a:r>
          </a:p>
          <a:p>
            <a:pPr algn="l">
              <a:spcBef>
                <a:spcPts val="500"/>
              </a:spcBef>
              <a:spcAft>
                <a:spcPts val="0"/>
              </a:spcAft>
            </a:pPr>
            <a:r>
              <a:rPr sz="1600" b="1">
                <a:solidFill>
                  <a:srgbClr val="1F3864"/>
                </a:solidFill>
                <a:latin typeface="Calibri"/>
              </a:rPr>
              <a:t>• replay_under_contention(): recomputes timing with full link-level contention</a:t>
            </a:r>
          </a:p>
          <a:p>
            <a:pPr algn="l">
              <a:spcBef>
                <a:spcPts val="200"/>
              </a:spcBef>
              <a:spcAft>
                <a:spcPts val="0"/>
              </a:spcAft>
            </a:pPr>
            <a:r>
              <a:rPr sz="1400" b="0">
                <a:solidFill>
                  <a:srgbClr val="555555"/>
                </a:solidFill>
                <a:latin typeface="Calibri"/>
              </a:rPr>
              <a:t>   – Preserves task→processor assignment, discards all original timing</a:t>
            </a:r>
          </a:p>
          <a:p>
            <a:pPr algn="l">
              <a:spcBef>
                <a:spcPts val="200"/>
              </a:spcBef>
              <a:spcAft>
                <a:spcPts val="0"/>
              </a:spcAft>
            </a:pPr>
            <a:r>
              <a:rPr sz="1400" b="0">
                <a:solidFill>
                  <a:srgbClr val="555555"/>
                </a:solidFill>
                <a:latin typeface="Calibri"/>
              </a:rPr>
              <a:t>   – Serializes communications that share any NoC link</a:t>
            </a:r>
          </a:p>
          <a:p>
            <a:pPr algn="l">
              <a:spcBef>
                <a:spcPts val="500"/>
              </a:spcBef>
              <a:spcAft>
                <a:spcPts val="0"/>
              </a:spcAft>
            </a:pPr>
            <a:r>
              <a:rPr sz="1600" b="0">
                <a:solidFill>
                  <a:srgbClr val="000000"/>
                </a:solidFill>
                <a:latin typeface="Calibri"/>
              </a:rPr>
              <a:t>• Replay overhead ratio  =  replayed makespan / native makespan</a:t>
            </a:r>
          </a:p>
          <a:p>
            <a:pPr algn="l">
              <a:spcBef>
                <a:spcPts val="200"/>
              </a:spcBef>
              <a:spcAft>
                <a:spcPts val="0"/>
              </a:spcAft>
            </a:pPr>
            <a:r>
              <a:rPr sz="1400" b="0">
                <a:solidFill>
                  <a:srgbClr val="555555"/>
                </a:solidFill>
                <a:latin typeface="Calibri"/>
              </a:rPr>
              <a:t>   – Ratio = 1.0 → model was accurate.  Ratio &gt; 1.0 → model was optimistic</a:t>
            </a:r>
          </a:p>
          <a:p>
            <a:pPr algn="l">
              <a:spcBef>
                <a:spcPts val="500"/>
              </a:spcBef>
              <a:spcAft>
                <a:spcPts val="0"/>
              </a:spcAft>
            </a:pPr>
            <a:r>
              <a:rPr sz="1600" b="1">
                <a:solidFill>
                  <a:srgbClr val="2166AC"/>
                </a:solidFill>
                <a:latin typeface="Calibri"/>
              </a:rPr>
              <a:t>• Used as the common fair metric across all schedulers</a:t>
            </a:r>
          </a:p>
        </p:txBody>
      </p:sp>
      <p:pic>
        <p:nvPicPr>
          <p:cNvPr id="6" name="Picture 5" descr="fig3_native_vs_replay.png"/>
          <p:cNvPicPr>
            <a:picLocks noChangeAspect="1"/>
          </p:cNvPicPr>
          <p:nvPr/>
        </p:nvPicPr>
        <p:blipFill>
          <a:blip r:embed="rId3"/>
          <a:stretch>
            <a:fillRect/>
          </a:stretch>
        </p:blipFill>
        <p:spPr>
          <a:xfrm>
            <a:off x="347472" y="2816352"/>
            <a:ext cx="11496751" cy="40398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4. RESULTS  —  </a:t>
            </a:r>
            <a:r>
              <a:rPr sz="2600" b="1">
                <a:solidFill>
                  <a:srgbClr val="FFFFFF"/>
                </a:solidFill>
                <a:latin typeface="Calibri"/>
              </a:rPr>
              <a:t>DAG Families Used for Evaluation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8 / 12</a:t>
            </a:r>
          </a:p>
        </p:txBody>
      </p:sp>
      <p:sp>
        <p:nvSpPr>
          <p:cNvPr id="5" name="Rectangle 4"/>
          <p:cNvSpPr/>
          <p:nvPr/>
        </p:nvSpPr>
        <p:spPr>
          <a:xfrm>
            <a:off x="347472" y="1152144"/>
            <a:ext cx="2764459" cy="365760"/>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Chain</a:t>
            </a:r>
          </a:p>
        </p:txBody>
      </p:sp>
      <p:sp>
        <p:nvSpPr>
          <p:cNvPr id="6" name="TextBox 5"/>
          <p:cNvSpPr txBox="1"/>
          <p:nvPr/>
        </p:nvSpPr>
        <p:spPr>
          <a:xfrm>
            <a:off x="347472" y="1554480"/>
            <a:ext cx="2764459" cy="685800"/>
          </a:xfrm>
          <a:prstGeom prst="rect">
            <a:avLst/>
          </a:prstGeom>
          <a:noFill/>
        </p:spPr>
        <p:txBody>
          <a:bodyPr wrap="square" lIns="0" tIns="0">
            <a:spAutoFit/>
          </a:bodyPr>
          <a:lstStyle/>
          <a:p>
            <a:pPr algn="l"/>
            <a:r>
              <a:rPr sz="1200" b="0" i="0">
                <a:solidFill>
                  <a:srgbClr val="555555"/>
                </a:solidFill>
                <a:latin typeface="Calibri"/>
              </a:rPr>
              <a:t>Linear dependency chain.
Negative control: no parallelism.</a:t>
            </a:r>
          </a:p>
        </p:txBody>
      </p:sp>
      <p:sp>
        <p:nvSpPr>
          <p:cNvPr id="7" name="Rectangle 6"/>
          <p:cNvSpPr/>
          <p:nvPr/>
        </p:nvSpPr>
        <p:spPr>
          <a:xfrm>
            <a:off x="3258235" y="1152144"/>
            <a:ext cx="2764459" cy="365760"/>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Fork</a:t>
            </a:r>
          </a:p>
        </p:txBody>
      </p:sp>
      <p:sp>
        <p:nvSpPr>
          <p:cNvPr id="8" name="TextBox 7"/>
          <p:cNvSpPr txBox="1"/>
          <p:nvPr/>
        </p:nvSpPr>
        <p:spPr>
          <a:xfrm>
            <a:off x="3258235" y="1554480"/>
            <a:ext cx="2764459" cy="685800"/>
          </a:xfrm>
          <a:prstGeom prst="rect">
            <a:avLst/>
          </a:prstGeom>
          <a:noFill/>
        </p:spPr>
        <p:txBody>
          <a:bodyPr wrap="square" lIns="0" tIns="0">
            <a:spAutoFit/>
          </a:bodyPr>
          <a:lstStyle/>
          <a:p>
            <a:pPr algn="l"/>
            <a:r>
              <a:rPr sz="1200" b="0" i="0">
                <a:solidFill>
                  <a:srgbClr val="555555"/>
                </a:solidFill>
                <a:latin typeface="Calibri"/>
              </a:rPr>
              <a:t>Root → 8 leaves.
Parent dup eliminates all remote comm.</a:t>
            </a:r>
          </a:p>
        </p:txBody>
      </p:sp>
      <p:sp>
        <p:nvSpPr>
          <p:cNvPr id="9" name="Rectangle 8"/>
          <p:cNvSpPr/>
          <p:nvPr/>
        </p:nvSpPr>
        <p:spPr>
          <a:xfrm>
            <a:off x="6168999" y="1152144"/>
            <a:ext cx="2764459" cy="365760"/>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Out-tree</a:t>
            </a:r>
          </a:p>
        </p:txBody>
      </p:sp>
      <p:sp>
        <p:nvSpPr>
          <p:cNvPr id="10" name="TextBox 9"/>
          <p:cNvSpPr txBox="1"/>
          <p:nvPr/>
        </p:nvSpPr>
        <p:spPr>
          <a:xfrm>
            <a:off x="6168999" y="1554480"/>
            <a:ext cx="2764459" cy="685800"/>
          </a:xfrm>
          <a:prstGeom prst="rect">
            <a:avLst/>
          </a:prstGeom>
          <a:noFill/>
        </p:spPr>
        <p:txBody>
          <a:bodyPr wrap="square" lIns="0" tIns="0">
            <a:spAutoFit/>
          </a:bodyPr>
          <a:lstStyle/>
          <a:p>
            <a:pPr algn="l"/>
            <a:r>
              <a:rPr sz="1200" b="0" i="0">
                <a:solidFill>
                  <a:srgbClr val="555555"/>
                </a:solidFill>
                <a:latin typeface="Calibri"/>
              </a:rPr>
              <a:t>Depth=2, branching=2.
Recursive dup provides additional benefit.</a:t>
            </a:r>
          </a:p>
        </p:txBody>
      </p:sp>
      <p:sp>
        <p:nvSpPr>
          <p:cNvPr id="11" name="Rectangle 10"/>
          <p:cNvSpPr/>
          <p:nvPr/>
        </p:nvSpPr>
        <p:spPr>
          <a:xfrm>
            <a:off x="9079763" y="1152144"/>
            <a:ext cx="2764459" cy="365760"/>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1">
                <a:solidFill>
                  <a:srgbClr val="FFFFFF"/>
                </a:solidFill>
                <a:latin typeface="Calibri"/>
              </a:rPr>
              <a:t>Fork-join</a:t>
            </a:r>
          </a:p>
        </p:txBody>
      </p:sp>
      <p:sp>
        <p:nvSpPr>
          <p:cNvPr id="12" name="TextBox 11"/>
          <p:cNvSpPr txBox="1"/>
          <p:nvPr/>
        </p:nvSpPr>
        <p:spPr>
          <a:xfrm>
            <a:off x="9079763" y="1554480"/>
            <a:ext cx="2764459" cy="685800"/>
          </a:xfrm>
          <a:prstGeom prst="rect">
            <a:avLst/>
          </a:prstGeom>
          <a:noFill/>
        </p:spPr>
        <p:txBody>
          <a:bodyPr wrap="square" lIns="0" tIns="0">
            <a:spAutoFit/>
          </a:bodyPr>
          <a:lstStyle/>
          <a:p>
            <a:pPr algn="l"/>
            <a:r>
              <a:rPr sz="1200" b="0" i="0">
                <a:solidFill>
                  <a:srgbClr val="555555"/>
                </a:solidFill>
                <a:latin typeface="Calibri"/>
              </a:rPr>
              <a:t>4 branches, each length 3.
Most sensitive to contention effects.</a:t>
            </a:r>
          </a:p>
        </p:txBody>
      </p:sp>
      <p:pic>
        <p:nvPicPr>
          <p:cNvPr id="13" name="Picture 12" descr="fig1_dag_family_topologies.png"/>
          <p:cNvPicPr>
            <a:picLocks noChangeAspect="1"/>
          </p:cNvPicPr>
          <p:nvPr/>
        </p:nvPicPr>
        <p:blipFill>
          <a:blip r:embed="rId3"/>
          <a:stretch>
            <a:fillRect/>
          </a:stretch>
        </p:blipFill>
        <p:spPr>
          <a:xfrm>
            <a:off x="347472" y="2313432"/>
            <a:ext cx="11496751" cy="30287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4. RESULTS  —  </a:t>
            </a:r>
            <a:r>
              <a:rPr sz="2600" b="1">
                <a:solidFill>
                  <a:srgbClr val="FFFFFF"/>
                </a:solidFill>
                <a:latin typeface="Calibri"/>
              </a:rPr>
              <a:t>Schedule Examples: Out-tree Gantt Charts</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9 / 12</a:t>
            </a:r>
          </a:p>
        </p:txBody>
      </p:sp>
      <p:sp>
        <p:nvSpPr>
          <p:cNvPr id="5" name="TextBox 4"/>
          <p:cNvSpPr txBox="1"/>
          <p:nvPr/>
        </p:nvSpPr>
        <p:spPr>
          <a:xfrm>
            <a:off x="347472" y="1133856"/>
            <a:ext cx="11496751" cy="728405"/>
          </a:xfrm>
          <a:prstGeom prst="rect">
            <a:avLst/>
          </a:prstGeom>
          <a:noFill/>
        </p:spPr>
        <p:txBody>
          <a:bodyPr wrap="square" lIns="0" tIns="0">
            <a:spAutoFit/>
          </a:bodyPr>
          <a:lstStyle/>
          <a:p>
            <a:pPr algn="l">
              <a:spcBef>
                <a:spcPts val="500"/>
              </a:spcBef>
              <a:spcAft>
                <a:spcPts val="0"/>
              </a:spcAft>
            </a:pPr>
            <a:r>
              <a:rPr sz="1200" b="0" dirty="0">
                <a:solidFill>
                  <a:srgbClr val="000000"/>
                </a:solidFill>
                <a:latin typeface="Calibri"/>
              </a:rPr>
              <a:t>• Out-tree (depth=2, branching=2): shows recursive duplication benefit clearly</a:t>
            </a:r>
          </a:p>
          <a:p>
            <a:pPr algn="l">
              <a:spcBef>
                <a:spcPts val="500"/>
              </a:spcBef>
              <a:spcAft>
                <a:spcPts val="0"/>
              </a:spcAft>
            </a:pPr>
            <a:r>
              <a:rPr sz="1200" b="0" dirty="0">
                <a:solidFill>
                  <a:srgbClr val="555555"/>
                </a:solidFill>
                <a:latin typeface="Calibri"/>
              </a:rPr>
              <a:t>• Each row = one processor.  Solid bars = primary tasks.  Hatched bars = duplicate tasks.</a:t>
            </a:r>
          </a:p>
          <a:p>
            <a:pPr algn="l">
              <a:spcBef>
                <a:spcPts val="500"/>
              </a:spcBef>
              <a:spcAft>
                <a:spcPts val="0"/>
              </a:spcAft>
            </a:pPr>
            <a:r>
              <a:rPr sz="1200" b="0" dirty="0">
                <a:solidFill>
                  <a:srgbClr val="000000"/>
                </a:solidFill>
                <a:latin typeface="Calibri"/>
              </a:rPr>
              <a:t>• CCR=1.0 (low): schedulers differ in placement.   CCR=10.0 (high): CA-D eliminates remote comm.</a:t>
            </a:r>
          </a:p>
        </p:txBody>
      </p:sp>
      <p:pic>
        <p:nvPicPr>
          <p:cNvPr id="6" name="Picture 5" descr="fig4b_out_tree_gantt.png"/>
          <p:cNvPicPr>
            <a:picLocks noChangeAspect="1"/>
          </p:cNvPicPr>
          <p:nvPr/>
        </p:nvPicPr>
        <p:blipFill>
          <a:blip r:embed="rId3"/>
          <a:stretch>
            <a:fillRect/>
          </a:stretch>
        </p:blipFill>
        <p:spPr>
          <a:xfrm>
            <a:off x="1277072" y="1829419"/>
            <a:ext cx="9637855" cy="49828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4. RESULTS  —  </a:t>
            </a:r>
            <a:r>
              <a:rPr sz="2600" b="1">
                <a:solidFill>
                  <a:srgbClr val="FFFFFF"/>
                </a:solidFill>
                <a:latin typeface="Calibri"/>
              </a:rPr>
              <a:t>Results: Replayed Speedup and Replay Overhead vs CCR</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10 / 12</a:t>
            </a:r>
          </a:p>
        </p:txBody>
      </p:sp>
      <p:sp>
        <p:nvSpPr>
          <p:cNvPr id="5" name="TextBox 4"/>
          <p:cNvSpPr txBox="1"/>
          <p:nvPr/>
        </p:nvSpPr>
        <p:spPr>
          <a:xfrm>
            <a:off x="338635" y="1124712"/>
            <a:ext cx="11496751" cy="713232"/>
          </a:xfrm>
          <a:prstGeom prst="rect">
            <a:avLst/>
          </a:prstGeom>
          <a:noFill/>
        </p:spPr>
        <p:txBody>
          <a:bodyPr wrap="square" lIns="0" tIns="0">
            <a:spAutoFit/>
          </a:bodyPr>
          <a:lstStyle/>
          <a:p>
            <a:pPr algn="l">
              <a:spcBef>
                <a:spcPts val="500"/>
              </a:spcBef>
              <a:spcAft>
                <a:spcPts val="0"/>
              </a:spcAft>
            </a:pPr>
            <a:r>
              <a:rPr sz="1500" b="0">
                <a:solidFill>
                  <a:srgbClr val="000000"/>
                </a:solidFill>
                <a:latin typeface="Calibri"/>
              </a:rPr>
              <a:t>• Replayed speedup vs HEFT  =  HEFT_replayed / scheduler_replayed  (higher is better)</a:t>
            </a:r>
          </a:p>
          <a:p>
            <a:pPr algn="l">
              <a:spcBef>
                <a:spcPts val="500"/>
              </a:spcBef>
              <a:spcAft>
                <a:spcPts val="0"/>
              </a:spcAft>
            </a:pPr>
            <a:r>
              <a:rPr sz="1500" b="0">
                <a:solidFill>
                  <a:srgbClr val="000000"/>
                </a:solidFill>
                <a:latin typeface="Calibri"/>
              </a:rPr>
              <a:t>• Replay overhead ratio  =  replayed / native  (1.0 = model was accurate)</a:t>
            </a:r>
          </a:p>
          <a:p>
            <a:pPr algn="l">
              <a:spcBef>
                <a:spcPts val="500"/>
              </a:spcBef>
              <a:spcAft>
                <a:spcPts val="0"/>
              </a:spcAft>
            </a:pPr>
            <a:r>
              <a:rPr sz="1500" b="0">
                <a:solidFill>
                  <a:srgbClr val="555555"/>
                </a:solidFill>
                <a:latin typeface="Calibri"/>
              </a:rPr>
              <a:t>• CCR: Communication-to-Computation Ratio  —  higher CCR = communication-dominated</a:t>
            </a:r>
          </a:p>
        </p:txBody>
      </p:sp>
      <p:pic>
        <p:nvPicPr>
          <p:cNvPr id="6" name="Picture 5" descr="fig5_ccr_sweep_replayed_speedup.png"/>
          <p:cNvPicPr>
            <a:picLocks noChangeAspect="1"/>
          </p:cNvPicPr>
          <p:nvPr/>
        </p:nvPicPr>
        <p:blipFill>
          <a:blip r:embed="rId3"/>
          <a:stretch>
            <a:fillRect/>
          </a:stretch>
        </p:blipFill>
        <p:spPr>
          <a:xfrm>
            <a:off x="338635" y="1984248"/>
            <a:ext cx="5638647" cy="4046008"/>
          </a:xfrm>
          <a:prstGeom prst="rect">
            <a:avLst/>
          </a:prstGeom>
        </p:spPr>
      </p:pic>
      <p:pic>
        <p:nvPicPr>
          <p:cNvPr id="7" name="Picture 6" descr="fig6_replay_overhead_ratio.png"/>
          <p:cNvPicPr>
            <a:picLocks noChangeAspect="1"/>
          </p:cNvPicPr>
          <p:nvPr/>
        </p:nvPicPr>
        <p:blipFill>
          <a:blip r:embed="rId4"/>
          <a:stretch>
            <a:fillRect/>
          </a:stretch>
        </p:blipFill>
        <p:spPr>
          <a:xfrm>
            <a:off x="6205576" y="1984248"/>
            <a:ext cx="5638647" cy="4046008"/>
          </a:xfrm>
          <a:prstGeom prst="rect">
            <a:avLst/>
          </a:prstGeom>
        </p:spPr>
      </p:pic>
      <p:sp>
        <p:nvSpPr>
          <p:cNvPr id="8" name="TextBox 7"/>
          <p:cNvSpPr txBox="1"/>
          <p:nvPr/>
        </p:nvSpPr>
        <p:spPr>
          <a:xfrm>
            <a:off x="347472" y="6473952"/>
            <a:ext cx="11496751" cy="320040"/>
          </a:xfrm>
          <a:prstGeom prst="rect">
            <a:avLst/>
          </a:prstGeom>
          <a:noFill/>
        </p:spPr>
        <p:txBody>
          <a:bodyPr wrap="square" lIns="0" tIns="0">
            <a:spAutoFit/>
          </a:bodyPr>
          <a:lstStyle/>
          <a:p>
            <a:pPr algn="l"/>
            <a:r>
              <a:rPr sz="1100" b="0" i="1">
                <a:solidFill>
                  <a:srgbClr val="555555"/>
                </a:solidFill>
                <a:latin typeface="Calibri"/>
              </a:rPr>
              <a:t>Left: Speedup of CD-LS and CA-D vs HEFT.  Right: Replay overhead ratio. Chain: all equal.  Fork: CD-LS = CA-D.  Out-tree/Fork-join: CA-D outperforms CD-LS.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4. RESULTS  —  </a:t>
            </a:r>
            <a:r>
              <a:rPr sz="2600" b="1">
                <a:solidFill>
                  <a:srgbClr val="FFFFFF"/>
                </a:solidFill>
                <a:latin typeface="Calibri"/>
              </a:rPr>
              <a:t>Duplication Cost and Remote Communication Reduction</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11 / 12</a:t>
            </a:r>
          </a:p>
        </p:txBody>
      </p:sp>
      <p:sp>
        <p:nvSpPr>
          <p:cNvPr id="5" name="TextBox 4"/>
          <p:cNvSpPr txBox="1"/>
          <p:nvPr/>
        </p:nvSpPr>
        <p:spPr>
          <a:xfrm>
            <a:off x="347472" y="1124712"/>
            <a:ext cx="11496751" cy="797654"/>
          </a:xfrm>
          <a:prstGeom prst="rect">
            <a:avLst/>
          </a:prstGeom>
          <a:noFill/>
        </p:spPr>
        <p:txBody>
          <a:bodyPr wrap="square" lIns="0" tIns="0">
            <a:spAutoFit/>
          </a:bodyPr>
          <a:lstStyle/>
          <a:p>
            <a:pPr algn="l">
              <a:spcBef>
                <a:spcPts val="500"/>
              </a:spcBef>
              <a:spcAft>
                <a:spcPts val="0"/>
              </a:spcAft>
            </a:pPr>
            <a:r>
              <a:rPr sz="1500" b="0" dirty="0">
                <a:solidFill>
                  <a:srgbClr val="000000"/>
                </a:solidFill>
                <a:latin typeface="Calibri"/>
              </a:rPr>
              <a:t>• Task Instance Ratio (TIR)  =  total instances / original task count</a:t>
            </a:r>
          </a:p>
          <a:p>
            <a:pPr algn="l">
              <a:spcBef>
                <a:spcPts val="200"/>
              </a:spcBef>
              <a:spcAft>
                <a:spcPts val="0"/>
              </a:spcAft>
            </a:pPr>
            <a:r>
              <a:rPr sz="1300" b="0" dirty="0">
                <a:solidFill>
                  <a:srgbClr val="555555"/>
                </a:solidFill>
                <a:latin typeface="Calibri"/>
              </a:rPr>
              <a:t>   – TIR = 1.0 means no duplication.  Higher TIR = more computation overhead.</a:t>
            </a:r>
          </a:p>
          <a:p>
            <a:pPr algn="l">
              <a:spcBef>
                <a:spcPts val="500"/>
              </a:spcBef>
              <a:spcAft>
                <a:spcPts val="0"/>
              </a:spcAft>
            </a:pPr>
            <a:r>
              <a:rPr sz="1500" b="0" dirty="0">
                <a:solidFill>
                  <a:srgbClr val="1F3864"/>
                </a:solidFill>
                <a:latin typeface="Calibri"/>
              </a:rPr>
              <a:t>• Trade-off: higher TIR should produce lower RCVR and lower replayed </a:t>
            </a:r>
            <a:r>
              <a:rPr sz="1500" b="0" dirty="0" err="1">
                <a:solidFill>
                  <a:srgbClr val="1F3864"/>
                </a:solidFill>
                <a:latin typeface="Calibri"/>
              </a:rPr>
              <a:t>makespan</a:t>
            </a:r>
            <a:endParaRPr sz="1500" b="0" dirty="0">
              <a:solidFill>
                <a:srgbClr val="1F3864"/>
              </a:solidFill>
              <a:latin typeface="Calibri"/>
            </a:endParaRPr>
          </a:p>
        </p:txBody>
      </p:sp>
      <p:pic>
        <p:nvPicPr>
          <p:cNvPr id="6" name="Picture 5" descr="fig7_task_instance_ratio.png"/>
          <p:cNvPicPr>
            <a:picLocks noChangeAspect="1"/>
          </p:cNvPicPr>
          <p:nvPr/>
        </p:nvPicPr>
        <p:blipFill>
          <a:blip r:embed="rId3"/>
          <a:stretch>
            <a:fillRect/>
          </a:stretch>
        </p:blipFill>
        <p:spPr>
          <a:xfrm>
            <a:off x="2267404" y="1880912"/>
            <a:ext cx="7656885" cy="4634495"/>
          </a:xfrm>
          <a:prstGeom prst="rect">
            <a:avLst/>
          </a:prstGeom>
        </p:spPr>
      </p:pic>
      <p:sp>
        <p:nvSpPr>
          <p:cNvPr id="8" name="TextBox 7"/>
          <p:cNvSpPr txBox="1"/>
          <p:nvPr/>
        </p:nvSpPr>
        <p:spPr>
          <a:xfrm>
            <a:off x="347472" y="6473952"/>
            <a:ext cx="11496751" cy="320040"/>
          </a:xfrm>
          <a:prstGeom prst="rect">
            <a:avLst/>
          </a:prstGeom>
          <a:noFill/>
        </p:spPr>
        <p:txBody>
          <a:bodyPr wrap="square" lIns="0" tIns="0">
            <a:spAutoFit/>
          </a:bodyPr>
          <a:lstStyle/>
          <a:p>
            <a:pPr algn="l"/>
            <a:r>
              <a:rPr sz="1100" b="0" i="1">
                <a:solidFill>
                  <a:srgbClr val="555555"/>
                </a:solidFill>
                <a:latin typeface="Calibri"/>
              </a:rPr>
              <a:t>Left: TIR vs CCR per DAG family.  Right: RCVR vs CCR. CA-D achieves lower RCVR than CD-LS on out-tree and fork-join.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1100" b="0">
                <a:solidFill>
                  <a:srgbClr val="B0C8E8"/>
                </a:solidFill>
                <a:latin typeface="Calibri"/>
              </a:rPr>
              <a:t>5. CONCLUSIONS  —  </a:t>
            </a:r>
            <a:r>
              <a:rPr sz="2600" b="1">
                <a:solidFill>
                  <a:srgbClr val="FFFFFF"/>
                </a:solidFill>
                <a:latin typeface="Calibri"/>
              </a:rPr>
              <a:t>Discussion, Limitations, and Future Work</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85855" y="6583680"/>
            <a:ext cx="914400" cy="228600"/>
          </a:xfrm>
          <a:prstGeom prst="rect">
            <a:avLst/>
          </a:prstGeom>
          <a:noFill/>
        </p:spPr>
        <p:txBody>
          <a:bodyPr wrap="none">
            <a:spAutoFit/>
          </a:bodyPr>
          <a:lstStyle/>
          <a:p>
            <a:pPr algn="r"/>
            <a:r>
              <a:rPr sz="1000">
                <a:solidFill>
                  <a:srgbClr val="555555"/>
                </a:solidFill>
                <a:latin typeface="Calibri"/>
              </a:rPr>
              <a:t>12 / 12</a:t>
            </a:r>
          </a:p>
        </p:txBody>
      </p:sp>
      <p:sp>
        <p:nvSpPr>
          <p:cNvPr id="5" name="Rectangle 4"/>
          <p:cNvSpPr/>
          <p:nvPr/>
        </p:nvSpPr>
        <p:spPr>
          <a:xfrm>
            <a:off x="347472" y="1124712"/>
            <a:ext cx="3695090" cy="384048"/>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Achievements</a:t>
            </a:r>
          </a:p>
        </p:txBody>
      </p:sp>
      <p:sp>
        <p:nvSpPr>
          <p:cNvPr id="6" name="Rectangle 5"/>
          <p:cNvSpPr/>
          <p:nvPr/>
        </p:nvSpPr>
        <p:spPr>
          <a:xfrm>
            <a:off x="4243730" y="1124712"/>
            <a:ext cx="3695090" cy="384048"/>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Limitations</a:t>
            </a:r>
          </a:p>
        </p:txBody>
      </p:sp>
      <p:sp>
        <p:nvSpPr>
          <p:cNvPr id="7" name="Rectangle 6"/>
          <p:cNvSpPr/>
          <p:nvPr/>
        </p:nvSpPr>
        <p:spPr>
          <a:xfrm>
            <a:off x="8139988" y="1124712"/>
            <a:ext cx="3695090" cy="384048"/>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400" b="1">
                <a:solidFill>
                  <a:srgbClr val="FFFFFF"/>
                </a:solidFill>
                <a:latin typeface="Calibri"/>
              </a:rPr>
              <a:t>Future Work</a:t>
            </a:r>
          </a:p>
        </p:txBody>
      </p:sp>
      <p:sp>
        <p:nvSpPr>
          <p:cNvPr id="8" name="TextBox 7"/>
          <p:cNvSpPr txBox="1"/>
          <p:nvPr/>
        </p:nvSpPr>
        <p:spPr>
          <a:xfrm>
            <a:off x="347472" y="1581912"/>
            <a:ext cx="3695090" cy="5120640"/>
          </a:xfrm>
          <a:prstGeom prst="rect">
            <a:avLst/>
          </a:prstGeom>
          <a:noFill/>
        </p:spPr>
        <p:txBody>
          <a:bodyPr wrap="square" lIns="0" tIns="0">
            <a:spAutoFit/>
          </a:bodyPr>
          <a:lstStyle/>
          <a:p>
            <a:pPr algn="l">
              <a:spcBef>
                <a:spcPts val="500"/>
              </a:spcBef>
              <a:spcAft>
                <a:spcPts val="0"/>
              </a:spcAft>
            </a:pPr>
            <a:r>
              <a:rPr sz="1400" b="0">
                <a:solidFill>
                  <a:srgbClr val="000000"/>
                </a:solidFill>
                <a:latin typeface="Calibri"/>
              </a:rPr>
              <a:t>• Full DAG/NoC scheduling framework</a:t>
            </a:r>
          </a:p>
          <a:p>
            <a:pPr algn="l">
              <a:spcBef>
                <a:spcPts val="500"/>
              </a:spcBef>
              <a:spcAft>
                <a:spcPts val="0"/>
              </a:spcAft>
            </a:pPr>
            <a:r>
              <a:rPr sz="1400" b="0">
                <a:solidFill>
                  <a:srgbClr val="000000"/>
                </a:solidFill>
                <a:latin typeface="Calibri"/>
              </a:rPr>
              <a:t>• HEFT, CD-LS, CA-D implemented</a:t>
            </a:r>
          </a:p>
          <a:p>
            <a:pPr algn="l">
              <a:spcBef>
                <a:spcPts val="500"/>
              </a:spcBef>
              <a:spcAft>
                <a:spcPts val="0"/>
              </a:spcAft>
            </a:pPr>
            <a:r>
              <a:rPr sz="1400" b="0">
                <a:solidFill>
                  <a:srgbClr val="000000"/>
                </a:solidFill>
                <a:latin typeface="Calibri"/>
              </a:rPr>
              <a:t>• Explicit link-level contention model</a:t>
            </a:r>
          </a:p>
          <a:p>
            <a:pPr algn="l">
              <a:spcBef>
                <a:spcPts val="500"/>
              </a:spcBef>
              <a:spcAft>
                <a:spcPts val="0"/>
              </a:spcAft>
            </a:pPr>
            <a:r>
              <a:rPr sz="1400" b="0">
                <a:solidFill>
                  <a:srgbClr val="000000"/>
                </a:solidFill>
                <a:latin typeface="Calibri"/>
              </a:rPr>
              <a:t>• Fair replay evaluator</a:t>
            </a:r>
          </a:p>
          <a:p>
            <a:pPr algn="l">
              <a:spcBef>
                <a:spcPts val="500"/>
              </a:spcBef>
              <a:spcAft>
                <a:spcPts val="0"/>
              </a:spcAft>
            </a:pPr>
            <a:r>
              <a:rPr sz="1400" b="0">
                <a:solidFill>
                  <a:srgbClr val="000000"/>
                </a:solidFill>
                <a:latin typeface="Calibri"/>
              </a:rPr>
              <a:t>• 4 DAG families × 4 CCR × 20 seeds</a:t>
            </a:r>
          </a:p>
          <a:p>
            <a:pPr algn="l">
              <a:spcBef>
                <a:spcPts val="500"/>
              </a:spcBef>
              <a:spcAft>
                <a:spcPts val="0"/>
              </a:spcAft>
            </a:pPr>
            <a:r>
              <a:rPr sz="1400" b="0">
                <a:solidFill>
                  <a:srgbClr val="000000"/>
                </a:solidFill>
                <a:latin typeface="Calibri"/>
              </a:rPr>
              <a:t>• New metric: RCVR</a:t>
            </a:r>
          </a:p>
          <a:p>
            <a:pPr algn="l">
              <a:spcBef>
                <a:spcPts val="500"/>
              </a:spcBef>
              <a:spcAft>
                <a:spcPts val="0"/>
              </a:spcAft>
            </a:pPr>
            <a:r>
              <a:rPr sz="1400" b="0">
                <a:solidFill>
                  <a:srgbClr val="000000"/>
                </a:solidFill>
                <a:latin typeface="Calibri"/>
              </a:rPr>
              <a:t>• Complete figure + report pipeline</a:t>
            </a:r>
          </a:p>
        </p:txBody>
      </p:sp>
      <p:sp>
        <p:nvSpPr>
          <p:cNvPr id="9" name="TextBox 8"/>
          <p:cNvSpPr txBox="1"/>
          <p:nvPr/>
        </p:nvSpPr>
        <p:spPr>
          <a:xfrm>
            <a:off x="4243730" y="1581912"/>
            <a:ext cx="3695090" cy="5120640"/>
          </a:xfrm>
          <a:prstGeom prst="rect">
            <a:avLst/>
          </a:prstGeom>
          <a:noFill/>
        </p:spPr>
        <p:txBody>
          <a:bodyPr wrap="square" lIns="0" tIns="0">
            <a:spAutoFit/>
          </a:bodyPr>
          <a:lstStyle/>
          <a:p>
            <a:pPr algn="l">
              <a:spcBef>
                <a:spcPts val="500"/>
              </a:spcBef>
              <a:spcAft>
                <a:spcPts val="0"/>
              </a:spcAft>
            </a:pPr>
            <a:r>
              <a:rPr sz="1400" b="0">
                <a:solidFill>
                  <a:srgbClr val="000000"/>
                </a:solidFill>
                <a:latin typeface="Calibri"/>
              </a:rPr>
              <a:t>• Synthetic DAGs only</a:t>
            </a:r>
          </a:p>
          <a:p>
            <a:pPr algn="l">
              <a:spcBef>
                <a:spcPts val="500"/>
              </a:spcBef>
              <a:spcAft>
                <a:spcPts val="0"/>
              </a:spcAft>
            </a:pPr>
            <a:r>
              <a:rPr sz="1400" b="0">
                <a:solidFill>
                  <a:srgbClr val="000000"/>
                </a:solidFill>
                <a:latin typeface="Calibri"/>
              </a:rPr>
              <a:t>• CA-D is greedy, not optimal</a:t>
            </a:r>
          </a:p>
          <a:p>
            <a:pPr algn="l">
              <a:spcBef>
                <a:spcPts val="500"/>
              </a:spcBef>
              <a:spcAft>
                <a:spcPts val="0"/>
              </a:spcAft>
            </a:pPr>
            <a:r>
              <a:rPr sz="1400" b="0">
                <a:solidFill>
                  <a:srgbClr val="D6604D"/>
                </a:solidFill>
                <a:latin typeface="Calibri"/>
              </a:rPr>
              <a:t>• Not full Sinnen critical-parent</a:t>
            </a:r>
          </a:p>
          <a:p>
            <a:pPr algn="l">
              <a:spcBef>
                <a:spcPts val="500"/>
              </a:spcBef>
              <a:spcAft>
                <a:spcPts val="0"/>
              </a:spcAft>
            </a:pPr>
            <a:r>
              <a:rPr sz="1400" b="0">
                <a:solidFill>
                  <a:srgbClr val="000000"/>
                </a:solidFill>
                <a:latin typeface="Calibri"/>
              </a:rPr>
              <a:t>• Pruning did not trigger in tests</a:t>
            </a:r>
          </a:p>
          <a:p>
            <a:pPr algn="l">
              <a:spcBef>
                <a:spcPts val="500"/>
              </a:spcBef>
              <a:spcAft>
                <a:spcPts val="0"/>
              </a:spcAft>
            </a:pPr>
            <a:r>
              <a:rPr sz="1400" b="0">
                <a:solidFill>
                  <a:srgbClr val="000000"/>
                </a:solidFill>
                <a:latin typeface="Calibri"/>
              </a:rPr>
              <a:t>• No cycle-accurate NoC simulation</a:t>
            </a:r>
          </a:p>
          <a:p>
            <a:pPr algn="l">
              <a:spcBef>
                <a:spcPts val="500"/>
              </a:spcBef>
              <a:spcAft>
                <a:spcPts val="0"/>
              </a:spcAft>
            </a:pPr>
            <a:r>
              <a:rPr sz="1400" b="0">
                <a:solidFill>
                  <a:srgbClr val="000000"/>
                </a:solidFill>
                <a:latin typeface="Calibri"/>
              </a:rPr>
              <a:t>• Single NoC topology tested</a:t>
            </a:r>
          </a:p>
          <a:p>
            <a:pPr algn="l">
              <a:spcBef>
                <a:spcPts val="500"/>
              </a:spcBef>
              <a:spcAft>
                <a:spcPts val="0"/>
              </a:spcAft>
            </a:pPr>
            <a:r>
              <a:rPr sz="1400" b="0">
                <a:solidFill>
                  <a:srgbClr val="000000"/>
                </a:solidFill>
                <a:latin typeface="Calibri"/>
              </a:rPr>
              <a:t>• Runtime grows for deep graphs</a:t>
            </a:r>
          </a:p>
        </p:txBody>
      </p:sp>
      <p:sp>
        <p:nvSpPr>
          <p:cNvPr id="10" name="TextBox 9"/>
          <p:cNvSpPr txBox="1"/>
          <p:nvPr/>
        </p:nvSpPr>
        <p:spPr>
          <a:xfrm>
            <a:off x="8139988" y="1581912"/>
            <a:ext cx="3695090" cy="5120640"/>
          </a:xfrm>
          <a:prstGeom prst="rect">
            <a:avLst/>
          </a:prstGeom>
          <a:noFill/>
        </p:spPr>
        <p:txBody>
          <a:bodyPr wrap="square" lIns="0" tIns="0">
            <a:spAutoFit/>
          </a:bodyPr>
          <a:lstStyle/>
          <a:p>
            <a:pPr algn="l">
              <a:spcBef>
                <a:spcPts val="500"/>
              </a:spcBef>
              <a:spcAft>
                <a:spcPts val="0"/>
              </a:spcAft>
            </a:pPr>
            <a:r>
              <a:rPr sz="1400" b="0">
                <a:solidFill>
                  <a:srgbClr val="000000"/>
                </a:solidFill>
                <a:latin typeface="Calibri"/>
              </a:rPr>
              <a:t>• Finalize figure captions + report</a:t>
            </a:r>
          </a:p>
          <a:p>
            <a:pPr algn="l">
              <a:spcBef>
                <a:spcPts val="500"/>
              </a:spcBef>
              <a:spcAft>
                <a:spcPts val="0"/>
              </a:spcAft>
            </a:pPr>
            <a:r>
              <a:rPr sz="1400" b="0">
                <a:solidFill>
                  <a:srgbClr val="000000"/>
                </a:solidFill>
                <a:latin typeface="Calibri"/>
              </a:rPr>
              <a:t>• Add interpretation table to report</a:t>
            </a:r>
          </a:p>
          <a:p>
            <a:pPr algn="l">
              <a:spcBef>
                <a:spcPts val="500"/>
              </a:spcBef>
              <a:spcAft>
                <a:spcPts val="0"/>
              </a:spcAft>
            </a:pPr>
            <a:r>
              <a:rPr sz="1400" b="0">
                <a:solidFill>
                  <a:srgbClr val="000000"/>
                </a:solidFill>
                <a:latin typeface="Calibri"/>
              </a:rPr>
              <a:t>• Real application DAGs (e.g., FFT)</a:t>
            </a:r>
          </a:p>
          <a:p>
            <a:pPr algn="l">
              <a:spcBef>
                <a:spcPts val="500"/>
              </a:spcBef>
              <a:spcAft>
                <a:spcPts val="0"/>
              </a:spcAft>
            </a:pPr>
            <a:r>
              <a:rPr sz="1400" b="0">
                <a:solidFill>
                  <a:srgbClr val="000000"/>
                </a:solidFill>
                <a:latin typeface="Calibri"/>
              </a:rPr>
              <a:t>• Energy-aware duplication cost</a:t>
            </a:r>
          </a:p>
          <a:p>
            <a:pPr algn="l">
              <a:spcBef>
                <a:spcPts val="500"/>
              </a:spcBef>
              <a:spcAft>
                <a:spcPts val="0"/>
              </a:spcAft>
            </a:pPr>
            <a:r>
              <a:rPr sz="1400" b="0">
                <a:solidFill>
                  <a:srgbClr val="000000"/>
                </a:solidFill>
                <a:latin typeface="Calibri"/>
              </a:rPr>
              <a:t>• Larger NoC topologies</a:t>
            </a:r>
          </a:p>
          <a:p>
            <a:pPr algn="l">
              <a:spcBef>
                <a:spcPts val="500"/>
              </a:spcBef>
              <a:spcAft>
                <a:spcPts val="0"/>
              </a:spcAft>
            </a:pPr>
            <a:r>
              <a:rPr sz="1400" b="0">
                <a:solidFill>
                  <a:srgbClr val="000000"/>
                </a:solidFill>
                <a:latin typeface="Calibri"/>
              </a:rPr>
              <a:t>• Runtime optimization of CA-D</a:t>
            </a:r>
          </a:p>
          <a:p>
            <a:pPr algn="l">
              <a:spcBef>
                <a:spcPts val="500"/>
              </a:spcBef>
              <a:spcAft>
                <a:spcPts val="0"/>
              </a:spcAft>
            </a:pPr>
            <a:r>
              <a:rPr sz="1400" b="0">
                <a:solidFill>
                  <a:srgbClr val="000000"/>
                </a:solidFill>
                <a:latin typeface="Calibri"/>
              </a:rPr>
              <a:t>• Comparison with more algorithms</a:t>
            </a:r>
          </a:p>
        </p:txBody>
      </p:sp>
      <p:sp>
        <p:nvSpPr>
          <p:cNvPr id="11" name="Rectangle 10"/>
          <p:cNvSpPr/>
          <p:nvPr/>
        </p:nvSpPr>
        <p:spPr>
          <a:xfrm>
            <a:off x="347472" y="6291072"/>
            <a:ext cx="11496751" cy="429768"/>
          </a:xfrm>
          <a:prstGeom prst="rect">
            <a:avLst/>
          </a:prstGeom>
          <a:solidFill>
            <a:srgbClr val="EEF2F7"/>
          </a:solidFill>
          <a:ln w="9525">
            <a:solidFill>
              <a:srgbClr val="1F3864"/>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300" b="0">
                <a:solidFill>
                  <a:srgbClr val="1F3864"/>
                </a:solidFill>
                <a:latin typeface="Calibri"/>
              </a:rPr>
              <a:t>Main finding: CA-D produces accurate and stable replayed makespans. Contention-aware scheduling matters most on multi-level, reconverging DAGs at high CCR.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292608" tIns="0" rIns="292608" bIns="0" rtlCol="0" anchor="ctr"/>
          <a:lstStyle/>
          <a:p>
            <a:pPr algn="l"/>
            <a:r>
              <a:rPr sz="2600" b="1">
                <a:solidFill>
                  <a:srgbClr val="FFFFFF"/>
                </a:solidFill>
                <a:latin typeface="Calibri"/>
              </a:rPr>
              <a:t>BACKUP — Metric Definitions</a:t>
            </a:r>
          </a:p>
        </p:txBody>
      </p:sp>
      <p:sp>
        <p:nvSpPr>
          <p:cNvPr id="3" name="Rectangle 2"/>
          <p:cNvSpPr/>
          <p:nvPr/>
        </p:nvSpPr>
        <p:spPr>
          <a:xfrm>
            <a:off x="0" y="978408"/>
            <a:ext cx="12191695" cy="27432"/>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 y="1152144"/>
            <a:ext cx="3657600" cy="320040"/>
          </a:xfrm>
          <a:prstGeom prst="rect">
            <a:avLst/>
          </a:prstGeom>
          <a:solidFill>
            <a:srgbClr val="1A9850"/>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Replayed speedup vs HEFT</a:t>
            </a:r>
          </a:p>
        </p:txBody>
      </p:sp>
      <p:sp>
        <p:nvSpPr>
          <p:cNvPr id="5" name="TextBox 4"/>
          <p:cNvSpPr txBox="1"/>
          <p:nvPr/>
        </p:nvSpPr>
        <p:spPr>
          <a:xfrm>
            <a:off x="4142232" y="1152144"/>
            <a:ext cx="7701991" cy="320040"/>
          </a:xfrm>
          <a:prstGeom prst="rect">
            <a:avLst/>
          </a:prstGeom>
          <a:noFill/>
        </p:spPr>
        <p:txBody>
          <a:bodyPr wrap="square" lIns="0" tIns="0">
            <a:spAutoFit/>
          </a:bodyPr>
          <a:lstStyle/>
          <a:p>
            <a:pPr algn="l"/>
            <a:r>
              <a:rPr sz="1200" b="1" i="0">
                <a:solidFill>
                  <a:srgbClr val="1A9850"/>
                </a:solidFill>
                <a:latin typeface="Calibri"/>
              </a:rPr>
              <a:t>HEFT_replayed_makespan  /  scheduler_replayed_makespan</a:t>
            </a:r>
          </a:p>
        </p:txBody>
      </p:sp>
      <p:sp>
        <p:nvSpPr>
          <p:cNvPr id="6" name="TextBox 5"/>
          <p:cNvSpPr txBox="1"/>
          <p:nvPr/>
        </p:nvSpPr>
        <p:spPr>
          <a:xfrm>
            <a:off x="347472" y="1499616"/>
            <a:ext cx="11496751" cy="292608"/>
          </a:xfrm>
          <a:prstGeom prst="rect">
            <a:avLst/>
          </a:prstGeom>
          <a:noFill/>
        </p:spPr>
        <p:txBody>
          <a:bodyPr wrap="square" lIns="0" tIns="0">
            <a:spAutoFit/>
          </a:bodyPr>
          <a:lstStyle/>
          <a:p>
            <a:pPr algn="l"/>
            <a:r>
              <a:rPr sz="1100" b="0" i="1">
                <a:solidFill>
                  <a:srgbClr val="555555"/>
                </a:solidFill>
                <a:latin typeface="Calibri"/>
              </a:rPr>
              <a:t>Primary comparison metric. Fair because both use contention-aware replay.</a:t>
            </a:r>
          </a:p>
        </p:txBody>
      </p:sp>
      <p:sp>
        <p:nvSpPr>
          <p:cNvPr id="7" name="Rectangle 6"/>
          <p:cNvSpPr/>
          <p:nvPr/>
        </p:nvSpPr>
        <p:spPr>
          <a:xfrm>
            <a:off x="347472" y="1883664"/>
            <a:ext cx="3657600" cy="320040"/>
          </a:xfrm>
          <a:prstGeom prst="rect">
            <a:avLst/>
          </a:prstGeom>
          <a:solidFill>
            <a:srgbClr val="CCBB4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Replay overhead ratio</a:t>
            </a:r>
          </a:p>
        </p:txBody>
      </p:sp>
      <p:sp>
        <p:nvSpPr>
          <p:cNvPr id="8" name="TextBox 7"/>
          <p:cNvSpPr txBox="1"/>
          <p:nvPr/>
        </p:nvSpPr>
        <p:spPr>
          <a:xfrm>
            <a:off x="4142232" y="1883664"/>
            <a:ext cx="7701991" cy="320040"/>
          </a:xfrm>
          <a:prstGeom prst="rect">
            <a:avLst/>
          </a:prstGeom>
          <a:noFill/>
        </p:spPr>
        <p:txBody>
          <a:bodyPr wrap="square" lIns="0" tIns="0">
            <a:spAutoFit/>
          </a:bodyPr>
          <a:lstStyle/>
          <a:p>
            <a:pPr algn="l"/>
            <a:r>
              <a:rPr sz="1200" b="1" i="0">
                <a:solidFill>
                  <a:srgbClr val="CCBB44"/>
                </a:solidFill>
                <a:latin typeface="Calibri"/>
              </a:rPr>
              <a:t>replayed_makespan  /  native_makespan</a:t>
            </a:r>
          </a:p>
        </p:txBody>
      </p:sp>
      <p:sp>
        <p:nvSpPr>
          <p:cNvPr id="9" name="TextBox 8"/>
          <p:cNvSpPr txBox="1"/>
          <p:nvPr/>
        </p:nvSpPr>
        <p:spPr>
          <a:xfrm>
            <a:off x="347472" y="2231136"/>
            <a:ext cx="11496751" cy="292608"/>
          </a:xfrm>
          <a:prstGeom prst="rect">
            <a:avLst/>
          </a:prstGeom>
          <a:noFill/>
        </p:spPr>
        <p:txBody>
          <a:bodyPr wrap="square" lIns="0" tIns="0">
            <a:spAutoFit/>
          </a:bodyPr>
          <a:lstStyle/>
          <a:p>
            <a:pPr algn="l"/>
            <a:r>
              <a:rPr sz="1100" b="0" i="1">
                <a:solidFill>
                  <a:srgbClr val="555555"/>
                </a:solidFill>
                <a:latin typeface="Calibri"/>
              </a:rPr>
              <a:t>Measures native-model optimism. 1.0 = accurate. &gt;1.0 = scheduler was optimistic.</a:t>
            </a:r>
          </a:p>
        </p:txBody>
      </p:sp>
      <p:sp>
        <p:nvSpPr>
          <p:cNvPr id="10" name="Rectangle 9"/>
          <p:cNvSpPr/>
          <p:nvPr/>
        </p:nvSpPr>
        <p:spPr>
          <a:xfrm>
            <a:off x="347472" y="2615184"/>
            <a:ext cx="3657600" cy="320040"/>
          </a:xfrm>
          <a:prstGeom prst="rect">
            <a:avLst/>
          </a:prstGeom>
          <a:solidFill>
            <a:srgbClr val="2166AC"/>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Task Instance Ratio (TIR)</a:t>
            </a:r>
          </a:p>
        </p:txBody>
      </p:sp>
      <p:sp>
        <p:nvSpPr>
          <p:cNvPr id="11" name="TextBox 10"/>
          <p:cNvSpPr txBox="1"/>
          <p:nvPr/>
        </p:nvSpPr>
        <p:spPr>
          <a:xfrm>
            <a:off x="4142232" y="2615184"/>
            <a:ext cx="7701991" cy="320040"/>
          </a:xfrm>
          <a:prstGeom prst="rect">
            <a:avLst/>
          </a:prstGeom>
          <a:noFill/>
        </p:spPr>
        <p:txBody>
          <a:bodyPr wrap="square" lIns="0" tIns="0">
            <a:spAutoFit/>
          </a:bodyPr>
          <a:lstStyle/>
          <a:p>
            <a:pPr algn="l"/>
            <a:r>
              <a:rPr sz="1200" b="1" i="0">
                <a:solidFill>
                  <a:srgbClr val="2166AC"/>
                </a:solidFill>
                <a:latin typeface="Calibri"/>
              </a:rPr>
              <a:t>total_task_instances  /  original_task_count</a:t>
            </a:r>
          </a:p>
        </p:txBody>
      </p:sp>
      <p:sp>
        <p:nvSpPr>
          <p:cNvPr id="12" name="TextBox 11"/>
          <p:cNvSpPr txBox="1"/>
          <p:nvPr/>
        </p:nvSpPr>
        <p:spPr>
          <a:xfrm>
            <a:off x="347472" y="2962656"/>
            <a:ext cx="11496751" cy="292608"/>
          </a:xfrm>
          <a:prstGeom prst="rect">
            <a:avLst/>
          </a:prstGeom>
          <a:noFill/>
        </p:spPr>
        <p:txBody>
          <a:bodyPr wrap="square" lIns="0" tIns="0">
            <a:spAutoFit/>
          </a:bodyPr>
          <a:lstStyle/>
          <a:p>
            <a:pPr algn="l"/>
            <a:r>
              <a:rPr sz="1100" b="0" i="1">
                <a:solidFill>
                  <a:srgbClr val="555555"/>
                </a:solidFill>
                <a:latin typeface="Calibri"/>
              </a:rPr>
              <a:t>Measures duplication overhead. 1.0 = no duplication. Higher = more copies.</a:t>
            </a:r>
          </a:p>
        </p:txBody>
      </p:sp>
      <p:sp>
        <p:nvSpPr>
          <p:cNvPr id="13" name="Rectangle 12"/>
          <p:cNvSpPr/>
          <p:nvPr/>
        </p:nvSpPr>
        <p:spPr>
          <a:xfrm>
            <a:off x="347472" y="3346704"/>
            <a:ext cx="3657600" cy="320040"/>
          </a:xfrm>
          <a:prstGeom prst="rect">
            <a:avLst/>
          </a:prstGeom>
          <a:solidFill>
            <a:srgbClr val="D6604D"/>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Remote Comm Volume Ratio (RCVR)</a:t>
            </a:r>
          </a:p>
        </p:txBody>
      </p:sp>
      <p:sp>
        <p:nvSpPr>
          <p:cNvPr id="14" name="TextBox 13"/>
          <p:cNvSpPr txBox="1"/>
          <p:nvPr/>
        </p:nvSpPr>
        <p:spPr>
          <a:xfrm>
            <a:off x="4142232" y="3346704"/>
            <a:ext cx="7701991" cy="320040"/>
          </a:xfrm>
          <a:prstGeom prst="rect">
            <a:avLst/>
          </a:prstGeom>
          <a:noFill/>
        </p:spPr>
        <p:txBody>
          <a:bodyPr wrap="square" lIns="0" tIns="0">
            <a:spAutoFit/>
          </a:bodyPr>
          <a:lstStyle/>
          <a:p>
            <a:pPr algn="l"/>
            <a:r>
              <a:rPr sz="1200" b="1" i="0">
                <a:solidFill>
                  <a:srgbClr val="D6604D"/>
                </a:solidFill>
                <a:latin typeface="Calibri"/>
              </a:rPr>
              <a:t>remote_edge_volume  /  total_DAG_edge_volume</a:t>
            </a:r>
          </a:p>
        </p:txBody>
      </p:sp>
      <p:sp>
        <p:nvSpPr>
          <p:cNvPr id="15" name="TextBox 14"/>
          <p:cNvSpPr txBox="1"/>
          <p:nvPr/>
        </p:nvSpPr>
        <p:spPr>
          <a:xfrm>
            <a:off x="347472" y="3694176"/>
            <a:ext cx="11496751" cy="292608"/>
          </a:xfrm>
          <a:prstGeom prst="rect">
            <a:avLst/>
          </a:prstGeom>
          <a:noFill/>
        </p:spPr>
        <p:txBody>
          <a:bodyPr wrap="square" lIns="0" tIns="0">
            <a:spAutoFit/>
          </a:bodyPr>
          <a:lstStyle/>
          <a:p>
            <a:pPr algn="l"/>
            <a:r>
              <a:rPr sz="1100" b="0" i="1">
                <a:solidFill>
                  <a:srgbClr val="555555"/>
                </a:solidFill>
                <a:latin typeface="Calibri"/>
              </a:rPr>
              <a:t>Fraction of communication that remains remote. Edge u→v is remote if no instance of u is co-located with v's primary processor.</a:t>
            </a:r>
          </a:p>
        </p:txBody>
      </p:sp>
      <p:sp>
        <p:nvSpPr>
          <p:cNvPr id="16" name="Rectangle 15"/>
          <p:cNvSpPr/>
          <p:nvPr/>
        </p:nvSpPr>
        <p:spPr>
          <a:xfrm>
            <a:off x="347472" y="4078224"/>
            <a:ext cx="3657600" cy="3200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r>
              <a:rPr sz="1200" b="1">
                <a:solidFill>
                  <a:srgbClr val="FFFFFF"/>
                </a:solidFill>
                <a:latin typeface="Calibri"/>
              </a:rPr>
              <a:t>CCR  (Communication-to-Computation Ratio)</a:t>
            </a:r>
          </a:p>
        </p:txBody>
      </p:sp>
      <p:sp>
        <p:nvSpPr>
          <p:cNvPr id="17" name="TextBox 16"/>
          <p:cNvSpPr txBox="1"/>
          <p:nvPr/>
        </p:nvSpPr>
        <p:spPr>
          <a:xfrm>
            <a:off x="4142232" y="4078224"/>
            <a:ext cx="7701991" cy="320040"/>
          </a:xfrm>
          <a:prstGeom prst="rect">
            <a:avLst/>
          </a:prstGeom>
          <a:noFill/>
        </p:spPr>
        <p:txBody>
          <a:bodyPr wrap="square" lIns="0" tIns="0">
            <a:spAutoFit/>
          </a:bodyPr>
          <a:lstStyle/>
          <a:p>
            <a:pPr algn="l"/>
            <a:r>
              <a:rPr sz="1200" b="1" i="0">
                <a:solidFill>
                  <a:srgbClr val="1F3864"/>
                </a:solidFill>
                <a:latin typeface="Calibri"/>
              </a:rPr>
              <a:t>total_comm_volume  /  total_computation_cost</a:t>
            </a:r>
          </a:p>
        </p:txBody>
      </p:sp>
      <p:sp>
        <p:nvSpPr>
          <p:cNvPr id="18" name="TextBox 17"/>
          <p:cNvSpPr txBox="1"/>
          <p:nvPr/>
        </p:nvSpPr>
        <p:spPr>
          <a:xfrm>
            <a:off x="347472" y="4425696"/>
            <a:ext cx="11496751" cy="292608"/>
          </a:xfrm>
          <a:prstGeom prst="rect">
            <a:avLst/>
          </a:prstGeom>
          <a:noFill/>
        </p:spPr>
        <p:txBody>
          <a:bodyPr wrap="square" lIns="0" tIns="0">
            <a:spAutoFit/>
          </a:bodyPr>
          <a:lstStyle/>
          <a:p>
            <a:pPr algn="l"/>
            <a:r>
              <a:rPr sz="1100" b="0" i="1">
                <a:solidFill>
                  <a:srgbClr val="555555"/>
                </a:solidFill>
                <a:latin typeface="Calibri"/>
              </a:rPr>
              <a:t>Controls experiment regime. Low CCR = compute-dominated. High CCR = comm-dominated.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3741</Words>
  <Application>Microsoft Office PowerPoint</Application>
  <PresentationFormat>Geniş ekran</PresentationFormat>
  <Paragraphs>230</Paragraphs>
  <Slides>15</Slides>
  <Notes>15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BARIŞ BÜYÜKYILMAZ</cp:lastModifiedBy>
  <cp:revision>4</cp:revision>
  <dcterms:created xsi:type="dcterms:W3CDTF">2013-01-27T09:14:16Z</dcterms:created>
  <dcterms:modified xsi:type="dcterms:W3CDTF">2026-05-17T18:19:17Z</dcterms:modified>
  <cp:category/>
</cp:coreProperties>
</file>